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9144000" cy="5143500" type="screen16x9"/>
  <p:notesSz cx="9144000" cy="51435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3" d="100"/>
          <a:sy n="103" d="100"/>
        </p:scale>
        <p:origin x="874" y="7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1594485"/>
            <a:ext cx="7772400" cy="10801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5/2/2025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7200" b="1" i="0">
                <a:solidFill>
                  <a:srgbClr val="CC0000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124F5B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5/2/2025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7200" b="1" i="0">
                <a:solidFill>
                  <a:srgbClr val="CC0000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84724" y="1040458"/>
            <a:ext cx="3354070" cy="34956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rgbClr val="124F5B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5/2/2025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7200" b="1" i="0">
                <a:solidFill>
                  <a:srgbClr val="CC0000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5/2/2025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5/2/2025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8602957" y="66524"/>
            <a:ext cx="348619" cy="357954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035162" y="1495857"/>
            <a:ext cx="5073675" cy="1122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200" b="1" i="0">
                <a:solidFill>
                  <a:srgbClr val="CC0000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84724" y="1490675"/>
            <a:ext cx="8361045" cy="31800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rgbClr val="124F5B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5/2/2025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94684" y="822536"/>
            <a:ext cx="5556250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200" spc="-125" dirty="0"/>
              <a:t>Capstone </a:t>
            </a:r>
            <a:r>
              <a:rPr sz="4200" spc="-155" dirty="0"/>
              <a:t>Project </a:t>
            </a:r>
            <a:r>
              <a:rPr sz="4200" spc="-395" dirty="0"/>
              <a:t>-</a:t>
            </a:r>
            <a:r>
              <a:rPr sz="4200" spc="-550" dirty="0"/>
              <a:t> </a:t>
            </a:r>
            <a:r>
              <a:rPr sz="4200" spc="-1340" dirty="0"/>
              <a:t>1</a:t>
            </a:r>
            <a:endParaRPr sz="4200" dirty="0"/>
          </a:p>
        </p:txBody>
      </p:sp>
      <p:sp>
        <p:nvSpPr>
          <p:cNvPr id="3" name="object 3"/>
          <p:cNvSpPr txBox="1"/>
          <p:nvPr/>
        </p:nvSpPr>
        <p:spPr>
          <a:xfrm>
            <a:off x="787847" y="2105742"/>
            <a:ext cx="7569834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spc="-45" dirty="0">
                <a:solidFill>
                  <a:srgbClr val="124F5B"/>
                </a:solidFill>
                <a:latin typeface="Verdana"/>
                <a:cs typeface="Verdana"/>
              </a:rPr>
              <a:t>EDA </a:t>
            </a:r>
            <a:r>
              <a:rPr sz="3600" b="1" spc="-100" dirty="0">
                <a:solidFill>
                  <a:srgbClr val="124F5B"/>
                </a:solidFill>
                <a:latin typeface="Verdana"/>
                <a:cs typeface="Verdana"/>
              </a:rPr>
              <a:t>on </a:t>
            </a:r>
            <a:r>
              <a:rPr sz="3600" b="1" spc="-145" dirty="0">
                <a:solidFill>
                  <a:srgbClr val="124F5B"/>
                </a:solidFill>
                <a:latin typeface="Verdana"/>
                <a:cs typeface="Verdana"/>
              </a:rPr>
              <a:t>Play </a:t>
            </a:r>
            <a:r>
              <a:rPr sz="3600" b="1" spc="-185" dirty="0">
                <a:solidFill>
                  <a:srgbClr val="124F5B"/>
                </a:solidFill>
                <a:latin typeface="Verdana"/>
                <a:cs typeface="Verdana"/>
              </a:rPr>
              <a:t>Store </a:t>
            </a:r>
            <a:r>
              <a:rPr sz="3600" b="1" spc="-35" dirty="0">
                <a:solidFill>
                  <a:srgbClr val="124F5B"/>
                </a:solidFill>
                <a:latin typeface="Verdana"/>
                <a:cs typeface="Verdana"/>
              </a:rPr>
              <a:t>App</a:t>
            </a:r>
            <a:r>
              <a:rPr sz="3600" b="1" spc="-650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3600" b="1" spc="-175" dirty="0">
                <a:solidFill>
                  <a:srgbClr val="124F5B"/>
                </a:solidFill>
                <a:latin typeface="Verdana"/>
                <a:cs typeface="Verdana"/>
              </a:rPr>
              <a:t>Reviews</a:t>
            </a:r>
            <a:endParaRPr sz="3600" dirty="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0" y="3028950"/>
            <a:ext cx="4053840" cy="102848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2400" b="1" spc="-60" dirty="0">
                <a:solidFill>
                  <a:srgbClr val="124F5B"/>
                </a:solidFill>
                <a:latin typeface="Verdana"/>
                <a:cs typeface="Verdana"/>
              </a:rPr>
              <a:t>By</a:t>
            </a:r>
            <a:endParaRPr sz="2400" dirty="0">
              <a:latin typeface="Verdana"/>
              <a:cs typeface="Verdana"/>
            </a:endParaRPr>
          </a:p>
          <a:p>
            <a:pPr algn="ctr">
              <a:lnSpc>
                <a:spcPct val="100000"/>
              </a:lnSpc>
            </a:pPr>
            <a:r>
              <a:rPr lang="en-IN" sz="2400" b="1" spc="-114" dirty="0">
                <a:solidFill>
                  <a:srgbClr val="CC0000"/>
                </a:solidFill>
                <a:latin typeface="Verdana"/>
                <a:cs typeface="Verdana"/>
              </a:rPr>
              <a:t>PERUGU SISIRA REDDY</a:t>
            </a:r>
            <a:endParaRPr sz="2400" dirty="0">
              <a:latin typeface="Verdana"/>
              <a:cs typeface="Verdana"/>
            </a:endParaRPr>
          </a:p>
          <a:p>
            <a:pPr algn="ctr">
              <a:lnSpc>
                <a:spcPct val="100000"/>
              </a:lnSpc>
              <a:spcBef>
                <a:spcPts val="20"/>
              </a:spcBef>
            </a:pPr>
            <a:endParaRPr sz="1800" dirty="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4" y="503825"/>
            <a:ext cx="368998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85" dirty="0"/>
              <a:t>Problem</a:t>
            </a:r>
            <a:r>
              <a:rPr sz="2800" spc="-225" dirty="0"/>
              <a:t> </a:t>
            </a:r>
            <a:r>
              <a:rPr sz="2800" spc="-95" dirty="0"/>
              <a:t>Statement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384724" y="1175208"/>
            <a:ext cx="8370570" cy="35947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265" marR="58419" indent="-457200" algn="just">
              <a:lnSpc>
                <a:spcPct val="114999"/>
              </a:lnSpc>
              <a:spcBef>
                <a:spcPts val="100"/>
              </a:spcBef>
              <a:buFont typeface="AoyagiKouzanFontT"/>
              <a:buChar char="❏"/>
              <a:tabLst>
                <a:tab pos="469900" algn="l"/>
              </a:tabLst>
            </a:pPr>
            <a:r>
              <a:rPr sz="1800" spc="-10" dirty="0">
                <a:solidFill>
                  <a:srgbClr val="124F5B"/>
                </a:solidFill>
                <a:latin typeface="Verdana"/>
                <a:cs typeface="Verdana"/>
              </a:rPr>
              <a:t>Two </a:t>
            </a:r>
            <a:r>
              <a:rPr sz="1800" dirty="0">
                <a:solidFill>
                  <a:srgbClr val="124F5B"/>
                </a:solidFill>
                <a:latin typeface="Verdana"/>
                <a:cs typeface="Verdana"/>
              </a:rPr>
              <a:t>datasets </a:t>
            </a:r>
            <a:r>
              <a:rPr sz="1800" spc="-30" dirty="0">
                <a:solidFill>
                  <a:srgbClr val="124F5B"/>
                </a:solidFill>
                <a:latin typeface="Verdana"/>
                <a:cs typeface="Verdana"/>
              </a:rPr>
              <a:t>are </a:t>
            </a:r>
            <a:r>
              <a:rPr sz="1800" spc="-15" dirty="0">
                <a:solidFill>
                  <a:srgbClr val="124F5B"/>
                </a:solidFill>
                <a:latin typeface="Verdana"/>
                <a:cs typeface="Verdana"/>
              </a:rPr>
              <a:t>provided, </a:t>
            </a:r>
            <a:r>
              <a:rPr sz="1800" spc="40" dirty="0">
                <a:solidFill>
                  <a:srgbClr val="124F5B"/>
                </a:solidFill>
                <a:latin typeface="Verdana"/>
                <a:cs typeface="Verdana"/>
              </a:rPr>
              <a:t>one </a:t>
            </a:r>
            <a:r>
              <a:rPr sz="1800" spc="50" dirty="0">
                <a:solidFill>
                  <a:srgbClr val="124F5B"/>
                </a:solidFill>
                <a:latin typeface="Verdana"/>
                <a:cs typeface="Verdana"/>
              </a:rPr>
              <a:t>with </a:t>
            </a:r>
            <a:r>
              <a:rPr sz="1800" b="1" spc="-65" dirty="0">
                <a:solidFill>
                  <a:srgbClr val="124F5B"/>
                </a:solidFill>
                <a:latin typeface="Verdana"/>
                <a:cs typeface="Verdana"/>
              </a:rPr>
              <a:t>basic information </a:t>
            </a:r>
            <a:r>
              <a:rPr sz="1800" spc="50" dirty="0">
                <a:solidFill>
                  <a:srgbClr val="124F5B"/>
                </a:solidFill>
                <a:latin typeface="Verdana"/>
                <a:cs typeface="Verdana"/>
              </a:rPr>
              <a:t>and </a:t>
            </a:r>
            <a:r>
              <a:rPr sz="1800" spc="35" dirty="0">
                <a:solidFill>
                  <a:srgbClr val="124F5B"/>
                </a:solidFill>
                <a:latin typeface="Verdana"/>
                <a:cs typeface="Verdana"/>
              </a:rPr>
              <a:t>the </a:t>
            </a:r>
            <a:r>
              <a:rPr sz="1800" spc="700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20" dirty="0">
                <a:solidFill>
                  <a:srgbClr val="124F5B"/>
                </a:solidFill>
                <a:latin typeface="Verdana"/>
                <a:cs typeface="Verdana"/>
              </a:rPr>
              <a:t>other</a:t>
            </a:r>
            <a:r>
              <a:rPr sz="1800" spc="-165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50" dirty="0">
                <a:solidFill>
                  <a:srgbClr val="124F5B"/>
                </a:solidFill>
                <a:latin typeface="Verdana"/>
                <a:cs typeface="Verdana"/>
              </a:rPr>
              <a:t>with</a:t>
            </a:r>
            <a:r>
              <a:rPr sz="1800" spc="-165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b="1" spc="-85" dirty="0">
                <a:solidFill>
                  <a:srgbClr val="124F5B"/>
                </a:solidFill>
                <a:latin typeface="Verdana"/>
                <a:cs typeface="Verdana"/>
              </a:rPr>
              <a:t>user</a:t>
            </a:r>
            <a:r>
              <a:rPr sz="1800" b="1" spc="-110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b="1" spc="-100" dirty="0">
                <a:solidFill>
                  <a:srgbClr val="124F5B"/>
                </a:solidFill>
                <a:latin typeface="Verdana"/>
                <a:cs typeface="Verdana"/>
              </a:rPr>
              <a:t>reviews</a:t>
            </a:r>
            <a:r>
              <a:rPr sz="1800" b="1" spc="-145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-20" dirty="0">
                <a:solidFill>
                  <a:srgbClr val="124F5B"/>
                </a:solidFill>
                <a:latin typeface="Verdana"/>
                <a:cs typeface="Verdana"/>
              </a:rPr>
              <a:t>for</a:t>
            </a:r>
            <a:r>
              <a:rPr sz="1800" spc="-165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35" dirty="0">
                <a:solidFill>
                  <a:srgbClr val="124F5B"/>
                </a:solidFill>
                <a:latin typeface="Verdana"/>
                <a:cs typeface="Verdana"/>
              </a:rPr>
              <a:t>the</a:t>
            </a:r>
            <a:r>
              <a:rPr sz="1800" spc="-165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-5" dirty="0">
                <a:solidFill>
                  <a:srgbClr val="124F5B"/>
                </a:solidFill>
                <a:latin typeface="Verdana"/>
                <a:cs typeface="Verdana"/>
              </a:rPr>
              <a:t>respective</a:t>
            </a:r>
            <a:r>
              <a:rPr sz="1800" spc="-165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-35" dirty="0">
                <a:solidFill>
                  <a:srgbClr val="124F5B"/>
                </a:solidFill>
                <a:latin typeface="Verdana"/>
                <a:cs typeface="Verdana"/>
              </a:rPr>
              <a:t>app.</a:t>
            </a:r>
            <a:endParaRPr sz="1800">
              <a:latin typeface="Verdana"/>
              <a:cs typeface="Verdana"/>
            </a:endParaRPr>
          </a:p>
          <a:p>
            <a:pPr marL="469265" marR="5080" indent="-457200" algn="just">
              <a:lnSpc>
                <a:spcPct val="114999"/>
              </a:lnSpc>
              <a:buFont typeface="AoyagiKouzanFontT"/>
              <a:buChar char="❏"/>
              <a:tabLst>
                <a:tab pos="469900" algn="l"/>
              </a:tabLst>
            </a:pPr>
            <a:r>
              <a:rPr sz="1800" spc="65" dirty="0">
                <a:solidFill>
                  <a:srgbClr val="124F5B"/>
                </a:solidFill>
                <a:latin typeface="Verdana"/>
                <a:cs typeface="Verdana"/>
              </a:rPr>
              <a:t>We</a:t>
            </a:r>
            <a:r>
              <a:rPr sz="1800" spc="-130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45" dirty="0">
                <a:solidFill>
                  <a:srgbClr val="124F5B"/>
                </a:solidFill>
                <a:latin typeface="Verdana"/>
                <a:cs typeface="Verdana"/>
              </a:rPr>
              <a:t>must</a:t>
            </a:r>
            <a:r>
              <a:rPr sz="1800" spc="-130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10" dirty="0">
                <a:solidFill>
                  <a:srgbClr val="124F5B"/>
                </a:solidFill>
                <a:latin typeface="Verdana"/>
                <a:cs typeface="Verdana"/>
              </a:rPr>
              <a:t>examine</a:t>
            </a:r>
            <a:r>
              <a:rPr sz="1800" spc="-125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50" dirty="0">
                <a:solidFill>
                  <a:srgbClr val="124F5B"/>
                </a:solidFill>
                <a:latin typeface="Verdana"/>
                <a:cs typeface="Verdana"/>
              </a:rPr>
              <a:t>and</a:t>
            </a:r>
            <a:r>
              <a:rPr sz="1800" spc="-130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-15" dirty="0">
                <a:solidFill>
                  <a:srgbClr val="124F5B"/>
                </a:solidFill>
                <a:latin typeface="Verdana"/>
                <a:cs typeface="Verdana"/>
              </a:rPr>
              <a:t>evaluate</a:t>
            </a:r>
            <a:r>
              <a:rPr sz="1800" spc="-125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35" dirty="0">
                <a:solidFill>
                  <a:srgbClr val="124F5B"/>
                </a:solidFill>
                <a:latin typeface="Verdana"/>
                <a:cs typeface="Verdana"/>
              </a:rPr>
              <a:t>the</a:t>
            </a:r>
            <a:r>
              <a:rPr sz="1800" spc="-130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20" dirty="0">
                <a:solidFill>
                  <a:srgbClr val="124F5B"/>
                </a:solidFill>
                <a:latin typeface="Verdana"/>
                <a:cs typeface="Verdana"/>
              </a:rPr>
              <a:t>data</a:t>
            </a:r>
            <a:r>
              <a:rPr sz="1800" spc="-125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30" dirty="0">
                <a:solidFill>
                  <a:srgbClr val="124F5B"/>
                </a:solidFill>
                <a:latin typeface="Verdana"/>
                <a:cs typeface="Verdana"/>
              </a:rPr>
              <a:t>in</a:t>
            </a:r>
            <a:r>
              <a:rPr sz="1800" spc="-130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55" dirty="0">
                <a:solidFill>
                  <a:srgbClr val="124F5B"/>
                </a:solidFill>
                <a:latin typeface="Verdana"/>
                <a:cs typeface="Verdana"/>
              </a:rPr>
              <a:t>both</a:t>
            </a:r>
            <a:r>
              <a:rPr sz="1800" spc="-125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124F5B"/>
                </a:solidFill>
                <a:latin typeface="Verdana"/>
                <a:cs typeface="Verdana"/>
              </a:rPr>
              <a:t>datasets</a:t>
            </a:r>
            <a:r>
              <a:rPr sz="1800" spc="-130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30" dirty="0">
                <a:solidFill>
                  <a:srgbClr val="124F5B"/>
                </a:solidFill>
                <a:latin typeface="Verdana"/>
                <a:cs typeface="Verdana"/>
              </a:rPr>
              <a:t>in</a:t>
            </a:r>
            <a:r>
              <a:rPr sz="1800" spc="-125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5" dirty="0">
                <a:solidFill>
                  <a:srgbClr val="124F5B"/>
                </a:solidFill>
                <a:latin typeface="Verdana"/>
                <a:cs typeface="Verdana"/>
              </a:rPr>
              <a:t>order</a:t>
            </a:r>
            <a:r>
              <a:rPr sz="1800" spc="-130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10" dirty="0">
                <a:solidFill>
                  <a:srgbClr val="124F5B"/>
                </a:solidFill>
                <a:latin typeface="Verdana"/>
                <a:cs typeface="Verdana"/>
              </a:rPr>
              <a:t>to  identify </a:t>
            </a:r>
            <a:r>
              <a:rPr sz="1800" spc="35" dirty="0">
                <a:solidFill>
                  <a:srgbClr val="124F5B"/>
                </a:solidFill>
                <a:latin typeface="Verdana"/>
                <a:cs typeface="Verdana"/>
              </a:rPr>
              <a:t>the</a:t>
            </a:r>
            <a:r>
              <a:rPr sz="1800" spc="700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40" dirty="0">
                <a:solidFill>
                  <a:srgbClr val="124F5B"/>
                </a:solidFill>
                <a:latin typeface="Verdana"/>
                <a:cs typeface="Verdana"/>
              </a:rPr>
              <a:t>important </a:t>
            </a:r>
            <a:r>
              <a:rPr sz="1800" dirty="0">
                <a:solidFill>
                  <a:srgbClr val="124F5B"/>
                </a:solidFill>
                <a:latin typeface="Verdana"/>
                <a:cs typeface="Verdana"/>
              </a:rPr>
              <a:t>characteristics </a:t>
            </a:r>
            <a:r>
              <a:rPr sz="1800" spc="25" dirty="0">
                <a:solidFill>
                  <a:srgbClr val="124F5B"/>
                </a:solidFill>
                <a:latin typeface="Verdana"/>
                <a:cs typeface="Verdana"/>
              </a:rPr>
              <a:t>that </a:t>
            </a:r>
            <a:r>
              <a:rPr sz="1800" spc="30" dirty="0">
                <a:solidFill>
                  <a:srgbClr val="124F5B"/>
                </a:solidFill>
                <a:latin typeface="Verdana"/>
                <a:cs typeface="Verdana"/>
              </a:rPr>
              <a:t>inﬂuence </a:t>
            </a:r>
            <a:r>
              <a:rPr sz="1800" spc="55" dirty="0">
                <a:solidFill>
                  <a:srgbClr val="124F5B"/>
                </a:solidFill>
                <a:latin typeface="Verdana"/>
                <a:cs typeface="Verdana"/>
              </a:rPr>
              <a:t>app  engagement </a:t>
            </a:r>
            <a:r>
              <a:rPr sz="1800" spc="50" dirty="0">
                <a:solidFill>
                  <a:srgbClr val="124F5B"/>
                </a:solidFill>
                <a:latin typeface="Verdana"/>
                <a:cs typeface="Verdana"/>
              </a:rPr>
              <a:t>and</a:t>
            </a:r>
            <a:r>
              <a:rPr sz="1800" spc="-390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-35" dirty="0">
                <a:solidFill>
                  <a:srgbClr val="124F5B"/>
                </a:solidFill>
                <a:latin typeface="Verdana"/>
                <a:cs typeface="Verdana"/>
              </a:rPr>
              <a:t>success.</a:t>
            </a:r>
            <a:endParaRPr sz="18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Clr>
                <a:srgbClr val="124F5B"/>
              </a:buClr>
              <a:buFont typeface="AoyagiKouzanFontT"/>
              <a:buChar char="❏"/>
            </a:pPr>
            <a:endParaRPr sz="20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2000" b="1" spc="-145" dirty="0">
                <a:solidFill>
                  <a:srgbClr val="CC0000"/>
                </a:solidFill>
                <a:latin typeface="Verdana"/>
                <a:cs typeface="Verdana"/>
              </a:rPr>
              <a:t>So, </a:t>
            </a:r>
            <a:r>
              <a:rPr sz="2000" b="1" spc="-70" dirty="0">
                <a:solidFill>
                  <a:srgbClr val="CC0000"/>
                </a:solidFill>
                <a:latin typeface="Verdana"/>
                <a:cs typeface="Verdana"/>
              </a:rPr>
              <a:t>what </a:t>
            </a:r>
            <a:r>
              <a:rPr sz="2000" b="1" spc="-85" dirty="0">
                <a:solidFill>
                  <a:srgbClr val="CC0000"/>
                </a:solidFill>
                <a:latin typeface="Verdana"/>
                <a:cs typeface="Verdana"/>
              </a:rPr>
              <a:t>factors </a:t>
            </a:r>
            <a:r>
              <a:rPr sz="2000" b="1" spc="-55" dirty="0">
                <a:solidFill>
                  <a:srgbClr val="CC0000"/>
                </a:solidFill>
                <a:latin typeface="Verdana"/>
                <a:cs typeface="Verdana"/>
              </a:rPr>
              <a:t>inﬂuence </a:t>
            </a:r>
            <a:r>
              <a:rPr sz="2000" b="1" spc="-75" dirty="0">
                <a:solidFill>
                  <a:srgbClr val="CC0000"/>
                </a:solidFill>
                <a:latin typeface="Verdana"/>
                <a:cs typeface="Verdana"/>
              </a:rPr>
              <a:t>an </a:t>
            </a:r>
            <a:r>
              <a:rPr sz="2000" b="1" spc="-100" dirty="0">
                <a:solidFill>
                  <a:srgbClr val="CC0000"/>
                </a:solidFill>
                <a:latin typeface="Verdana"/>
                <a:cs typeface="Verdana"/>
              </a:rPr>
              <a:t>app's</a:t>
            </a:r>
            <a:r>
              <a:rPr sz="2000" b="1" spc="-295" dirty="0">
                <a:solidFill>
                  <a:srgbClr val="CC0000"/>
                </a:solidFill>
                <a:latin typeface="Verdana"/>
                <a:cs typeface="Verdana"/>
              </a:rPr>
              <a:t> </a:t>
            </a:r>
            <a:r>
              <a:rPr sz="2000" b="1" spc="-75" dirty="0">
                <a:solidFill>
                  <a:srgbClr val="CC0000"/>
                </a:solidFill>
                <a:latin typeface="Verdana"/>
                <a:cs typeface="Verdana"/>
              </a:rPr>
              <a:t>success?</a:t>
            </a:r>
            <a:endParaRPr sz="20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800" spc="65" dirty="0">
                <a:solidFill>
                  <a:srgbClr val="124F5B"/>
                </a:solidFill>
                <a:latin typeface="Verdana"/>
                <a:cs typeface="Verdana"/>
              </a:rPr>
              <a:t>An</a:t>
            </a:r>
            <a:r>
              <a:rPr sz="1800" spc="-170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55" dirty="0">
                <a:solidFill>
                  <a:srgbClr val="124F5B"/>
                </a:solidFill>
                <a:latin typeface="Verdana"/>
                <a:cs typeface="Verdana"/>
              </a:rPr>
              <a:t>app</a:t>
            </a:r>
            <a:r>
              <a:rPr sz="1800" spc="-165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-35" dirty="0">
                <a:solidFill>
                  <a:srgbClr val="124F5B"/>
                </a:solidFill>
                <a:latin typeface="Verdana"/>
                <a:cs typeface="Verdana"/>
              </a:rPr>
              <a:t>is</a:t>
            </a:r>
            <a:r>
              <a:rPr sz="1800" spc="-165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124F5B"/>
                </a:solidFill>
                <a:latin typeface="Verdana"/>
                <a:cs typeface="Verdana"/>
              </a:rPr>
              <a:t>said</a:t>
            </a:r>
            <a:r>
              <a:rPr sz="1800" spc="-165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10" dirty="0">
                <a:solidFill>
                  <a:srgbClr val="124F5B"/>
                </a:solidFill>
                <a:latin typeface="Verdana"/>
                <a:cs typeface="Verdana"/>
              </a:rPr>
              <a:t>to</a:t>
            </a:r>
            <a:r>
              <a:rPr sz="1800" spc="-165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55" dirty="0">
                <a:solidFill>
                  <a:srgbClr val="124F5B"/>
                </a:solidFill>
                <a:latin typeface="Verdana"/>
                <a:cs typeface="Verdana"/>
              </a:rPr>
              <a:t>be</a:t>
            </a:r>
            <a:r>
              <a:rPr sz="1800" spc="-165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5" dirty="0">
                <a:solidFill>
                  <a:srgbClr val="124F5B"/>
                </a:solidFill>
                <a:latin typeface="Verdana"/>
                <a:cs typeface="Verdana"/>
              </a:rPr>
              <a:t>successful</a:t>
            </a:r>
            <a:r>
              <a:rPr sz="1800" spc="-165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-20" dirty="0">
                <a:solidFill>
                  <a:srgbClr val="124F5B"/>
                </a:solidFill>
                <a:latin typeface="Verdana"/>
                <a:cs typeface="Verdana"/>
              </a:rPr>
              <a:t>if</a:t>
            </a:r>
            <a:r>
              <a:rPr sz="1800" spc="-165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5" dirty="0">
                <a:solidFill>
                  <a:srgbClr val="124F5B"/>
                </a:solidFill>
                <a:latin typeface="Verdana"/>
                <a:cs typeface="Verdana"/>
              </a:rPr>
              <a:t>it</a:t>
            </a:r>
            <a:r>
              <a:rPr sz="1800" spc="-165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-110" dirty="0">
                <a:solidFill>
                  <a:srgbClr val="124F5B"/>
                </a:solidFill>
                <a:latin typeface="Verdana"/>
                <a:cs typeface="Verdana"/>
              </a:rPr>
              <a:t>has:</a:t>
            </a:r>
            <a:endParaRPr sz="1800">
              <a:latin typeface="Verdana"/>
              <a:cs typeface="Verdana"/>
            </a:endParaRPr>
          </a:p>
          <a:p>
            <a:pPr marL="469900" indent="-457200">
              <a:lnSpc>
                <a:spcPct val="100000"/>
              </a:lnSpc>
              <a:buFont typeface="AoyagiKouzanFontT"/>
              <a:buChar char="❏"/>
              <a:tabLst>
                <a:tab pos="469265" algn="l"/>
                <a:tab pos="469900" algn="l"/>
              </a:tabLst>
            </a:pPr>
            <a:r>
              <a:rPr sz="1800" spc="60" dirty="0">
                <a:solidFill>
                  <a:srgbClr val="124F5B"/>
                </a:solidFill>
                <a:latin typeface="Verdana"/>
                <a:cs typeface="Verdana"/>
              </a:rPr>
              <a:t>A</a:t>
            </a:r>
            <a:r>
              <a:rPr sz="1800" spc="-170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65" dirty="0">
                <a:solidFill>
                  <a:srgbClr val="124F5B"/>
                </a:solidFill>
                <a:latin typeface="Verdana"/>
                <a:cs typeface="Verdana"/>
              </a:rPr>
              <a:t>high</a:t>
            </a:r>
            <a:r>
              <a:rPr sz="1800" spc="-165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-15" dirty="0">
                <a:solidFill>
                  <a:srgbClr val="124F5B"/>
                </a:solidFill>
                <a:latin typeface="Verdana"/>
                <a:cs typeface="Verdana"/>
              </a:rPr>
              <a:t>average</a:t>
            </a:r>
            <a:r>
              <a:rPr sz="1800" spc="-165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-5" dirty="0">
                <a:solidFill>
                  <a:srgbClr val="124F5B"/>
                </a:solidFill>
                <a:latin typeface="Verdana"/>
                <a:cs typeface="Verdana"/>
              </a:rPr>
              <a:t>user</a:t>
            </a:r>
            <a:r>
              <a:rPr sz="1800" spc="-165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15" dirty="0">
                <a:solidFill>
                  <a:srgbClr val="124F5B"/>
                </a:solidFill>
                <a:latin typeface="Verdana"/>
                <a:cs typeface="Verdana"/>
              </a:rPr>
              <a:t>rating</a:t>
            </a:r>
            <a:endParaRPr sz="1800">
              <a:latin typeface="Verdana"/>
              <a:cs typeface="Verdana"/>
            </a:endParaRPr>
          </a:p>
          <a:p>
            <a:pPr marL="469900" indent="-457200">
              <a:lnSpc>
                <a:spcPct val="100000"/>
              </a:lnSpc>
              <a:buFont typeface="AoyagiKouzanFontT"/>
              <a:buChar char="❏"/>
              <a:tabLst>
                <a:tab pos="469265" algn="l"/>
                <a:tab pos="469900" algn="l"/>
              </a:tabLst>
            </a:pPr>
            <a:r>
              <a:rPr sz="1800" spc="60" dirty="0">
                <a:solidFill>
                  <a:srgbClr val="124F5B"/>
                </a:solidFill>
                <a:latin typeface="Verdana"/>
                <a:cs typeface="Verdana"/>
              </a:rPr>
              <a:t>A</a:t>
            </a:r>
            <a:r>
              <a:rPr sz="1800" spc="-170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70" dirty="0">
                <a:solidFill>
                  <a:srgbClr val="124F5B"/>
                </a:solidFill>
                <a:latin typeface="Verdana"/>
                <a:cs typeface="Verdana"/>
              </a:rPr>
              <a:t>good</a:t>
            </a:r>
            <a:r>
              <a:rPr sz="1800" spc="-165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60" dirty="0">
                <a:solidFill>
                  <a:srgbClr val="124F5B"/>
                </a:solidFill>
                <a:latin typeface="Verdana"/>
                <a:cs typeface="Verdana"/>
              </a:rPr>
              <a:t>number</a:t>
            </a:r>
            <a:r>
              <a:rPr sz="1800" spc="-165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5" dirty="0">
                <a:solidFill>
                  <a:srgbClr val="124F5B"/>
                </a:solidFill>
                <a:latin typeface="Verdana"/>
                <a:cs typeface="Verdana"/>
              </a:rPr>
              <a:t>of</a:t>
            </a:r>
            <a:r>
              <a:rPr sz="1800" spc="-165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-5" dirty="0">
                <a:solidFill>
                  <a:srgbClr val="124F5B"/>
                </a:solidFill>
                <a:latin typeface="Verdana"/>
                <a:cs typeface="Verdana"/>
              </a:rPr>
              <a:t>positive</a:t>
            </a:r>
            <a:r>
              <a:rPr sz="1800" spc="-165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-20" dirty="0">
                <a:solidFill>
                  <a:srgbClr val="124F5B"/>
                </a:solidFill>
                <a:latin typeface="Verdana"/>
                <a:cs typeface="Verdana"/>
              </a:rPr>
              <a:t>reviews</a:t>
            </a:r>
            <a:endParaRPr sz="1800">
              <a:latin typeface="Verdana"/>
              <a:cs typeface="Verdana"/>
            </a:endParaRPr>
          </a:p>
          <a:p>
            <a:pPr marL="469900" indent="-457200">
              <a:lnSpc>
                <a:spcPct val="100000"/>
              </a:lnSpc>
              <a:buFont typeface="AoyagiKouzanFontT"/>
              <a:buChar char="❏"/>
              <a:tabLst>
                <a:tab pos="469265" algn="l"/>
                <a:tab pos="469900" algn="l"/>
              </a:tabLst>
            </a:pPr>
            <a:r>
              <a:rPr sz="1800" spc="60" dirty="0">
                <a:solidFill>
                  <a:srgbClr val="124F5B"/>
                </a:solidFill>
                <a:latin typeface="Verdana"/>
                <a:cs typeface="Verdana"/>
              </a:rPr>
              <a:t>A</a:t>
            </a:r>
            <a:r>
              <a:rPr sz="1800" spc="-170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70" dirty="0">
                <a:solidFill>
                  <a:srgbClr val="124F5B"/>
                </a:solidFill>
                <a:latin typeface="Verdana"/>
                <a:cs typeface="Verdana"/>
              </a:rPr>
              <a:t>good</a:t>
            </a:r>
            <a:r>
              <a:rPr sz="1800" spc="-165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60" dirty="0">
                <a:solidFill>
                  <a:srgbClr val="124F5B"/>
                </a:solidFill>
                <a:latin typeface="Verdana"/>
                <a:cs typeface="Verdana"/>
              </a:rPr>
              <a:t>number</a:t>
            </a:r>
            <a:r>
              <a:rPr sz="1800" spc="-165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5" dirty="0">
                <a:solidFill>
                  <a:srgbClr val="124F5B"/>
                </a:solidFill>
                <a:latin typeface="Verdana"/>
                <a:cs typeface="Verdana"/>
              </a:rPr>
              <a:t>of</a:t>
            </a:r>
            <a:r>
              <a:rPr sz="1800" spc="-165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35" dirty="0">
                <a:solidFill>
                  <a:srgbClr val="124F5B"/>
                </a:solidFill>
                <a:latin typeface="Verdana"/>
                <a:cs typeface="Verdana"/>
              </a:rPr>
              <a:t>monthly</a:t>
            </a:r>
            <a:r>
              <a:rPr sz="1800" spc="-165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-15" dirty="0">
                <a:solidFill>
                  <a:srgbClr val="124F5B"/>
                </a:solidFill>
                <a:latin typeface="Verdana"/>
                <a:cs typeface="Verdana"/>
              </a:rPr>
              <a:t>average</a:t>
            </a:r>
            <a:r>
              <a:rPr sz="1800" spc="-165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-20" dirty="0">
                <a:solidFill>
                  <a:srgbClr val="124F5B"/>
                </a:solidFill>
                <a:latin typeface="Verdana"/>
                <a:cs typeface="Verdana"/>
              </a:rPr>
              <a:t>users</a:t>
            </a:r>
            <a:endParaRPr sz="1800">
              <a:latin typeface="Verdana"/>
              <a:cs typeface="Verdana"/>
            </a:endParaRPr>
          </a:p>
          <a:p>
            <a:pPr marL="469900" indent="-457200">
              <a:lnSpc>
                <a:spcPct val="100000"/>
              </a:lnSpc>
              <a:buFont typeface="AoyagiKouzanFontT"/>
              <a:buChar char="❏"/>
              <a:tabLst>
                <a:tab pos="469265" algn="l"/>
                <a:tab pos="469900" algn="l"/>
              </a:tabLst>
            </a:pPr>
            <a:r>
              <a:rPr sz="1800" spc="70" dirty="0">
                <a:solidFill>
                  <a:srgbClr val="124F5B"/>
                </a:solidFill>
                <a:latin typeface="Verdana"/>
                <a:cs typeface="Verdana"/>
              </a:rPr>
              <a:t>High</a:t>
            </a:r>
            <a:r>
              <a:rPr sz="1800" spc="-170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-5" dirty="0">
                <a:solidFill>
                  <a:srgbClr val="124F5B"/>
                </a:solidFill>
                <a:latin typeface="Verdana"/>
                <a:cs typeface="Verdana"/>
              </a:rPr>
              <a:t>revenue</a:t>
            </a:r>
            <a:r>
              <a:rPr sz="1800" spc="-165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20" dirty="0">
                <a:solidFill>
                  <a:srgbClr val="124F5B"/>
                </a:solidFill>
                <a:latin typeface="Verdana"/>
                <a:cs typeface="Verdana"/>
              </a:rPr>
              <a:t>per</a:t>
            </a:r>
            <a:r>
              <a:rPr sz="1800" spc="-165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30" dirty="0">
                <a:solidFill>
                  <a:srgbClr val="124F5B"/>
                </a:solidFill>
                <a:latin typeface="Verdana"/>
                <a:cs typeface="Verdana"/>
              </a:rPr>
              <a:t>customer</a:t>
            </a:r>
            <a:r>
              <a:rPr sz="1800" spc="-165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50" dirty="0">
                <a:solidFill>
                  <a:srgbClr val="124F5B"/>
                </a:solidFill>
                <a:latin typeface="Verdana"/>
                <a:cs typeface="Verdana"/>
              </a:rPr>
              <a:t>and</a:t>
            </a:r>
            <a:r>
              <a:rPr sz="1800" spc="-165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-15" dirty="0">
                <a:solidFill>
                  <a:srgbClr val="124F5B"/>
                </a:solidFill>
                <a:latin typeface="Verdana"/>
                <a:cs typeface="Verdana"/>
              </a:rPr>
              <a:t>so</a:t>
            </a:r>
            <a:r>
              <a:rPr sz="1800" spc="-165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-55" dirty="0">
                <a:solidFill>
                  <a:srgbClr val="124F5B"/>
                </a:solidFill>
                <a:latin typeface="Verdana"/>
                <a:cs typeface="Verdana"/>
              </a:rPr>
              <a:t>on.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903835" y="3222699"/>
            <a:ext cx="1434930" cy="169359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4" y="503825"/>
            <a:ext cx="282130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90" dirty="0"/>
              <a:t>Data</a:t>
            </a:r>
            <a:r>
              <a:rPr sz="2800" spc="-245" dirty="0"/>
              <a:t> </a:t>
            </a:r>
            <a:r>
              <a:rPr sz="2800" spc="-110" dirty="0"/>
              <a:t>Summary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1652375" y="1216356"/>
            <a:ext cx="19735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14" dirty="0">
                <a:solidFill>
                  <a:srgbClr val="CC0000"/>
                </a:solidFill>
                <a:latin typeface="Verdana"/>
                <a:cs typeface="Verdana"/>
              </a:rPr>
              <a:t>Play_Store_Data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84724" y="1490675"/>
            <a:ext cx="1579245" cy="2233930"/>
          </a:xfrm>
          <a:prstGeom prst="rect">
            <a:avLst/>
          </a:prstGeom>
        </p:spPr>
        <p:txBody>
          <a:bodyPr vert="horz" wrap="square" lIns="0" tIns="53340" rIns="0" bIns="0" rtlCol="0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420"/>
              </a:spcBef>
              <a:buFont typeface="DejaVu Sans"/>
              <a:buChar char="❑"/>
              <a:tabLst>
                <a:tab pos="469265" algn="l"/>
                <a:tab pos="469900" algn="l"/>
              </a:tabLst>
            </a:pPr>
            <a:r>
              <a:rPr sz="1800" b="1" spc="-20" dirty="0">
                <a:solidFill>
                  <a:srgbClr val="124F5B"/>
                </a:solidFill>
                <a:latin typeface="Verdana"/>
                <a:cs typeface="Verdana"/>
              </a:rPr>
              <a:t>App</a:t>
            </a:r>
            <a:endParaRPr sz="1800">
              <a:latin typeface="Verdana"/>
              <a:cs typeface="Verdana"/>
            </a:endParaRPr>
          </a:p>
          <a:p>
            <a:pPr marL="469900" indent="-457200">
              <a:lnSpc>
                <a:spcPct val="100000"/>
              </a:lnSpc>
              <a:spcBef>
                <a:spcPts val="325"/>
              </a:spcBef>
              <a:buFont typeface="DejaVu Sans"/>
              <a:buChar char="❑"/>
              <a:tabLst>
                <a:tab pos="469265" algn="l"/>
                <a:tab pos="469900" algn="l"/>
              </a:tabLst>
            </a:pPr>
            <a:r>
              <a:rPr sz="1800" b="1" spc="5" dirty="0">
                <a:solidFill>
                  <a:srgbClr val="124F5B"/>
                </a:solidFill>
                <a:latin typeface="Verdana"/>
                <a:cs typeface="Verdana"/>
              </a:rPr>
              <a:t>C</a:t>
            </a:r>
            <a:r>
              <a:rPr sz="1800" b="1" spc="-80" dirty="0">
                <a:solidFill>
                  <a:srgbClr val="124F5B"/>
                </a:solidFill>
                <a:latin typeface="Verdana"/>
                <a:cs typeface="Verdana"/>
              </a:rPr>
              <a:t>a</a:t>
            </a:r>
            <a:r>
              <a:rPr sz="1800" b="1" spc="-90" dirty="0">
                <a:solidFill>
                  <a:srgbClr val="124F5B"/>
                </a:solidFill>
                <a:latin typeface="Verdana"/>
                <a:cs typeface="Verdana"/>
              </a:rPr>
              <a:t>t</a:t>
            </a:r>
            <a:r>
              <a:rPr sz="1800" b="1" spc="-65" dirty="0">
                <a:solidFill>
                  <a:srgbClr val="124F5B"/>
                </a:solidFill>
                <a:latin typeface="Verdana"/>
                <a:cs typeface="Verdana"/>
              </a:rPr>
              <a:t>ego</a:t>
            </a:r>
            <a:r>
              <a:rPr sz="1800" b="1" spc="-25" dirty="0">
                <a:solidFill>
                  <a:srgbClr val="124F5B"/>
                </a:solidFill>
                <a:latin typeface="Verdana"/>
                <a:cs typeface="Verdana"/>
              </a:rPr>
              <a:t>r</a:t>
            </a:r>
            <a:r>
              <a:rPr sz="1800" b="1" spc="-100" dirty="0">
                <a:solidFill>
                  <a:srgbClr val="124F5B"/>
                </a:solidFill>
                <a:latin typeface="Verdana"/>
                <a:cs typeface="Verdana"/>
              </a:rPr>
              <a:t>y</a:t>
            </a:r>
            <a:endParaRPr sz="1800">
              <a:latin typeface="Verdana"/>
              <a:cs typeface="Verdana"/>
            </a:endParaRPr>
          </a:p>
          <a:p>
            <a:pPr marL="469900" indent="-457200">
              <a:lnSpc>
                <a:spcPct val="100000"/>
              </a:lnSpc>
              <a:spcBef>
                <a:spcPts val="325"/>
              </a:spcBef>
              <a:buFont typeface="DejaVu Sans"/>
              <a:buChar char="❑"/>
              <a:tabLst>
                <a:tab pos="469265" algn="l"/>
                <a:tab pos="469900" algn="l"/>
              </a:tabLst>
            </a:pPr>
            <a:r>
              <a:rPr sz="1800" b="1" spc="-95" dirty="0">
                <a:solidFill>
                  <a:srgbClr val="124F5B"/>
                </a:solidFill>
                <a:latin typeface="Verdana"/>
                <a:cs typeface="Verdana"/>
              </a:rPr>
              <a:t>Size</a:t>
            </a:r>
            <a:endParaRPr sz="1800">
              <a:latin typeface="Verdana"/>
              <a:cs typeface="Verdana"/>
            </a:endParaRPr>
          </a:p>
          <a:p>
            <a:pPr marL="469900" indent="-457200">
              <a:lnSpc>
                <a:spcPct val="100000"/>
              </a:lnSpc>
              <a:spcBef>
                <a:spcPts val="325"/>
              </a:spcBef>
              <a:buFont typeface="DejaVu Sans"/>
              <a:buChar char="❑"/>
              <a:tabLst>
                <a:tab pos="469265" algn="l"/>
                <a:tab pos="469900" algn="l"/>
              </a:tabLst>
            </a:pPr>
            <a:r>
              <a:rPr sz="1800" b="1" spc="-55" dirty="0">
                <a:solidFill>
                  <a:srgbClr val="124F5B"/>
                </a:solidFill>
                <a:latin typeface="Verdana"/>
                <a:cs typeface="Verdana"/>
              </a:rPr>
              <a:t>Rating</a:t>
            </a:r>
            <a:endParaRPr sz="1800">
              <a:latin typeface="Verdana"/>
              <a:cs typeface="Verdana"/>
            </a:endParaRPr>
          </a:p>
          <a:p>
            <a:pPr marL="469900" indent="-457200">
              <a:lnSpc>
                <a:spcPct val="100000"/>
              </a:lnSpc>
              <a:spcBef>
                <a:spcPts val="325"/>
              </a:spcBef>
              <a:buFont typeface="DejaVu Sans"/>
              <a:buChar char="❑"/>
              <a:tabLst>
                <a:tab pos="469265" algn="l"/>
                <a:tab pos="469900" algn="l"/>
              </a:tabLst>
            </a:pPr>
            <a:r>
              <a:rPr sz="1800" b="1" spc="-90" dirty="0">
                <a:solidFill>
                  <a:srgbClr val="124F5B"/>
                </a:solidFill>
                <a:latin typeface="Verdana"/>
                <a:cs typeface="Verdana"/>
              </a:rPr>
              <a:t>Reviews</a:t>
            </a:r>
            <a:endParaRPr sz="1800">
              <a:latin typeface="Verdana"/>
              <a:cs typeface="Verdana"/>
            </a:endParaRPr>
          </a:p>
          <a:p>
            <a:pPr marL="469900" indent="-457200">
              <a:lnSpc>
                <a:spcPct val="100000"/>
              </a:lnSpc>
              <a:spcBef>
                <a:spcPts val="320"/>
              </a:spcBef>
              <a:buFont typeface="DejaVu Sans"/>
              <a:buChar char="❑"/>
              <a:tabLst>
                <a:tab pos="469265" algn="l"/>
                <a:tab pos="469900" algn="l"/>
              </a:tabLst>
            </a:pPr>
            <a:r>
              <a:rPr sz="1800" b="1" spc="-120" dirty="0">
                <a:solidFill>
                  <a:srgbClr val="124F5B"/>
                </a:solidFill>
                <a:latin typeface="Verdana"/>
                <a:cs typeface="Verdana"/>
              </a:rPr>
              <a:t>Installs</a:t>
            </a:r>
            <a:endParaRPr sz="1800">
              <a:latin typeface="Verdana"/>
              <a:cs typeface="Verdana"/>
            </a:endParaRPr>
          </a:p>
          <a:p>
            <a:pPr marL="469900" indent="-457200">
              <a:lnSpc>
                <a:spcPct val="100000"/>
              </a:lnSpc>
              <a:spcBef>
                <a:spcPts val="325"/>
              </a:spcBef>
              <a:buFont typeface="DejaVu Sans"/>
              <a:buChar char="❑"/>
              <a:tabLst>
                <a:tab pos="469265" algn="l"/>
                <a:tab pos="469900" algn="l"/>
              </a:tabLst>
            </a:pPr>
            <a:r>
              <a:rPr sz="1800" b="1" spc="-90" dirty="0">
                <a:solidFill>
                  <a:srgbClr val="124F5B"/>
                </a:solidFill>
                <a:latin typeface="Verdana"/>
                <a:cs typeface="Verdana"/>
              </a:rPr>
              <a:t>Type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486690" y="1175208"/>
            <a:ext cx="3159760" cy="1918335"/>
          </a:xfrm>
          <a:prstGeom prst="rect">
            <a:avLst/>
          </a:prstGeom>
        </p:spPr>
        <p:txBody>
          <a:bodyPr vert="horz" wrap="square" lIns="0" tIns="53340" rIns="0" bIns="0" rtlCol="0">
            <a:spAutoFit/>
          </a:bodyPr>
          <a:lstStyle/>
          <a:p>
            <a:pPr marL="848360">
              <a:lnSpc>
                <a:spcPct val="100000"/>
              </a:lnSpc>
              <a:spcBef>
                <a:spcPts val="420"/>
              </a:spcBef>
            </a:pPr>
            <a:r>
              <a:rPr sz="1800" b="1" spc="-120" dirty="0">
                <a:solidFill>
                  <a:srgbClr val="CC0000"/>
                </a:solidFill>
                <a:latin typeface="Verdana"/>
                <a:cs typeface="Verdana"/>
              </a:rPr>
              <a:t>User_reviews</a:t>
            </a:r>
            <a:endParaRPr sz="1800">
              <a:latin typeface="Verdana"/>
              <a:cs typeface="Verdana"/>
            </a:endParaRPr>
          </a:p>
          <a:p>
            <a:pPr marL="469900" indent="-457200">
              <a:lnSpc>
                <a:spcPct val="100000"/>
              </a:lnSpc>
              <a:spcBef>
                <a:spcPts val="325"/>
              </a:spcBef>
              <a:buFont typeface="DejaVu Sans"/>
              <a:buChar char="❑"/>
              <a:tabLst>
                <a:tab pos="469265" algn="l"/>
                <a:tab pos="469900" algn="l"/>
              </a:tabLst>
            </a:pPr>
            <a:r>
              <a:rPr sz="1800" b="1" spc="-20" dirty="0">
                <a:solidFill>
                  <a:srgbClr val="124F5B"/>
                </a:solidFill>
                <a:latin typeface="Verdana"/>
                <a:cs typeface="Verdana"/>
              </a:rPr>
              <a:t>App</a:t>
            </a:r>
            <a:endParaRPr sz="1800">
              <a:latin typeface="Verdana"/>
              <a:cs typeface="Verdana"/>
            </a:endParaRPr>
          </a:p>
          <a:p>
            <a:pPr marL="469900" indent="-457200">
              <a:lnSpc>
                <a:spcPct val="100000"/>
              </a:lnSpc>
              <a:spcBef>
                <a:spcPts val="325"/>
              </a:spcBef>
              <a:buFont typeface="DejaVu Sans"/>
              <a:buChar char="❑"/>
              <a:tabLst>
                <a:tab pos="469265" algn="l"/>
                <a:tab pos="469900" algn="l"/>
              </a:tabLst>
            </a:pPr>
            <a:r>
              <a:rPr sz="1800" b="1" spc="-85" dirty="0">
                <a:solidFill>
                  <a:srgbClr val="124F5B"/>
                </a:solidFill>
                <a:latin typeface="Verdana"/>
                <a:cs typeface="Verdana"/>
              </a:rPr>
              <a:t>Translated</a:t>
            </a:r>
            <a:r>
              <a:rPr sz="1800" b="1" spc="-120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b="1" spc="-85" dirty="0">
                <a:solidFill>
                  <a:srgbClr val="124F5B"/>
                </a:solidFill>
                <a:latin typeface="Verdana"/>
                <a:cs typeface="Verdana"/>
              </a:rPr>
              <a:t>Review</a:t>
            </a:r>
            <a:endParaRPr sz="1800">
              <a:latin typeface="Verdana"/>
              <a:cs typeface="Verdana"/>
            </a:endParaRPr>
          </a:p>
          <a:p>
            <a:pPr marL="469900" indent="-457200">
              <a:lnSpc>
                <a:spcPct val="100000"/>
              </a:lnSpc>
              <a:spcBef>
                <a:spcPts val="325"/>
              </a:spcBef>
              <a:buFont typeface="DejaVu Sans"/>
              <a:buChar char="❑"/>
              <a:tabLst>
                <a:tab pos="469265" algn="l"/>
                <a:tab pos="469900" algn="l"/>
              </a:tabLst>
            </a:pPr>
            <a:r>
              <a:rPr sz="1800" b="1" spc="-55" dirty="0">
                <a:solidFill>
                  <a:srgbClr val="124F5B"/>
                </a:solidFill>
                <a:latin typeface="Verdana"/>
                <a:cs typeface="Verdana"/>
              </a:rPr>
              <a:t>Sentiment</a:t>
            </a:r>
            <a:endParaRPr sz="1800">
              <a:latin typeface="Verdana"/>
              <a:cs typeface="Verdana"/>
            </a:endParaRPr>
          </a:p>
          <a:p>
            <a:pPr marL="469900" indent="-457200">
              <a:lnSpc>
                <a:spcPct val="100000"/>
              </a:lnSpc>
              <a:spcBef>
                <a:spcPts val="325"/>
              </a:spcBef>
              <a:buFont typeface="AoyagiKouzanFontT"/>
              <a:buChar char="❏"/>
              <a:tabLst>
                <a:tab pos="469265" algn="l"/>
                <a:tab pos="469900" algn="l"/>
              </a:tabLst>
            </a:pPr>
            <a:r>
              <a:rPr sz="1800" spc="5" dirty="0">
                <a:solidFill>
                  <a:srgbClr val="124F5B"/>
                </a:solidFill>
                <a:latin typeface="Verdana"/>
                <a:cs typeface="Verdana"/>
              </a:rPr>
              <a:t>Sentiment_Polarity</a:t>
            </a:r>
            <a:endParaRPr sz="1800">
              <a:latin typeface="Verdana"/>
              <a:cs typeface="Verdana"/>
            </a:endParaRPr>
          </a:p>
          <a:p>
            <a:pPr marL="469900" indent="-457200">
              <a:lnSpc>
                <a:spcPct val="100000"/>
              </a:lnSpc>
              <a:spcBef>
                <a:spcPts val="320"/>
              </a:spcBef>
              <a:buFont typeface="AoyagiKouzanFontT"/>
              <a:buChar char="❏"/>
              <a:tabLst>
                <a:tab pos="469265" algn="l"/>
                <a:tab pos="469900" algn="l"/>
              </a:tabLst>
            </a:pPr>
            <a:r>
              <a:rPr sz="1800" spc="-5" dirty="0">
                <a:solidFill>
                  <a:srgbClr val="124F5B"/>
                </a:solidFill>
                <a:latin typeface="Verdana"/>
                <a:cs typeface="Verdana"/>
              </a:rPr>
              <a:t>Sentiment_Subjectivity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515020" y="1490675"/>
            <a:ext cx="2311400" cy="2549525"/>
          </a:xfrm>
          <a:prstGeom prst="rect">
            <a:avLst/>
          </a:prstGeom>
        </p:spPr>
        <p:txBody>
          <a:bodyPr vert="horz" wrap="square" lIns="0" tIns="53340" rIns="0" bIns="0" rtlCol="0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420"/>
              </a:spcBef>
              <a:buFont typeface="DejaVu Sans"/>
              <a:buChar char="❑"/>
              <a:tabLst>
                <a:tab pos="469265" algn="l"/>
                <a:tab pos="469900" algn="l"/>
              </a:tabLst>
            </a:pPr>
            <a:r>
              <a:rPr sz="1800" b="1" spc="-60" dirty="0">
                <a:solidFill>
                  <a:srgbClr val="124F5B"/>
                </a:solidFill>
                <a:latin typeface="Verdana"/>
                <a:cs typeface="Verdana"/>
              </a:rPr>
              <a:t>Price</a:t>
            </a:r>
            <a:endParaRPr sz="1800">
              <a:latin typeface="Verdana"/>
              <a:cs typeface="Verdana"/>
            </a:endParaRPr>
          </a:p>
          <a:p>
            <a:pPr marL="469900" indent="-457200">
              <a:lnSpc>
                <a:spcPct val="100000"/>
              </a:lnSpc>
              <a:spcBef>
                <a:spcPts val="325"/>
              </a:spcBef>
              <a:buFont typeface="DejaVu Sans"/>
              <a:buChar char="❑"/>
              <a:tabLst>
                <a:tab pos="469265" algn="l"/>
                <a:tab pos="469900" algn="l"/>
              </a:tabLst>
            </a:pPr>
            <a:r>
              <a:rPr sz="1800" b="1" spc="-50" dirty="0">
                <a:solidFill>
                  <a:srgbClr val="124F5B"/>
                </a:solidFill>
                <a:latin typeface="Verdana"/>
                <a:cs typeface="Verdana"/>
              </a:rPr>
              <a:t>Content</a:t>
            </a:r>
            <a:r>
              <a:rPr sz="1800" b="1" spc="-170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b="1" spc="-55" dirty="0">
                <a:solidFill>
                  <a:srgbClr val="124F5B"/>
                </a:solidFill>
                <a:latin typeface="Verdana"/>
                <a:cs typeface="Verdana"/>
              </a:rPr>
              <a:t>Rating</a:t>
            </a:r>
            <a:endParaRPr sz="1800">
              <a:latin typeface="Verdana"/>
              <a:cs typeface="Verdana"/>
            </a:endParaRPr>
          </a:p>
          <a:p>
            <a:pPr marL="469900" indent="-457200">
              <a:lnSpc>
                <a:spcPct val="100000"/>
              </a:lnSpc>
              <a:spcBef>
                <a:spcPts val="325"/>
              </a:spcBef>
              <a:buFont typeface="AoyagiKouzanFontT"/>
              <a:buChar char="❏"/>
              <a:tabLst>
                <a:tab pos="469265" algn="l"/>
                <a:tab pos="469900" algn="l"/>
              </a:tabLst>
            </a:pPr>
            <a:r>
              <a:rPr sz="1800" spc="-5" dirty="0">
                <a:solidFill>
                  <a:srgbClr val="124F5B"/>
                </a:solidFill>
                <a:latin typeface="Verdana"/>
                <a:cs typeface="Verdana"/>
              </a:rPr>
              <a:t>Genres</a:t>
            </a:r>
            <a:endParaRPr sz="1800">
              <a:latin typeface="Verdana"/>
              <a:cs typeface="Verdana"/>
            </a:endParaRPr>
          </a:p>
          <a:p>
            <a:pPr marL="469900" indent="-457200">
              <a:lnSpc>
                <a:spcPct val="100000"/>
              </a:lnSpc>
              <a:spcBef>
                <a:spcPts val="325"/>
              </a:spcBef>
              <a:buFont typeface="AoyagiKouzanFontT"/>
              <a:buChar char="❏"/>
              <a:tabLst>
                <a:tab pos="469265" algn="l"/>
                <a:tab pos="469900" algn="l"/>
              </a:tabLst>
            </a:pPr>
            <a:r>
              <a:rPr sz="1800" dirty="0">
                <a:solidFill>
                  <a:srgbClr val="124F5B"/>
                </a:solidFill>
                <a:latin typeface="Verdana"/>
                <a:cs typeface="Verdana"/>
              </a:rPr>
              <a:t>Last</a:t>
            </a:r>
            <a:r>
              <a:rPr sz="1800" spc="-185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55" dirty="0">
                <a:solidFill>
                  <a:srgbClr val="124F5B"/>
                </a:solidFill>
                <a:latin typeface="Verdana"/>
                <a:cs typeface="Verdana"/>
              </a:rPr>
              <a:t>Updated</a:t>
            </a:r>
            <a:endParaRPr sz="1800">
              <a:latin typeface="Verdana"/>
              <a:cs typeface="Verdana"/>
            </a:endParaRPr>
          </a:p>
          <a:p>
            <a:pPr marL="469900" indent="-457200">
              <a:lnSpc>
                <a:spcPct val="100000"/>
              </a:lnSpc>
              <a:spcBef>
                <a:spcPts val="325"/>
              </a:spcBef>
              <a:buFont typeface="AoyagiKouzanFontT"/>
              <a:buChar char="❏"/>
              <a:tabLst>
                <a:tab pos="469265" algn="l"/>
                <a:tab pos="469900" algn="l"/>
              </a:tabLst>
            </a:pPr>
            <a:r>
              <a:rPr sz="1800" spc="5" dirty="0">
                <a:solidFill>
                  <a:srgbClr val="124F5B"/>
                </a:solidFill>
                <a:latin typeface="Verdana"/>
                <a:cs typeface="Verdana"/>
              </a:rPr>
              <a:t>Current</a:t>
            </a:r>
            <a:r>
              <a:rPr sz="1800" spc="-175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-40" dirty="0">
                <a:solidFill>
                  <a:srgbClr val="124F5B"/>
                </a:solidFill>
                <a:latin typeface="Verdana"/>
                <a:cs typeface="Verdana"/>
              </a:rPr>
              <a:t>Ver</a:t>
            </a:r>
            <a:endParaRPr sz="1800">
              <a:latin typeface="Verdana"/>
              <a:cs typeface="Verdana"/>
            </a:endParaRPr>
          </a:p>
          <a:p>
            <a:pPr marL="469900" indent="-457200">
              <a:lnSpc>
                <a:spcPct val="100000"/>
              </a:lnSpc>
              <a:spcBef>
                <a:spcPts val="320"/>
              </a:spcBef>
              <a:buFont typeface="AoyagiKouzanFontT"/>
              <a:buChar char="❏"/>
              <a:tabLst>
                <a:tab pos="469265" algn="l"/>
                <a:tab pos="469900" algn="l"/>
              </a:tabLst>
            </a:pPr>
            <a:r>
              <a:rPr sz="1800" spc="40" dirty="0">
                <a:solidFill>
                  <a:srgbClr val="124F5B"/>
                </a:solidFill>
                <a:latin typeface="Verdana"/>
                <a:cs typeface="Verdana"/>
              </a:rPr>
              <a:t>Android</a:t>
            </a:r>
            <a:r>
              <a:rPr sz="1800" spc="-175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-40" dirty="0">
                <a:solidFill>
                  <a:srgbClr val="124F5B"/>
                </a:solidFill>
                <a:latin typeface="Verdana"/>
                <a:cs typeface="Verdana"/>
              </a:rPr>
              <a:t>Ver</a:t>
            </a:r>
            <a:endParaRPr sz="1800">
              <a:latin typeface="Verdana"/>
              <a:cs typeface="Verdana"/>
            </a:endParaRPr>
          </a:p>
          <a:p>
            <a:pPr marL="469900" indent="-457200">
              <a:lnSpc>
                <a:spcPct val="100000"/>
              </a:lnSpc>
              <a:spcBef>
                <a:spcPts val="325"/>
              </a:spcBef>
              <a:buFont typeface="DejaVu Sans"/>
              <a:buChar char="❑"/>
              <a:tabLst>
                <a:tab pos="469265" algn="l"/>
                <a:tab pos="469900" algn="l"/>
              </a:tabLst>
            </a:pPr>
            <a:r>
              <a:rPr sz="1800" b="1" spc="-55" dirty="0">
                <a:solidFill>
                  <a:srgbClr val="CC0000"/>
                </a:solidFill>
                <a:latin typeface="Verdana"/>
                <a:cs typeface="Verdana"/>
              </a:rPr>
              <a:t>Rating</a:t>
            </a:r>
            <a:r>
              <a:rPr sz="1800" b="1" spc="-130" dirty="0">
                <a:solidFill>
                  <a:srgbClr val="CC0000"/>
                </a:solidFill>
                <a:latin typeface="Verdana"/>
                <a:cs typeface="Verdana"/>
              </a:rPr>
              <a:t> </a:t>
            </a:r>
            <a:r>
              <a:rPr sz="1800" b="1" spc="-70" dirty="0">
                <a:solidFill>
                  <a:srgbClr val="CC0000"/>
                </a:solidFill>
                <a:latin typeface="Verdana"/>
                <a:cs typeface="Verdana"/>
              </a:rPr>
              <a:t>Group</a:t>
            </a:r>
            <a:endParaRPr sz="1800">
              <a:latin typeface="Verdana"/>
              <a:cs typeface="Verdana"/>
            </a:endParaRPr>
          </a:p>
          <a:p>
            <a:pPr marL="469900" indent="-457200">
              <a:lnSpc>
                <a:spcPct val="100000"/>
              </a:lnSpc>
              <a:spcBef>
                <a:spcPts val="325"/>
              </a:spcBef>
              <a:buFont typeface="DejaVu Sans"/>
              <a:buChar char="❑"/>
              <a:tabLst>
                <a:tab pos="469265" algn="l"/>
                <a:tab pos="469900" algn="l"/>
              </a:tabLst>
            </a:pPr>
            <a:r>
              <a:rPr sz="1800" b="1" spc="-75" dirty="0">
                <a:solidFill>
                  <a:srgbClr val="CC0000"/>
                </a:solidFill>
                <a:latin typeface="Verdana"/>
                <a:cs typeface="Verdana"/>
              </a:rPr>
              <a:t>Revenue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174589" y="3305573"/>
            <a:ext cx="1450547" cy="183791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7794483" y="3277998"/>
            <a:ext cx="1349497" cy="186549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4" y="503825"/>
            <a:ext cx="148272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45" dirty="0"/>
              <a:t>A</a:t>
            </a:r>
            <a:r>
              <a:rPr sz="2800" spc="-50" dirty="0"/>
              <a:t>ge</a:t>
            </a:r>
            <a:r>
              <a:rPr sz="2800" spc="-45" dirty="0"/>
              <a:t>n</a:t>
            </a:r>
            <a:r>
              <a:rPr sz="2800" spc="-85" dirty="0"/>
              <a:t>da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384724" y="1175208"/>
            <a:ext cx="5559425" cy="3495675"/>
          </a:xfrm>
          <a:prstGeom prst="rect">
            <a:avLst/>
          </a:prstGeom>
        </p:spPr>
        <p:txBody>
          <a:bodyPr vert="horz" wrap="square" lIns="0" tIns="53340" rIns="0" bIns="0" rtlCol="0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420"/>
              </a:spcBef>
              <a:buFont typeface="AoyagiKouzanFontT"/>
              <a:buChar char="❏"/>
              <a:tabLst>
                <a:tab pos="469265" algn="l"/>
                <a:tab pos="469900" algn="l"/>
              </a:tabLst>
            </a:pPr>
            <a:r>
              <a:rPr sz="1800" dirty="0">
                <a:solidFill>
                  <a:srgbClr val="124F5B"/>
                </a:solidFill>
                <a:latin typeface="Verdana"/>
                <a:cs typeface="Verdana"/>
              </a:rPr>
              <a:t>Correlation</a:t>
            </a:r>
            <a:r>
              <a:rPr sz="1800" spc="-170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40" dirty="0">
                <a:solidFill>
                  <a:srgbClr val="124F5B"/>
                </a:solidFill>
                <a:latin typeface="Verdana"/>
                <a:cs typeface="Verdana"/>
              </a:rPr>
              <a:t>heatmap</a:t>
            </a:r>
            <a:endParaRPr sz="1800">
              <a:latin typeface="Verdana"/>
              <a:cs typeface="Verdana"/>
            </a:endParaRPr>
          </a:p>
          <a:p>
            <a:pPr marL="469900" indent="-457200">
              <a:lnSpc>
                <a:spcPct val="100000"/>
              </a:lnSpc>
              <a:spcBef>
                <a:spcPts val="325"/>
              </a:spcBef>
              <a:buFont typeface="AoyagiKouzanFontT"/>
              <a:buChar char="❏"/>
              <a:tabLst>
                <a:tab pos="469265" algn="l"/>
                <a:tab pos="469900" algn="l"/>
              </a:tabLst>
            </a:pPr>
            <a:r>
              <a:rPr sz="1800" spc="-30" dirty="0">
                <a:solidFill>
                  <a:srgbClr val="124F5B"/>
                </a:solidFill>
                <a:latin typeface="Verdana"/>
                <a:cs typeface="Verdana"/>
              </a:rPr>
              <a:t>Type</a:t>
            </a:r>
            <a:r>
              <a:rPr sz="1800" spc="-170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50" dirty="0">
                <a:solidFill>
                  <a:srgbClr val="124F5B"/>
                </a:solidFill>
                <a:latin typeface="Verdana"/>
                <a:cs typeface="Verdana"/>
              </a:rPr>
              <a:t>and</a:t>
            </a:r>
            <a:r>
              <a:rPr sz="1800" spc="-170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30" dirty="0">
                <a:solidFill>
                  <a:srgbClr val="124F5B"/>
                </a:solidFill>
                <a:latin typeface="Verdana"/>
                <a:cs typeface="Verdana"/>
              </a:rPr>
              <a:t>Content</a:t>
            </a:r>
            <a:r>
              <a:rPr sz="1800" spc="-165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35" dirty="0">
                <a:solidFill>
                  <a:srgbClr val="124F5B"/>
                </a:solidFill>
                <a:latin typeface="Verdana"/>
                <a:cs typeface="Verdana"/>
              </a:rPr>
              <a:t>Rating</a:t>
            </a:r>
            <a:r>
              <a:rPr sz="1800" spc="-170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-15" dirty="0">
                <a:solidFill>
                  <a:srgbClr val="124F5B"/>
                </a:solidFill>
                <a:latin typeface="Verdana"/>
                <a:cs typeface="Verdana"/>
              </a:rPr>
              <a:t>Analysis</a:t>
            </a:r>
            <a:endParaRPr sz="1800">
              <a:latin typeface="Verdana"/>
              <a:cs typeface="Verdana"/>
            </a:endParaRPr>
          </a:p>
          <a:p>
            <a:pPr marL="469900" indent="-457200">
              <a:lnSpc>
                <a:spcPct val="100000"/>
              </a:lnSpc>
              <a:spcBef>
                <a:spcPts val="325"/>
              </a:spcBef>
              <a:buFont typeface="AoyagiKouzanFontT"/>
              <a:buChar char="❏"/>
              <a:tabLst>
                <a:tab pos="469265" algn="l"/>
                <a:tab pos="469900" algn="l"/>
              </a:tabLst>
            </a:pPr>
            <a:r>
              <a:rPr sz="1800" spc="10" dirty="0">
                <a:solidFill>
                  <a:srgbClr val="124F5B"/>
                </a:solidFill>
                <a:latin typeface="Verdana"/>
                <a:cs typeface="Verdana"/>
              </a:rPr>
              <a:t>Categorical</a:t>
            </a:r>
            <a:r>
              <a:rPr sz="1800" spc="-240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-15" dirty="0">
                <a:solidFill>
                  <a:srgbClr val="124F5B"/>
                </a:solidFill>
                <a:latin typeface="Verdana"/>
                <a:cs typeface="Verdana"/>
              </a:rPr>
              <a:t>Analysis</a:t>
            </a:r>
            <a:endParaRPr sz="1800">
              <a:latin typeface="Verdana"/>
              <a:cs typeface="Verdana"/>
            </a:endParaRPr>
          </a:p>
          <a:p>
            <a:pPr marL="469900" indent="-457200">
              <a:lnSpc>
                <a:spcPct val="100000"/>
              </a:lnSpc>
              <a:spcBef>
                <a:spcPts val="325"/>
              </a:spcBef>
              <a:buFont typeface="AoyagiKouzanFontT"/>
              <a:buChar char="❏"/>
              <a:tabLst>
                <a:tab pos="469265" algn="l"/>
                <a:tab pos="469900" algn="l"/>
              </a:tabLst>
            </a:pPr>
            <a:r>
              <a:rPr sz="1800" spc="85" dirty="0">
                <a:solidFill>
                  <a:srgbClr val="124F5B"/>
                </a:solidFill>
                <a:latin typeface="Verdana"/>
                <a:cs typeface="Verdana"/>
              </a:rPr>
              <a:t>App </a:t>
            </a:r>
            <a:r>
              <a:rPr sz="1800" spc="35" dirty="0">
                <a:solidFill>
                  <a:srgbClr val="124F5B"/>
                </a:solidFill>
                <a:latin typeface="Verdana"/>
                <a:cs typeface="Verdana"/>
              </a:rPr>
              <a:t>Rating</a:t>
            </a:r>
            <a:r>
              <a:rPr sz="1800" spc="-495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-15" dirty="0">
                <a:solidFill>
                  <a:srgbClr val="124F5B"/>
                </a:solidFill>
                <a:latin typeface="Verdana"/>
                <a:cs typeface="Verdana"/>
              </a:rPr>
              <a:t>Analysis</a:t>
            </a:r>
            <a:endParaRPr sz="1800">
              <a:latin typeface="Verdana"/>
              <a:cs typeface="Verdana"/>
            </a:endParaRPr>
          </a:p>
          <a:p>
            <a:pPr marL="469900" indent="-457200">
              <a:lnSpc>
                <a:spcPct val="100000"/>
              </a:lnSpc>
              <a:spcBef>
                <a:spcPts val="325"/>
              </a:spcBef>
              <a:buFont typeface="AoyagiKouzanFontT"/>
              <a:buChar char="❏"/>
              <a:tabLst>
                <a:tab pos="469265" algn="l"/>
                <a:tab pos="469900" algn="l"/>
              </a:tabLst>
            </a:pPr>
            <a:r>
              <a:rPr sz="1800" spc="-15" dirty="0">
                <a:solidFill>
                  <a:srgbClr val="124F5B"/>
                </a:solidFill>
                <a:latin typeface="Verdana"/>
                <a:cs typeface="Verdana"/>
              </a:rPr>
              <a:t>Top</a:t>
            </a:r>
            <a:r>
              <a:rPr sz="1800" spc="-170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10" dirty="0">
                <a:solidFill>
                  <a:srgbClr val="124F5B"/>
                </a:solidFill>
                <a:latin typeface="Verdana"/>
                <a:cs typeface="Verdana"/>
              </a:rPr>
              <a:t>Free</a:t>
            </a:r>
            <a:r>
              <a:rPr sz="1800" spc="-165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50" dirty="0">
                <a:solidFill>
                  <a:srgbClr val="124F5B"/>
                </a:solidFill>
                <a:latin typeface="Verdana"/>
                <a:cs typeface="Verdana"/>
              </a:rPr>
              <a:t>and</a:t>
            </a:r>
            <a:r>
              <a:rPr sz="1800" spc="-170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60" dirty="0">
                <a:solidFill>
                  <a:srgbClr val="124F5B"/>
                </a:solidFill>
                <a:latin typeface="Verdana"/>
                <a:cs typeface="Verdana"/>
              </a:rPr>
              <a:t>Paid</a:t>
            </a:r>
            <a:r>
              <a:rPr sz="1800" spc="-165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50" dirty="0">
                <a:solidFill>
                  <a:srgbClr val="124F5B"/>
                </a:solidFill>
                <a:latin typeface="Verdana"/>
                <a:cs typeface="Verdana"/>
              </a:rPr>
              <a:t>Apps</a:t>
            </a:r>
            <a:endParaRPr sz="1800">
              <a:latin typeface="Verdana"/>
              <a:cs typeface="Verdana"/>
            </a:endParaRPr>
          </a:p>
          <a:p>
            <a:pPr marL="469900" indent="-457200">
              <a:lnSpc>
                <a:spcPct val="100000"/>
              </a:lnSpc>
              <a:spcBef>
                <a:spcPts val="320"/>
              </a:spcBef>
              <a:buFont typeface="AoyagiKouzanFontT"/>
              <a:buChar char="❏"/>
              <a:tabLst>
                <a:tab pos="469265" algn="l"/>
                <a:tab pos="469900" algn="l"/>
              </a:tabLst>
            </a:pPr>
            <a:r>
              <a:rPr sz="1800" spc="-10" dirty="0">
                <a:solidFill>
                  <a:srgbClr val="124F5B"/>
                </a:solidFill>
                <a:latin typeface="Verdana"/>
                <a:cs typeface="Verdana"/>
              </a:rPr>
              <a:t>Average</a:t>
            </a:r>
            <a:r>
              <a:rPr sz="1800" spc="-170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30" dirty="0">
                <a:solidFill>
                  <a:srgbClr val="124F5B"/>
                </a:solidFill>
                <a:latin typeface="Verdana"/>
                <a:cs typeface="Verdana"/>
              </a:rPr>
              <a:t>Price</a:t>
            </a:r>
            <a:r>
              <a:rPr sz="1800" spc="-170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5" dirty="0">
                <a:solidFill>
                  <a:srgbClr val="124F5B"/>
                </a:solidFill>
                <a:latin typeface="Verdana"/>
                <a:cs typeface="Verdana"/>
              </a:rPr>
              <a:t>of</a:t>
            </a:r>
            <a:r>
              <a:rPr sz="1800" spc="-170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60" dirty="0">
                <a:solidFill>
                  <a:srgbClr val="124F5B"/>
                </a:solidFill>
                <a:latin typeface="Verdana"/>
                <a:cs typeface="Verdana"/>
              </a:rPr>
              <a:t>Paid</a:t>
            </a:r>
            <a:r>
              <a:rPr sz="1800" spc="-170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50" dirty="0">
                <a:solidFill>
                  <a:srgbClr val="124F5B"/>
                </a:solidFill>
                <a:latin typeface="Verdana"/>
                <a:cs typeface="Verdana"/>
              </a:rPr>
              <a:t>Apps</a:t>
            </a:r>
            <a:r>
              <a:rPr sz="1800" spc="-165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30" dirty="0">
                <a:solidFill>
                  <a:srgbClr val="124F5B"/>
                </a:solidFill>
                <a:latin typeface="Verdana"/>
                <a:cs typeface="Verdana"/>
              </a:rPr>
              <a:t>in</a:t>
            </a:r>
            <a:r>
              <a:rPr sz="1800" spc="-170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40" dirty="0">
                <a:solidFill>
                  <a:srgbClr val="124F5B"/>
                </a:solidFill>
                <a:latin typeface="Verdana"/>
                <a:cs typeface="Verdana"/>
              </a:rPr>
              <a:t>Each</a:t>
            </a:r>
            <a:r>
              <a:rPr sz="1800" spc="-170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5" dirty="0">
                <a:solidFill>
                  <a:srgbClr val="124F5B"/>
                </a:solidFill>
                <a:latin typeface="Verdana"/>
                <a:cs typeface="Verdana"/>
              </a:rPr>
              <a:t>Category</a:t>
            </a:r>
            <a:endParaRPr sz="1800">
              <a:latin typeface="Verdana"/>
              <a:cs typeface="Verdana"/>
            </a:endParaRPr>
          </a:p>
          <a:p>
            <a:pPr marL="469900" indent="-457200">
              <a:lnSpc>
                <a:spcPct val="100000"/>
              </a:lnSpc>
              <a:spcBef>
                <a:spcPts val="325"/>
              </a:spcBef>
              <a:buFont typeface="AoyagiKouzanFontT"/>
              <a:buChar char="❏"/>
              <a:tabLst>
                <a:tab pos="469265" algn="l"/>
                <a:tab pos="469900" algn="l"/>
              </a:tabLst>
            </a:pPr>
            <a:r>
              <a:rPr sz="1800" spc="50" dirty="0">
                <a:solidFill>
                  <a:srgbClr val="124F5B"/>
                </a:solidFill>
                <a:latin typeface="Verdana"/>
                <a:cs typeface="Verdana"/>
              </a:rPr>
              <a:t>Most </a:t>
            </a:r>
            <a:r>
              <a:rPr sz="1800" spc="40" dirty="0">
                <a:solidFill>
                  <a:srgbClr val="124F5B"/>
                </a:solidFill>
                <a:latin typeface="Verdana"/>
                <a:cs typeface="Verdana"/>
              </a:rPr>
              <a:t>Popular</a:t>
            </a:r>
            <a:r>
              <a:rPr sz="1800" spc="-385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50" dirty="0">
                <a:solidFill>
                  <a:srgbClr val="124F5B"/>
                </a:solidFill>
                <a:latin typeface="Verdana"/>
                <a:cs typeface="Verdana"/>
              </a:rPr>
              <a:t>Apps</a:t>
            </a:r>
            <a:endParaRPr sz="1800">
              <a:latin typeface="Verdana"/>
              <a:cs typeface="Verdana"/>
            </a:endParaRPr>
          </a:p>
          <a:p>
            <a:pPr marL="469900" indent="-457200">
              <a:lnSpc>
                <a:spcPct val="100000"/>
              </a:lnSpc>
              <a:spcBef>
                <a:spcPts val="325"/>
              </a:spcBef>
              <a:buFont typeface="AoyagiKouzanFontT"/>
              <a:buChar char="❏"/>
              <a:tabLst>
                <a:tab pos="469265" algn="l"/>
                <a:tab pos="469900" algn="l"/>
              </a:tabLst>
            </a:pPr>
            <a:r>
              <a:rPr sz="1800" spc="85" dirty="0">
                <a:solidFill>
                  <a:srgbClr val="124F5B"/>
                </a:solidFill>
                <a:latin typeface="Verdana"/>
                <a:cs typeface="Verdana"/>
              </a:rPr>
              <a:t>App </a:t>
            </a:r>
            <a:r>
              <a:rPr sz="1800" spc="-45" dirty="0">
                <a:solidFill>
                  <a:srgbClr val="124F5B"/>
                </a:solidFill>
                <a:latin typeface="Verdana"/>
                <a:cs typeface="Verdana"/>
              </a:rPr>
              <a:t>Size</a:t>
            </a:r>
            <a:r>
              <a:rPr sz="1800" spc="-420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-15" dirty="0">
                <a:solidFill>
                  <a:srgbClr val="124F5B"/>
                </a:solidFill>
                <a:latin typeface="Verdana"/>
                <a:cs typeface="Verdana"/>
              </a:rPr>
              <a:t>Analysis</a:t>
            </a:r>
            <a:endParaRPr sz="1800">
              <a:latin typeface="Verdana"/>
              <a:cs typeface="Verdana"/>
            </a:endParaRPr>
          </a:p>
          <a:p>
            <a:pPr marL="469900" indent="-457200">
              <a:lnSpc>
                <a:spcPct val="100000"/>
              </a:lnSpc>
              <a:spcBef>
                <a:spcPts val="325"/>
              </a:spcBef>
              <a:buFont typeface="AoyagiKouzanFontT"/>
              <a:buChar char="❏"/>
              <a:tabLst>
                <a:tab pos="469265" algn="l"/>
                <a:tab pos="469900" algn="l"/>
              </a:tabLst>
            </a:pPr>
            <a:r>
              <a:rPr sz="1800" spc="85" dirty="0">
                <a:solidFill>
                  <a:srgbClr val="124F5B"/>
                </a:solidFill>
                <a:latin typeface="Verdana"/>
                <a:cs typeface="Verdana"/>
              </a:rPr>
              <a:t>App </a:t>
            </a:r>
            <a:r>
              <a:rPr sz="1800" spc="-5" dirty="0">
                <a:solidFill>
                  <a:srgbClr val="124F5B"/>
                </a:solidFill>
                <a:latin typeface="Verdana"/>
                <a:cs typeface="Verdana"/>
              </a:rPr>
              <a:t>Reviews</a:t>
            </a:r>
            <a:r>
              <a:rPr sz="1800" spc="-420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-15" dirty="0">
                <a:solidFill>
                  <a:srgbClr val="124F5B"/>
                </a:solidFill>
                <a:latin typeface="Verdana"/>
                <a:cs typeface="Verdana"/>
              </a:rPr>
              <a:t>Analysis</a:t>
            </a:r>
            <a:endParaRPr sz="1800">
              <a:latin typeface="Verdana"/>
              <a:cs typeface="Verdana"/>
            </a:endParaRPr>
          </a:p>
          <a:p>
            <a:pPr marL="469900" indent="-457200">
              <a:lnSpc>
                <a:spcPct val="100000"/>
              </a:lnSpc>
              <a:spcBef>
                <a:spcPts val="325"/>
              </a:spcBef>
              <a:buFont typeface="AoyagiKouzanFontT"/>
              <a:buChar char="❏"/>
              <a:tabLst>
                <a:tab pos="469265" algn="l"/>
                <a:tab pos="469900" algn="l"/>
              </a:tabLst>
            </a:pPr>
            <a:r>
              <a:rPr sz="1800" spc="20" dirty="0">
                <a:solidFill>
                  <a:srgbClr val="124F5B"/>
                </a:solidFill>
                <a:latin typeface="Verdana"/>
                <a:cs typeface="Verdana"/>
              </a:rPr>
              <a:t>Challenges</a:t>
            </a:r>
            <a:r>
              <a:rPr sz="1800" spc="-170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40" dirty="0">
                <a:solidFill>
                  <a:srgbClr val="124F5B"/>
                </a:solidFill>
                <a:latin typeface="Verdana"/>
                <a:cs typeface="Verdana"/>
              </a:rPr>
              <a:t>Faced</a:t>
            </a:r>
            <a:endParaRPr sz="1800">
              <a:latin typeface="Verdana"/>
              <a:cs typeface="Verdana"/>
            </a:endParaRPr>
          </a:p>
          <a:p>
            <a:pPr marL="469900" indent="-457200">
              <a:lnSpc>
                <a:spcPct val="100000"/>
              </a:lnSpc>
              <a:spcBef>
                <a:spcPts val="320"/>
              </a:spcBef>
              <a:buFont typeface="AoyagiKouzanFontT"/>
              <a:buChar char="❏"/>
              <a:tabLst>
                <a:tab pos="469265" algn="l"/>
                <a:tab pos="469900" algn="l"/>
              </a:tabLst>
            </a:pPr>
            <a:r>
              <a:rPr sz="1800" spc="-15" dirty="0">
                <a:solidFill>
                  <a:srgbClr val="124F5B"/>
                </a:solidFill>
                <a:latin typeface="Verdana"/>
                <a:cs typeface="Verdana"/>
              </a:rPr>
              <a:t>Analysis</a:t>
            </a:r>
            <a:r>
              <a:rPr sz="1800" spc="-170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15" dirty="0">
                <a:solidFill>
                  <a:srgbClr val="124F5B"/>
                </a:solidFill>
                <a:latin typeface="Verdana"/>
                <a:cs typeface="Verdana"/>
              </a:rPr>
              <a:t>Summary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693636" y="1093635"/>
            <a:ext cx="2138645" cy="295620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4" y="503825"/>
            <a:ext cx="392493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110" dirty="0"/>
              <a:t>Correlation</a:t>
            </a:r>
            <a:r>
              <a:rPr sz="2800" spc="-225" dirty="0"/>
              <a:t> </a:t>
            </a:r>
            <a:r>
              <a:rPr sz="2800" spc="-90" dirty="0"/>
              <a:t>Heatmap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384724" y="1175208"/>
            <a:ext cx="3877310" cy="9721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265" marR="5080" indent="-457200" algn="just">
              <a:lnSpc>
                <a:spcPct val="114999"/>
              </a:lnSpc>
              <a:spcBef>
                <a:spcPts val="100"/>
              </a:spcBef>
            </a:pPr>
            <a:r>
              <a:rPr sz="1800" dirty="0">
                <a:solidFill>
                  <a:srgbClr val="124F5B"/>
                </a:solidFill>
                <a:latin typeface="AoyagiKouzanFontT"/>
                <a:cs typeface="AoyagiKouzanFontT"/>
              </a:rPr>
              <a:t>❏ </a:t>
            </a:r>
            <a:r>
              <a:rPr sz="1800" spc="-10" dirty="0">
                <a:solidFill>
                  <a:srgbClr val="124F5B"/>
                </a:solidFill>
                <a:latin typeface="Verdana"/>
                <a:cs typeface="Verdana"/>
              </a:rPr>
              <a:t>There </a:t>
            </a:r>
            <a:r>
              <a:rPr sz="1800" spc="-35" dirty="0">
                <a:solidFill>
                  <a:srgbClr val="124F5B"/>
                </a:solidFill>
                <a:latin typeface="Verdana"/>
                <a:cs typeface="Verdana"/>
              </a:rPr>
              <a:t>is </a:t>
            </a:r>
            <a:r>
              <a:rPr sz="1800" spc="-20" dirty="0">
                <a:solidFill>
                  <a:srgbClr val="124F5B"/>
                </a:solidFill>
                <a:latin typeface="Verdana"/>
                <a:cs typeface="Verdana"/>
              </a:rPr>
              <a:t>a </a:t>
            </a:r>
            <a:r>
              <a:rPr sz="1800" spc="20" dirty="0">
                <a:solidFill>
                  <a:srgbClr val="124F5B"/>
                </a:solidFill>
                <a:latin typeface="Verdana"/>
                <a:cs typeface="Verdana"/>
              </a:rPr>
              <a:t>strong </a:t>
            </a:r>
            <a:r>
              <a:rPr sz="1800" b="1" spc="-70" dirty="0">
                <a:solidFill>
                  <a:srgbClr val="124F5B"/>
                </a:solidFill>
                <a:latin typeface="Verdana"/>
                <a:cs typeface="Verdana"/>
              </a:rPr>
              <a:t>positive  </a:t>
            </a:r>
            <a:r>
              <a:rPr sz="1800" spc="5" dirty="0">
                <a:solidFill>
                  <a:srgbClr val="124F5B"/>
                </a:solidFill>
                <a:latin typeface="Verdana"/>
                <a:cs typeface="Verdana"/>
              </a:rPr>
              <a:t>correlation </a:t>
            </a:r>
            <a:r>
              <a:rPr sz="1800" spc="40" dirty="0">
                <a:solidFill>
                  <a:srgbClr val="124F5B"/>
                </a:solidFill>
                <a:latin typeface="Verdana"/>
                <a:cs typeface="Verdana"/>
              </a:rPr>
              <a:t>between </a:t>
            </a:r>
            <a:r>
              <a:rPr sz="1800" spc="35" dirty="0">
                <a:solidFill>
                  <a:srgbClr val="124F5B"/>
                </a:solidFill>
                <a:latin typeface="Verdana"/>
                <a:cs typeface="Verdana"/>
              </a:rPr>
              <a:t>the  </a:t>
            </a:r>
            <a:r>
              <a:rPr sz="1800" b="1" spc="-90" dirty="0">
                <a:solidFill>
                  <a:srgbClr val="124F5B"/>
                </a:solidFill>
                <a:latin typeface="Verdana"/>
                <a:cs typeface="Verdana"/>
              </a:rPr>
              <a:t>Reviews </a:t>
            </a:r>
            <a:r>
              <a:rPr sz="1800" spc="50" dirty="0">
                <a:solidFill>
                  <a:srgbClr val="124F5B"/>
                </a:solidFill>
                <a:latin typeface="Verdana"/>
                <a:cs typeface="Verdana"/>
              </a:rPr>
              <a:t>and</a:t>
            </a:r>
            <a:r>
              <a:rPr sz="1800" spc="-195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b="1" spc="-135" dirty="0">
                <a:solidFill>
                  <a:srgbClr val="124F5B"/>
                </a:solidFill>
                <a:latin typeface="Verdana"/>
                <a:cs typeface="Verdana"/>
              </a:rPr>
              <a:t>Installs</a:t>
            </a:r>
            <a:r>
              <a:rPr sz="1800" spc="-135" dirty="0">
                <a:solidFill>
                  <a:srgbClr val="124F5B"/>
                </a:solidFill>
                <a:latin typeface="Verdana"/>
                <a:cs typeface="Verdana"/>
              </a:rPr>
              <a:t>.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84724" y="2121610"/>
            <a:ext cx="3880485" cy="972185"/>
          </a:xfrm>
          <a:prstGeom prst="rect">
            <a:avLst/>
          </a:prstGeom>
        </p:spPr>
        <p:txBody>
          <a:bodyPr vert="horz" wrap="square" lIns="0" tIns="53340" rIns="0" bIns="0" rtlCol="0">
            <a:spAutoFit/>
          </a:bodyPr>
          <a:lstStyle/>
          <a:p>
            <a:pPr marR="8255" algn="r">
              <a:lnSpc>
                <a:spcPct val="100000"/>
              </a:lnSpc>
              <a:spcBef>
                <a:spcPts val="420"/>
              </a:spcBef>
              <a:tabLst>
                <a:tab pos="456565" algn="l"/>
                <a:tab pos="1346835" algn="l"/>
                <a:tab pos="2387600" algn="l"/>
                <a:tab pos="3026410" algn="l"/>
              </a:tabLst>
            </a:pPr>
            <a:r>
              <a:rPr sz="1800" dirty="0">
                <a:solidFill>
                  <a:srgbClr val="124F5B"/>
                </a:solidFill>
                <a:latin typeface="AoyagiKouzanFontT"/>
                <a:cs typeface="AoyagiKouzanFontT"/>
              </a:rPr>
              <a:t>❏	</a:t>
            </a:r>
            <a:r>
              <a:rPr sz="1800" dirty="0">
                <a:solidFill>
                  <a:srgbClr val="124F5B"/>
                </a:solidFill>
                <a:latin typeface="Verdana"/>
                <a:cs typeface="Verdana"/>
              </a:rPr>
              <a:t>Th</a:t>
            </a:r>
            <a:r>
              <a:rPr sz="1800" spc="10" dirty="0">
                <a:solidFill>
                  <a:srgbClr val="124F5B"/>
                </a:solidFill>
                <a:latin typeface="Verdana"/>
                <a:cs typeface="Verdana"/>
              </a:rPr>
              <a:t>e	</a:t>
            </a:r>
            <a:r>
              <a:rPr sz="1800" spc="160" dirty="0">
                <a:solidFill>
                  <a:srgbClr val="124F5B"/>
                </a:solidFill>
                <a:latin typeface="Verdana"/>
                <a:cs typeface="Verdana"/>
              </a:rPr>
              <a:t>P</a:t>
            </a:r>
            <a:r>
              <a:rPr sz="1800" spc="-65" dirty="0">
                <a:solidFill>
                  <a:srgbClr val="124F5B"/>
                </a:solidFill>
                <a:latin typeface="Verdana"/>
                <a:cs typeface="Verdana"/>
              </a:rPr>
              <a:t>r</a:t>
            </a:r>
            <a:r>
              <a:rPr sz="1800" spc="20" dirty="0">
                <a:solidFill>
                  <a:srgbClr val="124F5B"/>
                </a:solidFill>
                <a:latin typeface="Verdana"/>
                <a:cs typeface="Verdana"/>
              </a:rPr>
              <a:t>ic</a:t>
            </a:r>
            <a:r>
              <a:rPr sz="1800" spc="10" dirty="0">
                <a:solidFill>
                  <a:srgbClr val="124F5B"/>
                </a:solidFill>
                <a:latin typeface="Verdana"/>
                <a:cs typeface="Verdana"/>
              </a:rPr>
              <a:t>e</a:t>
            </a:r>
            <a:r>
              <a:rPr sz="1800" dirty="0">
                <a:solidFill>
                  <a:srgbClr val="124F5B"/>
                </a:solidFill>
                <a:latin typeface="Verdana"/>
                <a:cs typeface="Verdana"/>
              </a:rPr>
              <a:t>	</a:t>
            </a:r>
            <a:r>
              <a:rPr sz="1800" spc="-35" dirty="0">
                <a:solidFill>
                  <a:srgbClr val="124F5B"/>
                </a:solidFill>
                <a:latin typeface="Verdana"/>
                <a:cs typeface="Verdana"/>
              </a:rPr>
              <a:t>is</a:t>
            </a:r>
            <a:r>
              <a:rPr sz="1800" dirty="0">
                <a:solidFill>
                  <a:srgbClr val="124F5B"/>
                </a:solidFill>
                <a:latin typeface="Verdana"/>
                <a:cs typeface="Verdana"/>
              </a:rPr>
              <a:t>	slightly</a:t>
            </a:r>
            <a:endParaRPr sz="1800">
              <a:latin typeface="Verdana"/>
              <a:cs typeface="Verdana"/>
            </a:endParaRPr>
          </a:p>
          <a:p>
            <a:pPr marR="12065" algn="r">
              <a:lnSpc>
                <a:spcPct val="100000"/>
              </a:lnSpc>
              <a:spcBef>
                <a:spcPts val="325"/>
              </a:spcBef>
              <a:tabLst>
                <a:tab pos="1487805" algn="l"/>
                <a:tab pos="2879725" algn="l"/>
              </a:tabLst>
            </a:pPr>
            <a:r>
              <a:rPr sz="1800" b="1" spc="-35" dirty="0">
                <a:solidFill>
                  <a:srgbClr val="124F5B"/>
                </a:solidFill>
                <a:latin typeface="Verdana"/>
                <a:cs typeface="Verdana"/>
              </a:rPr>
              <a:t>n</a:t>
            </a:r>
            <a:r>
              <a:rPr sz="1800" b="1" spc="-60" dirty="0">
                <a:solidFill>
                  <a:srgbClr val="124F5B"/>
                </a:solidFill>
                <a:latin typeface="Verdana"/>
                <a:cs typeface="Verdana"/>
              </a:rPr>
              <a:t>egati</a:t>
            </a:r>
            <a:r>
              <a:rPr sz="1800" b="1" spc="-100" dirty="0">
                <a:solidFill>
                  <a:srgbClr val="124F5B"/>
                </a:solidFill>
                <a:latin typeface="Verdana"/>
                <a:cs typeface="Verdana"/>
              </a:rPr>
              <a:t>v</a:t>
            </a:r>
            <a:r>
              <a:rPr sz="1800" b="1" spc="-80" dirty="0">
                <a:solidFill>
                  <a:srgbClr val="124F5B"/>
                </a:solidFill>
                <a:latin typeface="Verdana"/>
                <a:cs typeface="Verdana"/>
              </a:rPr>
              <a:t>ely</a:t>
            </a:r>
            <a:r>
              <a:rPr sz="1800" b="1" dirty="0">
                <a:solidFill>
                  <a:srgbClr val="124F5B"/>
                </a:solidFill>
                <a:latin typeface="Verdana"/>
                <a:cs typeface="Verdana"/>
              </a:rPr>
              <a:t>	</a:t>
            </a:r>
            <a:r>
              <a:rPr sz="1800" spc="55" dirty="0">
                <a:solidFill>
                  <a:srgbClr val="124F5B"/>
                </a:solidFill>
                <a:latin typeface="Verdana"/>
                <a:cs typeface="Verdana"/>
              </a:rPr>
              <a:t>c</a:t>
            </a:r>
            <a:r>
              <a:rPr sz="1800" spc="-10" dirty="0">
                <a:solidFill>
                  <a:srgbClr val="124F5B"/>
                </a:solidFill>
                <a:latin typeface="Verdana"/>
                <a:cs typeface="Verdana"/>
              </a:rPr>
              <a:t>o</a:t>
            </a:r>
            <a:r>
              <a:rPr sz="1800" spc="-20" dirty="0">
                <a:solidFill>
                  <a:srgbClr val="124F5B"/>
                </a:solidFill>
                <a:latin typeface="Verdana"/>
                <a:cs typeface="Verdana"/>
              </a:rPr>
              <a:t>r</a:t>
            </a:r>
            <a:r>
              <a:rPr sz="1800" spc="-75" dirty="0">
                <a:solidFill>
                  <a:srgbClr val="124F5B"/>
                </a:solidFill>
                <a:latin typeface="Verdana"/>
                <a:cs typeface="Verdana"/>
              </a:rPr>
              <a:t>r</a:t>
            </a:r>
            <a:r>
              <a:rPr sz="1800" dirty="0">
                <a:solidFill>
                  <a:srgbClr val="124F5B"/>
                </a:solidFill>
                <a:latin typeface="Verdana"/>
                <a:cs typeface="Verdana"/>
              </a:rPr>
              <a:t>ela</a:t>
            </a:r>
            <a:r>
              <a:rPr sz="1800" spc="-35" dirty="0">
                <a:solidFill>
                  <a:srgbClr val="124F5B"/>
                </a:solidFill>
                <a:latin typeface="Verdana"/>
                <a:cs typeface="Verdana"/>
              </a:rPr>
              <a:t>t</a:t>
            </a:r>
            <a:r>
              <a:rPr sz="1800" spc="55" dirty="0">
                <a:solidFill>
                  <a:srgbClr val="124F5B"/>
                </a:solidFill>
                <a:latin typeface="Verdana"/>
                <a:cs typeface="Verdana"/>
              </a:rPr>
              <a:t>ed</a:t>
            </a:r>
            <a:r>
              <a:rPr sz="1800" dirty="0">
                <a:solidFill>
                  <a:srgbClr val="124F5B"/>
                </a:solidFill>
                <a:latin typeface="Verdana"/>
                <a:cs typeface="Verdana"/>
              </a:rPr>
              <a:t>	</a:t>
            </a:r>
            <a:r>
              <a:rPr sz="1800" spc="50" dirty="0">
                <a:solidFill>
                  <a:srgbClr val="124F5B"/>
                </a:solidFill>
                <a:latin typeface="Verdana"/>
                <a:cs typeface="Verdana"/>
              </a:rPr>
              <a:t>with</a:t>
            </a:r>
            <a:endParaRPr sz="1800">
              <a:latin typeface="Verdana"/>
              <a:cs typeface="Verdana"/>
            </a:endParaRPr>
          </a:p>
          <a:p>
            <a:pPr marR="5080" algn="r">
              <a:lnSpc>
                <a:spcPct val="100000"/>
              </a:lnSpc>
              <a:spcBef>
                <a:spcPts val="325"/>
              </a:spcBef>
            </a:pPr>
            <a:r>
              <a:rPr sz="1800" spc="30" dirty="0">
                <a:solidFill>
                  <a:srgbClr val="124F5B"/>
                </a:solidFill>
                <a:latin typeface="Verdana"/>
                <a:cs typeface="Verdana"/>
              </a:rPr>
              <a:t>an</a:t>
            </a:r>
            <a:r>
              <a:rPr sz="1800" spc="95" dirty="0">
                <a:solidFill>
                  <a:srgbClr val="124F5B"/>
                </a:solidFill>
                <a:latin typeface="Verdana"/>
                <a:cs typeface="Verdana"/>
              </a:rPr>
              <a:t>d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41923" y="2752544"/>
            <a:ext cx="2750820" cy="6565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100"/>
              </a:spcBef>
              <a:tabLst>
                <a:tab pos="626110" algn="l"/>
                <a:tab pos="1697989" algn="l"/>
              </a:tabLst>
            </a:pPr>
            <a:r>
              <a:rPr sz="1800" spc="50" dirty="0">
                <a:solidFill>
                  <a:srgbClr val="124F5B"/>
                </a:solidFill>
                <a:latin typeface="Verdana"/>
                <a:cs typeface="Verdana"/>
              </a:rPr>
              <a:t>th</a:t>
            </a:r>
            <a:r>
              <a:rPr sz="1800" spc="10" dirty="0">
                <a:solidFill>
                  <a:srgbClr val="124F5B"/>
                </a:solidFill>
                <a:latin typeface="Verdana"/>
                <a:cs typeface="Verdana"/>
              </a:rPr>
              <a:t>e	</a:t>
            </a:r>
            <a:r>
              <a:rPr sz="1800" b="1" spc="-95" dirty="0">
                <a:solidFill>
                  <a:srgbClr val="124F5B"/>
                </a:solidFill>
                <a:latin typeface="Verdana"/>
                <a:cs typeface="Verdana"/>
              </a:rPr>
              <a:t>R</a:t>
            </a:r>
            <a:r>
              <a:rPr sz="1800" b="1" spc="-55" dirty="0">
                <a:solidFill>
                  <a:srgbClr val="124F5B"/>
                </a:solidFill>
                <a:latin typeface="Verdana"/>
                <a:cs typeface="Verdana"/>
              </a:rPr>
              <a:t>ati</a:t>
            </a:r>
            <a:r>
              <a:rPr sz="1800" b="1" spc="-75" dirty="0">
                <a:solidFill>
                  <a:srgbClr val="124F5B"/>
                </a:solidFill>
                <a:latin typeface="Verdana"/>
                <a:cs typeface="Verdana"/>
              </a:rPr>
              <a:t>n</a:t>
            </a:r>
            <a:r>
              <a:rPr sz="1800" b="1" dirty="0">
                <a:solidFill>
                  <a:srgbClr val="124F5B"/>
                </a:solidFill>
                <a:latin typeface="Verdana"/>
                <a:cs typeface="Verdana"/>
              </a:rPr>
              <a:t>g</a:t>
            </a:r>
            <a:r>
              <a:rPr sz="1800" spc="-275" dirty="0">
                <a:solidFill>
                  <a:srgbClr val="124F5B"/>
                </a:solidFill>
                <a:latin typeface="Verdana"/>
                <a:cs typeface="Verdana"/>
              </a:rPr>
              <a:t>,</a:t>
            </a:r>
            <a:r>
              <a:rPr sz="1800" dirty="0">
                <a:solidFill>
                  <a:srgbClr val="124F5B"/>
                </a:solidFill>
                <a:latin typeface="Verdana"/>
                <a:cs typeface="Verdana"/>
              </a:rPr>
              <a:t>	</a:t>
            </a:r>
            <a:r>
              <a:rPr sz="1800" b="1" spc="-80" dirty="0">
                <a:solidFill>
                  <a:srgbClr val="124F5B"/>
                </a:solidFill>
                <a:latin typeface="Verdana"/>
                <a:cs typeface="Verdana"/>
              </a:rPr>
              <a:t>R</a:t>
            </a:r>
            <a:r>
              <a:rPr sz="1800" b="1" spc="-90" dirty="0">
                <a:solidFill>
                  <a:srgbClr val="124F5B"/>
                </a:solidFill>
                <a:latin typeface="Verdana"/>
                <a:cs typeface="Verdana"/>
              </a:rPr>
              <a:t>e</a:t>
            </a:r>
            <a:r>
              <a:rPr sz="1800" b="1" spc="-70" dirty="0">
                <a:solidFill>
                  <a:srgbClr val="124F5B"/>
                </a:solidFill>
                <a:latin typeface="Verdana"/>
                <a:cs typeface="Verdana"/>
              </a:rPr>
              <a:t>vi</a:t>
            </a:r>
            <a:r>
              <a:rPr sz="1800" b="1" spc="-114" dirty="0">
                <a:solidFill>
                  <a:srgbClr val="124F5B"/>
                </a:solidFill>
                <a:latin typeface="Verdana"/>
                <a:cs typeface="Verdana"/>
              </a:rPr>
              <a:t>e</a:t>
            </a:r>
            <a:r>
              <a:rPr sz="1800" b="1" spc="-95" dirty="0">
                <a:solidFill>
                  <a:srgbClr val="124F5B"/>
                </a:solidFill>
                <a:latin typeface="Verdana"/>
                <a:cs typeface="Verdana"/>
              </a:rPr>
              <a:t>w</a:t>
            </a:r>
            <a:r>
              <a:rPr sz="1800" b="1" spc="-114" dirty="0">
                <a:solidFill>
                  <a:srgbClr val="124F5B"/>
                </a:solidFill>
                <a:latin typeface="Verdana"/>
                <a:cs typeface="Verdana"/>
              </a:rPr>
              <a:t>s</a:t>
            </a:r>
            <a:r>
              <a:rPr sz="1800" spc="-270" dirty="0">
                <a:solidFill>
                  <a:srgbClr val="124F5B"/>
                </a:solidFill>
                <a:latin typeface="Verdana"/>
                <a:cs typeface="Verdana"/>
              </a:rPr>
              <a:t>,  </a:t>
            </a:r>
            <a:r>
              <a:rPr sz="1800" b="1" spc="-135" dirty="0">
                <a:solidFill>
                  <a:srgbClr val="124F5B"/>
                </a:solidFill>
                <a:latin typeface="Verdana"/>
                <a:cs typeface="Verdana"/>
              </a:rPr>
              <a:t>Installs</a:t>
            </a:r>
            <a:r>
              <a:rPr sz="1800" spc="-135" dirty="0">
                <a:solidFill>
                  <a:srgbClr val="124F5B"/>
                </a:solidFill>
                <a:latin typeface="Verdana"/>
                <a:cs typeface="Verdana"/>
              </a:rPr>
              <a:t>.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84724" y="3383479"/>
            <a:ext cx="3886835" cy="9721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265" marR="5080" indent="-457200" algn="just">
              <a:lnSpc>
                <a:spcPct val="114999"/>
              </a:lnSpc>
              <a:spcBef>
                <a:spcPts val="100"/>
              </a:spcBef>
            </a:pPr>
            <a:r>
              <a:rPr sz="1800" dirty="0">
                <a:solidFill>
                  <a:srgbClr val="124F5B"/>
                </a:solidFill>
                <a:latin typeface="AoyagiKouzanFontT"/>
                <a:cs typeface="AoyagiKouzanFontT"/>
              </a:rPr>
              <a:t>❏ </a:t>
            </a:r>
            <a:r>
              <a:rPr sz="1800" spc="5" dirty="0">
                <a:solidFill>
                  <a:srgbClr val="124F5B"/>
                </a:solidFill>
                <a:latin typeface="Verdana"/>
                <a:cs typeface="Verdana"/>
              </a:rPr>
              <a:t>The </a:t>
            </a:r>
            <a:r>
              <a:rPr sz="1800" b="1" spc="-55" dirty="0">
                <a:solidFill>
                  <a:srgbClr val="124F5B"/>
                </a:solidFill>
                <a:latin typeface="Verdana"/>
                <a:cs typeface="Verdana"/>
              </a:rPr>
              <a:t>Rating </a:t>
            </a:r>
            <a:r>
              <a:rPr sz="1800" spc="-35" dirty="0">
                <a:solidFill>
                  <a:srgbClr val="124F5B"/>
                </a:solidFill>
                <a:latin typeface="Verdana"/>
                <a:cs typeface="Verdana"/>
              </a:rPr>
              <a:t>is </a:t>
            </a:r>
            <a:r>
              <a:rPr sz="1800" dirty="0">
                <a:solidFill>
                  <a:srgbClr val="124F5B"/>
                </a:solidFill>
                <a:latin typeface="Verdana"/>
                <a:cs typeface="Verdana"/>
              </a:rPr>
              <a:t>slightly  </a:t>
            </a:r>
            <a:r>
              <a:rPr sz="1800" b="1" spc="-75" dirty="0">
                <a:solidFill>
                  <a:srgbClr val="124F5B"/>
                </a:solidFill>
                <a:latin typeface="Verdana"/>
                <a:cs typeface="Verdana"/>
              </a:rPr>
              <a:t>positively </a:t>
            </a:r>
            <a:r>
              <a:rPr sz="1800" dirty="0">
                <a:solidFill>
                  <a:srgbClr val="124F5B"/>
                </a:solidFill>
                <a:latin typeface="Verdana"/>
                <a:cs typeface="Verdana"/>
              </a:rPr>
              <a:t>correlated </a:t>
            </a:r>
            <a:r>
              <a:rPr sz="1800" spc="50" dirty="0">
                <a:solidFill>
                  <a:srgbClr val="124F5B"/>
                </a:solidFill>
                <a:latin typeface="Verdana"/>
                <a:cs typeface="Verdana"/>
              </a:rPr>
              <a:t>with</a:t>
            </a:r>
            <a:r>
              <a:rPr sz="1800" spc="-380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35" dirty="0">
                <a:solidFill>
                  <a:srgbClr val="124F5B"/>
                </a:solidFill>
                <a:latin typeface="Verdana"/>
                <a:cs typeface="Verdana"/>
              </a:rPr>
              <a:t>the  </a:t>
            </a:r>
            <a:r>
              <a:rPr sz="1800" b="1" spc="-120" dirty="0">
                <a:solidFill>
                  <a:srgbClr val="124F5B"/>
                </a:solidFill>
                <a:latin typeface="Verdana"/>
                <a:cs typeface="Verdana"/>
              </a:rPr>
              <a:t>Installs </a:t>
            </a:r>
            <a:r>
              <a:rPr sz="1800" spc="50" dirty="0">
                <a:solidFill>
                  <a:srgbClr val="124F5B"/>
                </a:solidFill>
                <a:latin typeface="Verdana"/>
                <a:cs typeface="Verdana"/>
              </a:rPr>
              <a:t>and</a:t>
            </a:r>
            <a:r>
              <a:rPr sz="1800" spc="-160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b="1" spc="-114" dirty="0">
                <a:solidFill>
                  <a:srgbClr val="124F5B"/>
                </a:solidFill>
                <a:latin typeface="Verdana"/>
                <a:cs typeface="Verdana"/>
              </a:rPr>
              <a:t>Reviews</a:t>
            </a:r>
            <a:r>
              <a:rPr sz="1800" spc="-114" dirty="0">
                <a:solidFill>
                  <a:srgbClr val="124F5B"/>
                </a:solidFill>
                <a:latin typeface="Verdana"/>
                <a:cs typeface="Verdana"/>
              </a:rPr>
              <a:t>.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617256" y="1152472"/>
            <a:ext cx="4043735" cy="312838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4" y="503825"/>
            <a:ext cx="467423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135" dirty="0"/>
              <a:t>Type </a:t>
            </a:r>
            <a:r>
              <a:rPr sz="2800" spc="-75" dirty="0"/>
              <a:t>and Content</a:t>
            </a:r>
            <a:r>
              <a:rPr sz="2800" spc="-335" dirty="0"/>
              <a:t> </a:t>
            </a:r>
            <a:r>
              <a:rPr sz="2800" spc="-85" dirty="0"/>
              <a:t>Rating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537624" y="1206154"/>
            <a:ext cx="32346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0" dirty="0">
                <a:solidFill>
                  <a:srgbClr val="124F5B"/>
                </a:solidFill>
                <a:latin typeface="Verdana"/>
                <a:cs typeface="Verdana"/>
              </a:rPr>
              <a:t>Free</a:t>
            </a:r>
            <a:r>
              <a:rPr sz="1800" spc="-175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50" dirty="0">
                <a:solidFill>
                  <a:srgbClr val="124F5B"/>
                </a:solidFill>
                <a:latin typeface="Verdana"/>
                <a:cs typeface="Verdana"/>
              </a:rPr>
              <a:t>and</a:t>
            </a:r>
            <a:r>
              <a:rPr sz="1800" spc="-170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35" dirty="0">
                <a:solidFill>
                  <a:srgbClr val="124F5B"/>
                </a:solidFill>
                <a:latin typeface="Verdana"/>
                <a:cs typeface="Verdana"/>
              </a:rPr>
              <a:t>paid</a:t>
            </a:r>
            <a:r>
              <a:rPr sz="1800" spc="-170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30" dirty="0">
                <a:solidFill>
                  <a:srgbClr val="124F5B"/>
                </a:solidFill>
                <a:latin typeface="Verdana"/>
                <a:cs typeface="Verdana"/>
              </a:rPr>
              <a:t>apps</a:t>
            </a:r>
            <a:r>
              <a:rPr sz="1800" spc="-175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30" dirty="0">
                <a:solidFill>
                  <a:srgbClr val="124F5B"/>
                </a:solidFill>
                <a:latin typeface="Verdana"/>
                <a:cs typeface="Verdana"/>
              </a:rPr>
              <a:t>in</a:t>
            </a:r>
            <a:r>
              <a:rPr sz="1800" spc="-170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35" dirty="0">
                <a:solidFill>
                  <a:srgbClr val="124F5B"/>
                </a:solidFill>
                <a:latin typeface="Verdana"/>
                <a:cs typeface="Verdana"/>
              </a:rPr>
              <a:t>the</a:t>
            </a:r>
            <a:r>
              <a:rPr sz="1800" spc="-170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35" dirty="0">
                <a:solidFill>
                  <a:srgbClr val="124F5B"/>
                </a:solidFill>
                <a:latin typeface="Verdana"/>
                <a:cs typeface="Verdana"/>
              </a:rPr>
              <a:t>df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11699" y="1574021"/>
            <a:ext cx="3686117" cy="343238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863803" y="1574021"/>
            <a:ext cx="3933850" cy="341154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5022614" y="1206154"/>
            <a:ext cx="34016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30" dirty="0">
                <a:solidFill>
                  <a:srgbClr val="124F5B"/>
                </a:solidFill>
                <a:latin typeface="Verdana"/>
                <a:cs typeface="Verdana"/>
              </a:rPr>
              <a:t>Content</a:t>
            </a:r>
            <a:r>
              <a:rPr sz="1800" spc="-170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15" dirty="0">
                <a:solidFill>
                  <a:srgbClr val="124F5B"/>
                </a:solidFill>
                <a:latin typeface="Verdana"/>
                <a:cs typeface="Verdana"/>
              </a:rPr>
              <a:t>rating</a:t>
            </a:r>
            <a:r>
              <a:rPr sz="1800" spc="-170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-10" dirty="0">
                <a:solidFill>
                  <a:srgbClr val="124F5B"/>
                </a:solidFill>
                <a:latin typeface="Verdana"/>
                <a:cs typeface="Verdana"/>
              </a:rPr>
              <a:t>types</a:t>
            </a:r>
            <a:r>
              <a:rPr sz="1800" spc="-170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30" dirty="0">
                <a:solidFill>
                  <a:srgbClr val="124F5B"/>
                </a:solidFill>
                <a:latin typeface="Verdana"/>
                <a:cs typeface="Verdana"/>
              </a:rPr>
              <a:t>in</a:t>
            </a:r>
            <a:r>
              <a:rPr sz="1800" spc="-170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35" dirty="0">
                <a:solidFill>
                  <a:srgbClr val="124F5B"/>
                </a:solidFill>
                <a:latin typeface="Verdana"/>
                <a:cs typeface="Verdana"/>
              </a:rPr>
              <a:t>the</a:t>
            </a:r>
            <a:r>
              <a:rPr sz="1800" spc="-170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35" dirty="0">
                <a:solidFill>
                  <a:srgbClr val="124F5B"/>
                </a:solidFill>
                <a:latin typeface="Verdana"/>
                <a:cs typeface="Verdana"/>
              </a:rPr>
              <a:t>df</a:t>
            </a:r>
            <a:endParaRPr sz="18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4" y="503825"/>
            <a:ext cx="379412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90" dirty="0"/>
              <a:t>Categorical</a:t>
            </a:r>
            <a:r>
              <a:rPr sz="2800" spc="-229" dirty="0"/>
              <a:t> </a:t>
            </a:r>
            <a:r>
              <a:rPr sz="2800" spc="-125" dirty="0"/>
              <a:t>Analysis</a:t>
            </a:r>
            <a:endParaRPr sz="2800"/>
          </a:p>
        </p:txBody>
      </p:sp>
      <p:sp>
        <p:nvSpPr>
          <p:cNvPr id="3" name="object 3"/>
          <p:cNvSpPr/>
          <p:nvPr/>
        </p:nvSpPr>
        <p:spPr>
          <a:xfrm>
            <a:off x="0" y="1527446"/>
            <a:ext cx="4364191" cy="361604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820240" y="1527446"/>
            <a:ext cx="4323741" cy="360368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820548" y="1071804"/>
            <a:ext cx="27241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5" dirty="0">
                <a:solidFill>
                  <a:srgbClr val="124F5B"/>
                </a:solidFill>
                <a:latin typeface="Verdana"/>
                <a:cs typeface="Verdana"/>
              </a:rPr>
              <a:t>Category</a:t>
            </a:r>
            <a:r>
              <a:rPr sz="1800" spc="-190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-80" dirty="0">
                <a:solidFill>
                  <a:srgbClr val="124F5B"/>
                </a:solidFill>
                <a:latin typeface="Verdana"/>
                <a:cs typeface="Verdana"/>
              </a:rPr>
              <a:t>vs</a:t>
            </a:r>
            <a:r>
              <a:rPr sz="1800" spc="-185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-50" dirty="0">
                <a:solidFill>
                  <a:srgbClr val="124F5B"/>
                </a:solidFill>
                <a:latin typeface="Verdana"/>
                <a:cs typeface="Verdana"/>
              </a:rPr>
              <a:t>No.</a:t>
            </a:r>
            <a:r>
              <a:rPr sz="1800" spc="-185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5" dirty="0">
                <a:solidFill>
                  <a:srgbClr val="124F5B"/>
                </a:solidFill>
                <a:latin typeface="Verdana"/>
                <a:cs typeface="Verdana"/>
              </a:rPr>
              <a:t>of</a:t>
            </a:r>
            <a:r>
              <a:rPr sz="1800" spc="-185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50" dirty="0">
                <a:solidFill>
                  <a:srgbClr val="124F5B"/>
                </a:solidFill>
                <a:latin typeface="Verdana"/>
                <a:cs typeface="Verdana"/>
              </a:rPr>
              <a:t>Apps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299386" y="1071804"/>
            <a:ext cx="33661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5" dirty="0">
                <a:solidFill>
                  <a:srgbClr val="124F5B"/>
                </a:solidFill>
                <a:latin typeface="Verdana"/>
                <a:cs typeface="Verdana"/>
              </a:rPr>
              <a:t>Category</a:t>
            </a:r>
            <a:r>
              <a:rPr sz="1800" spc="-185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-80" dirty="0">
                <a:solidFill>
                  <a:srgbClr val="124F5B"/>
                </a:solidFill>
                <a:latin typeface="Verdana"/>
                <a:cs typeface="Verdana"/>
              </a:rPr>
              <a:t>vs</a:t>
            </a:r>
            <a:r>
              <a:rPr sz="1800" spc="-185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-30" dirty="0">
                <a:solidFill>
                  <a:srgbClr val="124F5B"/>
                </a:solidFill>
                <a:latin typeface="Verdana"/>
                <a:cs typeface="Verdana"/>
              </a:rPr>
              <a:t>Total</a:t>
            </a:r>
            <a:r>
              <a:rPr sz="1800" spc="-180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85" dirty="0">
                <a:solidFill>
                  <a:srgbClr val="124F5B"/>
                </a:solidFill>
                <a:latin typeface="Verdana"/>
                <a:cs typeface="Verdana"/>
              </a:rPr>
              <a:t>App</a:t>
            </a:r>
            <a:r>
              <a:rPr sz="1800" spc="-185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-35" dirty="0">
                <a:solidFill>
                  <a:srgbClr val="124F5B"/>
                </a:solidFill>
                <a:latin typeface="Verdana"/>
                <a:cs typeface="Verdana"/>
              </a:rPr>
              <a:t>Installs</a:t>
            </a:r>
            <a:endParaRPr sz="18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4" y="503825"/>
            <a:ext cx="537019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90" dirty="0"/>
              <a:t>Categorical </a:t>
            </a:r>
            <a:r>
              <a:rPr sz="2800" spc="-125" dirty="0"/>
              <a:t>Analysis</a:t>
            </a:r>
            <a:r>
              <a:rPr sz="2800" spc="-295" dirty="0"/>
              <a:t> </a:t>
            </a:r>
            <a:r>
              <a:rPr sz="2800" spc="-204" dirty="0"/>
              <a:t>(Contd.)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384724" y="1175208"/>
            <a:ext cx="3876040" cy="3495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265" marR="5715" indent="-457200" algn="just">
              <a:lnSpc>
                <a:spcPct val="114999"/>
              </a:lnSpc>
              <a:spcBef>
                <a:spcPts val="100"/>
              </a:spcBef>
              <a:buFont typeface="AoyagiKouzanFontT"/>
              <a:buChar char="❏"/>
              <a:tabLst>
                <a:tab pos="469900" algn="l"/>
              </a:tabLst>
            </a:pPr>
            <a:r>
              <a:rPr sz="1800" spc="5" dirty="0">
                <a:solidFill>
                  <a:srgbClr val="124F5B"/>
                </a:solidFill>
                <a:latin typeface="Verdana"/>
                <a:cs typeface="Verdana"/>
              </a:rPr>
              <a:t>The </a:t>
            </a:r>
            <a:r>
              <a:rPr sz="1800" b="1" spc="-100" dirty="0">
                <a:solidFill>
                  <a:srgbClr val="124F5B"/>
                </a:solidFill>
                <a:latin typeface="Verdana"/>
                <a:cs typeface="Verdana"/>
              </a:rPr>
              <a:t>Family</a:t>
            </a:r>
            <a:r>
              <a:rPr sz="1800" spc="-100" dirty="0">
                <a:solidFill>
                  <a:srgbClr val="124F5B"/>
                </a:solidFill>
                <a:latin typeface="Verdana"/>
                <a:cs typeface="Verdana"/>
              </a:rPr>
              <a:t>, </a:t>
            </a:r>
            <a:r>
              <a:rPr sz="1800" b="1" spc="-105" dirty="0">
                <a:solidFill>
                  <a:srgbClr val="124F5B"/>
                </a:solidFill>
                <a:latin typeface="Verdana"/>
                <a:cs typeface="Verdana"/>
              </a:rPr>
              <a:t>Game</a:t>
            </a:r>
            <a:r>
              <a:rPr sz="1800" spc="-105" dirty="0">
                <a:solidFill>
                  <a:srgbClr val="124F5B"/>
                </a:solidFill>
                <a:latin typeface="Verdana"/>
                <a:cs typeface="Verdana"/>
              </a:rPr>
              <a:t>, </a:t>
            </a:r>
            <a:r>
              <a:rPr sz="1800" spc="50" dirty="0">
                <a:solidFill>
                  <a:srgbClr val="124F5B"/>
                </a:solidFill>
                <a:latin typeface="Verdana"/>
                <a:cs typeface="Verdana"/>
              </a:rPr>
              <a:t>and </a:t>
            </a:r>
            <a:r>
              <a:rPr sz="1800" b="1" spc="-105" dirty="0">
                <a:solidFill>
                  <a:srgbClr val="124F5B"/>
                </a:solidFill>
                <a:latin typeface="Verdana"/>
                <a:cs typeface="Verdana"/>
              </a:rPr>
              <a:t>Tools  </a:t>
            </a:r>
            <a:r>
              <a:rPr sz="1800" spc="10" dirty="0">
                <a:solidFill>
                  <a:srgbClr val="124F5B"/>
                </a:solidFill>
                <a:latin typeface="Verdana"/>
                <a:cs typeface="Verdana"/>
              </a:rPr>
              <a:t>category</a:t>
            </a:r>
            <a:r>
              <a:rPr sz="1800" spc="650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124F5B"/>
                </a:solidFill>
                <a:latin typeface="Verdana"/>
                <a:cs typeface="Verdana"/>
              </a:rPr>
              <a:t>has </a:t>
            </a:r>
            <a:r>
              <a:rPr sz="1800" spc="35" dirty="0">
                <a:solidFill>
                  <a:srgbClr val="124F5B"/>
                </a:solidFill>
                <a:latin typeface="Verdana"/>
                <a:cs typeface="Verdana"/>
              </a:rPr>
              <a:t>the </a:t>
            </a:r>
            <a:r>
              <a:rPr sz="1800" spc="30" dirty="0">
                <a:solidFill>
                  <a:srgbClr val="124F5B"/>
                </a:solidFill>
                <a:latin typeface="Verdana"/>
                <a:cs typeface="Verdana"/>
              </a:rPr>
              <a:t>highest  </a:t>
            </a:r>
            <a:r>
              <a:rPr sz="1800" spc="60" dirty="0">
                <a:solidFill>
                  <a:srgbClr val="124F5B"/>
                </a:solidFill>
                <a:latin typeface="Verdana"/>
                <a:cs typeface="Verdana"/>
              </a:rPr>
              <a:t>number </a:t>
            </a:r>
            <a:r>
              <a:rPr sz="1800" spc="5" dirty="0">
                <a:solidFill>
                  <a:srgbClr val="124F5B"/>
                </a:solidFill>
                <a:latin typeface="Verdana"/>
                <a:cs typeface="Verdana"/>
              </a:rPr>
              <a:t>of</a:t>
            </a:r>
            <a:r>
              <a:rPr sz="1800" spc="-395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-35" dirty="0">
                <a:solidFill>
                  <a:srgbClr val="124F5B"/>
                </a:solidFill>
                <a:latin typeface="Verdana"/>
                <a:cs typeface="Verdana"/>
              </a:rPr>
              <a:t>apps.</a:t>
            </a:r>
            <a:endParaRPr sz="1800">
              <a:latin typeface="Verdana"/>
              <a:cs typeface="Verdana"/>
            </a:endParaRPr>
          </a:p>
          <a:p>
            <a:pPr marL="469265" marR="5080" indent="-457200" algn="just">
              <a:lnSpc>
                <a:spcPct val="114999"/>
              </a:lnSpc>
              <a:buFont typeface="AoyagiKouzanFontT"/>
              <a:buChar char="❏"/>
              <a:tabLst>
                <a:tab pos="469900" algn="l"/>
              </a:tabLst>
            </a:pPr>
            <a:r>
              <a:rPr sz="1800" spc="5" dirty="0">
                <a:solidFill>
                  <a:srgbClr val="124F5B"/>
                </a:solidFill>
                <a:latin typeface="Verdana"/>
                <a:cs typeface="Verdana"/>
              </a:rPr>
              <a:t>The </a:t>
            </a:r>
            <a:r>
              <a:rPr sz="1800" b="1" spc="-105" dirty="0">
                <a:solidFill>
                  <a:srgbClr val="124F5B"/>
                </a:solidFill>
                <a:latin typeface="Verdana"/>
                <a:cs typeface="Verdana"/>
              </a:rPr>
              <a:t>Game</a:t>
            </a:r>
            <a:r>
              <a:rPr sz="1800" spc="-105" dirty="0">
                <a:solidFill>
                  <a:srgbClr val="124F5B"/>
                </a:solidFill>
                <a:latin typeface="Verdana"/>
                <a:cs typeface="Verdana"/>
              </a:rPr>
              <a:t>, </a:t>
            </a:r>
            <a:r>
              <a:rPr sz="1800" b="1" spc="-60" dirty="0">
                <a:solidFill>
                  <a:srgbClr val="124F5B"/>
                </a:solidFill>
                <a:latin typeface="Verdana"/>
                <a:cs typeface="Verdana"/>
              </a:rPr>
              <a:t>Communication</a:t>
            </a:r>
            <a:r>
              <a:rPr sz="1800" spc="-60" dirty="0">
                <a:solidFill>
                  <a:srgbClr val="124F5B"/>
                </a:solidFill>
                <a:latin typeface="Verdana"/>
                <a:cs typeface="Verdana"/>
              </a:rPr>
              <a:t>,  </a:t>
            </a:r>
            <a:r>
              <a:rPr sz="1800" spc="50" dirty="0">
                <a:solidFill>
                  <a:srgbClr val="124F5B"/>
                </a:solidFill>
                <a:latin typeface="Verdana"/>
                <a:cs typeface="Verdana"/>
              </a:rPr>
              <a:t>and </a:t>
            </a:r>
            <a:r>
              <a:rPr sz="1800" b="1" spc="-105" dirty="0">
                <a:solidFill>
                  <a:srgbClr val="124F5B"/>
                </a:solidFill>
                <a:latin typeface="Verdana"/>
                <a:cs typeface="Verdana"/>
              </a:rPr>
              <a:t>Tools </a:t>
            </a:r>
            <a:r>
              <a:rPr sz="1800" spc="10" dirty="0">
                <a:solidFill>
                  <a:srgbClr val="124F5B"/>
                </a:solidFill>
                <a:latin typeface="Verdana"/>
                <a:cs typeface="Verdana"/>
              </a:rPr>
              <a:t>category </a:t>
            </a:r>
            <a:r>
              <a:rPr sz="1800" dirty="0">
                <a:solidFill>
                  <a:srgbClr val="124F5B"/>
                </a:solidFill>
                <a:latin typeface="Verdana"/>
                <a:cs typeface="Verdana"/>
              </a:rPr>
              <a:t>has </a:t>
            </a:r>
            <a:r>
              <a:rPr sz="1800" spc="35" dirty="0">
                <a:solidFill>
                  <a:srgbClr val="124F5B"/>
                </a:solidFill>
                <a:latin typeface="Verdana"/>
                <a:cs typeface="Verdana"/>
              </a:rPr>
              <a:t>the  </a:t>
            </a:r>
            <a:r>
              <a:rPr sz="1800" spc="30" dirty="0">
                <a:solidFill>
                  <a:srgbClr val="124F5B"/>
                </a:solidFill>
                <a:latin typeface="Verdana"/>
                <a:cs typeface="Verdana"/>
              </a:rPr>
              <a:t>highest </a:t>
            </a:r>
            <a:r>
              <a:rPr sz="1800" spc="60" dirty="0">
                <a:solidFill>
                  <a:srgbClr val="124F5B"/>
                </a:solidFill>
                <a:latin typeface="Verdana"/>
                <a:cs typeface="Verdana"/>
              </a:rPr>
              <a:t>number</a:t>
            </a:r>
            <a:r>
              <a:rPr sz="1800" spc="750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5" dirty="0">
                <a:solidFill>
                  <a:srgbClr val="124F5B"/>
                </a:solidFill>
                <a:latin typeface="Verdana"/>
                <a:cs typeface="Verdana"/>
              </a:rPr>
              <a:t>of </a:t>
            </a:r>
            <a:r>
              <a:rPr sz="1800" spc="55" dirty="0">
                <a:solidFill>
                  <a:srgbClr val="124F5B"/>
                </a:solidFill>
                <a:latin typeface="Verdana"/>
                <a:cs typeface="Verdana"/>
              </a:rPr>
              <a:t>app  </a:t>
            </a:r>
            <a:r>
              <a:rPr sz="1800" spc="-40" dirty="0">
                <a:solidFill>
                  <a:srgbClr val="124F5B"/>
                </a:solidFill>
                <a:latin typeface="Verdana"/>
                <a:cs typeface="Verdana"/>
              </a:rPr>
              <a:t>installs.</a:t>
            </a:r>
            <a:endParaRPr sz="1800">
              <a:latin typeface="Verdana"/>
              <a:cs typeface="Verdana"/>
            </a:endParaRPr>
          </a:p>
          <a:p>
            <a:pPr marL="469265" marR="5080" indent="-457200" algn="just">
              <a:lnSpc>
                <a:spcPct val="114999"/>
              </a:lnSpc>
              <a:buFont typeface="AoyagiKouzanFontT"/>
              <a:buChar char="❏"/>
              <a:tabLst>
                <a:tab pos="469900" algn="l"/>
              </a:tabLst>
            </a:pPr>
            <a:r>
              <a:rPr sz="1800" spc="5" dirty="0">
                <a:solidFill>
                  <a:srgbClr val="124F5B"/>
                </a:solidFill>
                <a:latin typeface="Verdana"/>
                <a:cs typeface="Verdana"/>
              </a:rPr>
              <a:t>The </a:t>
            </a:r>
            <a:r>
              <a:rPr sz="1800" b="1" spc="-60" dirty="0">
                <a:solidFill>
                  <a:srgbClr val="124F5B"/>
                </a:solidFill>
                <a:latin typeface="Verdana"/>
                <a:cs typeface="Verdana"/>
              </a:rPr>
              <a:t>Communication</a:t>
            </a:r>
            <a:r>
              <a:rPr sz="1800" spc="-60" dirty="0">
                <a:solidFill>
                  <a:srgbClr val="124F5B"/>
                </a:solidFill>
                <a:latin typeface="Verdana"/>
                <a:cs typeface="Verdana"/>
              </a:rPr>
              <a:t>, </a:t>
            </a:r>
            <a:r>
              <a:rPr sz="1800" b="1" spc="-50" dirty="0">
                <a:solidFill>
                  <a:srgbClr val="124F5B"/>
                </a:solidFill>
                <a:latin typeface="Verdana"/>
                <a:cs typeface="Verdana"/>
              </a:rPr>
              <a:t>Video  </a:t>
            </a:r>
            <a:r>
              <a:rPr sz="1800" b="1" spc="-114" dirty="0">
                <a:solidFill>
                  <a:srgbClr val="124F5B"/>
                </a:solidFill>
                <a:latin typeface="Verdana"/>
                <a:cs typeface="Verdana"/>
              </a:rPr>
              <a:t>Players</a:t>
            </a:r>
            <a:r>
              <a:rPr sz="1800" spc="-114" dirty="0">
                <a:solidFill>
                  <a:srgbClr val="124F5B"/>
                </a:solidFill>
                <a:latin typeface="Verdana"/>
                <a:cs typeface="Verdana"/>
              </a:rPr>
              <a:t>, </a:t>
            </a:r>
            <a:r>
              <a:rPr sz="1800" spc="50" dirty="0">
                <a:solidFill>
                  <a:srgbClr val="124F5B"/>
                </a:solidFill>
                <a:latin typeface="Verdana"/>
                <a:cs typeface="Verdana"/>
              </a:rPr>
              <a:t>and </a:t>
            </a:r>
            <a:r>
              <a:rPr sz="1800" b="1" spc="-75" dirty="0">
                <a:solidFill>
                  <a:srgbClr val="124F5B"/>
                </a:solidFill>
                <a:latin typeface="Verdana"/>
                <a:cs typeface="Verdana"/>
              </a:rPr>
              <a:t>Social </a:t>
            </a:r>
            <a:r>
              <a:rPr sz="1800" spc="10" dirty="0">
                <a:solidFill>
                  <a:srgbClr val="124F5B"/>
                </a:solidFill>
                <a:latin typeface="Verdana"/>
                <a:cs typeface="Verdana"/>
              </a:rPr>
              <a:t>category  </a:t>
            </a:r>
            <a:r>
              <a:rPr sz="1800" dirty="0">
                <a:solidFill>
                  <a:srgbClr val="124F5B"/>
                </a:solidFill>
                <a:latin typeface="Verdana"/>
                <a:cs typeface="Verdana"/>
              </a:rPr>
              <a:t>has </a:t>
            </a:r>
            <a:r>
              <a:rPr sz="1800" spc="35" dirty="0">
                <a:solidFill>
                  <a:srgbClr val="124F5B"/>
                </a:solidFill>
                <a:latin typeface="Verdana"/>
                <a:cs typeface="Verdana"/>
              </a:rPr>
              <a:t>the </a:t>
            </a:r>
            <a:r>
              <a:rPr sz="1800" spc="30" dirty="0">
                <a:solidFill>
                  <a:srgbClr val="124F5B"/>
                </a:solidFill>
                <a:latin typeface="Verdana"/>
                <a:cs typeface="Verdana"/>
              </a:rPr>
              <a:t>highest </a:t>
            </a:r>
            <a:r>
              <a:rPr sz="1800" spc="60" dirty="0">
                <a:solidFill>
                  <a:srgbClr val="124F5B"/>
                </a:solidFill>
                <a:latin typeface="Verdana"/>
                <a:cs typeface="Verdana"/>
              </a:rPr>
              <a:t>number </a:t>
            </a:r>
            <a:r>
              <a:rPr sz="1800" spc="5" dirty="0">
                <a:solidFill>
                  <a:srgbClr val="124F5B"/>
                </a:solidFill>
                <a:latin typeface="Verdana"/>
                <a:cs typeface="Verdana"/>
              </a:rPr>
              <a:t>of  </a:t>
            </a:r>
            <a:r>
              <a:rPr sz="1800" spc="-15" dirty="0">
                <a:solidFill>
                  <a:srgbClr val="124F5B"/>
                </a:solidFill>
                <a:latin typeface="Verdana"/>
                <a:cs typeface="Verdana"/>
              </a:rPr>
              <a:t>average </a:t>
            </a:r>
            <a:r>
              <a:rPr sz="1800" spc="55" dirty="0">
                <a:solidFill>
                  <a:srgbClr val="124F5B"/>
                </a:solidFill>
                <a:latin typeface="Verdana"/>
                <a:cs typeface="Verdana"/>
              </a:rPr>
              <a:t>app</a:t>
            </a:r>
            <a:r>
              <a:rPr sz="1800" spc="-325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-10" dirty="0">
                <a:solidFill>
                  <a:srgbClr val="124F5B"/>
                </a:solidFill>
                <a:latin typeface="Verdana"/>
                <a:cs typeface="Verdana"/>
              </a:rPr>
              <a:t>installs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571990" y="1505746"/>
            <a:ext cx="4248101" cy="351839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4677710" y="1154900"/>
            <a:ext cx="43611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124F5B"/>
                </a:solidFill>
                <a:latin typeface="Verdana"/>
                <a:cs typeface="Verdana"/>
              </a:rPr>
              <a:t>Average</a:t>
            </a:r>
            <a:r>
              <a:rPr sz="1800" spc="-175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85" dirty="0">
                <a:solidFill>
                  <a:srgbClr val="124F5B"/>
                </a:solidFill>
                <a:latin typeface="Verdana"/>
                <a:cs typeface="Verdana"/>
              </a:rPr>
              <a:t>App</a:t>
            </a:r>
            <a:r>
              <a:rPr sz="1800" spc="-170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-35" dirty="0">
                <a:solidFill>
                  <a:srgbClr val="124F5B"/>
                </a:solidFill>
                <a:latin typeface="Verdana"/>
                <a:cs typeface="Verdana"/>
              </a:rPr>
              <a:t>Installs</a:t>
            </a:r>
            <a:r>
              <a:rPr sz="1800" spc="-170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30" dirty="0">
                <a:solidFill>
                  <a:srgbClr val="124F5B"/>
                </a:solidFill>
                <a:latin typeface="Verdana"/>
                <a:cs typeface="Verdana"/>
              </a:rPr>
              <a:t>in</a:t>
            </a:r>
            <a:r>
              <a:rPr sz="1800" spc="-175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40" dirty="0">
                <a:solidFill>
                  <a:srgbClr val="124F5B"/>
                </a:solidFill>
                <a:latin typeface="Verdana"/>
                <a:cs typeface="Verdana"/>
              </a:rPr>
              <a:t>Each</a:t>
            </a:r>
            <a:r>
              <a:rPr sz="1800" spc="-170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5" dirty="0">
                <a:solidFill>
                  <a:srgbClr val="124F5B"/>
                </a:solidFill>
                <a:latin typeface="Verdana"/>
                <a:cs typeface="Verdana"/>
              </a:rPr>
              <a:t>Category</a:t>
            </a:r>
            <a:endParaRPr sz="18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4" y="503825"/>
            <a:ext cx="376682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30" dirty="0"/>
              <a:t>App </a:t>
            </a:r>
            <a:r>
              <a:rPr sz="2800" spc="-85" dirty="0"/>
              <a:t>Rating</a:t>
            </a:r>
            <a:r>
              <a:rPr sz="2800" spc="-370" dirty="0"/>
              <a:t> </a:t>
            </a:r>
            <a:r>
              <a:rPr sz="2800" spc="-125" dirty="0"/>
              <a:t>Analysis</a:t>
            </a:r>
            <a:endParaRPr sz="2800"/>
          </a:p>
        </p:txBody>
      </p:sp>
      <p:sp>
        <p:nvSpPr>
          <p:cNvPr id="3" name="object 3"/>
          <p:cNvSpPr/>
          <p:nvPr/>
        </p:nvSpPr>
        <p:spPr>
          <a:xfrm>
            <a:off x="4345416" y="2795144"/>
            <a:ext cx="4466125" cy="213012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5114083" y="0"/>
            <a:ext cx="2981425" cy="271203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384724" y="1081606"/>
            <a:ext cx="3884295" cy="3591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265" marR="9525" indent="-457200">
              <a:lnSpc>
                <a:spcPct val="100000"/>
              </a:lnSpc>
              <a:spcBef>
                <a:spcPts val="100"/>
              </a:spcBef>
              <a:buFont typeface="AoyagiKouzanFontT"/>
              <a:buChar char="❏"/>
              <a:tabLst>
                <a:tab pos="469265" algn="l"/>
                <a:tab pos="469900" algn="l"/>
                <a:tab pos="1069340" algn="l"/>
                <a:tab pos="2155825" algn="l"/>
                <a:tab pos="2826385" algn="l"/>
                <a:tab pos="3692525" algn="l"/>
              </a:tabLst>
            </a:pPr>
            <a:r>
              <a:rPr sz="1800" dirty="0">
                <a:solidFill>
                  <a:srgbClr val="124F5B"/>
                </a:solidFill>
                <a:latin typeface="Verdana"/>
                <a:cs typeface="Verdana"/>
              </a:rPr>
              <a:t>Th</a:t>
            </a:r>
            <a:r>
              <a:rPr sz="1800" spc="10" dirty="0">
                <a:solidFill>
                  <a:srgbClr val="124F5B"/>
                </a:solidFill>
                <a:latin typeface="Verdana"/>
                <a:cs typeface="Verdana"/>
              </a:rPr>
              <a:t>e	</a:t>
            </a:r>
            <a:r>
              <a:rPr sz="1800" spc="-40" dirty="0">
                <a:solidFill>
                  <a:srgbClr val="124F5B"/>
                </a:solidFill>
                <a:latin typeface="Verdana"/>
                <a:cs typeface="Verdana"/>
              </a:rPr>
              <a:t>a</a:t>
            </a:r>
            <a:r>
              <a:rPr sz="1800" spc="-120" dirty="0">
                <a:solidFill>
                  <a:srgbClr val="124F5B"/>
                </a:solidFill>
                <a:latin typeface="Verdana"/>
                <a:cs typeface="Verdana"/>
              </a:rPr>
              <a:t>v</a:t>
            </a:r>
            <a:r>
              <a:rPr sz="1800" spc="-20" dirty="0">
                <a:solidFill>
                  <a:srgbClr val="124F5B"/>
                </a:solidFill>
                <a:latin typeface="Verdana"/>
                <a:cs typeface="Verdana"/>
              </a:rPr>
              <a:t>e</a:t>
            </a:r>
            <a:r>
              <a:rPr sz="1800" spc="-35" dirty="0">
                <a:solidFill>
                  <a:srgbClr val="124F5B"/>
                </a:solidFill>
                <a:latin typeface="Verdana"/>
                <a:cs typeface="Verdana"/>
              </a:rPr>
              <a:t>r</a:t>
            </a:r>
            <a:r>
              <a:rPr sz="1800" spc="-20" dirty="0">
                <a:solidFill>
                  <a:srgbClr val="124F5B"/>
                </a:solidFill>
                <a:latin typeface="Verdana"/>
                <a:cs typeface="Verdana"/>
              </a:rPr>
              <a:t>a</a:t>
            </a:r>
            <a:r>
              <a:rPr sz="1800" spc="60" dirty="0">
                <a:solidFill>
                  <a:srgbClr val="124F5B"/>
                </a:solidFill>
                <a:latin typeface="Verdana"/>
                <a:cs typeface="Verdana"/>
              </a:rPr>
              <a:t>ge</a:t>
            </a:r>
            <a:r>
              <a:rPr sz="1800" dirty="0">
                <a:solidFill>
                  <a:srgbClr val="124F5B"/>
                </a:solidFill>
                <a:latin typeface="Verdana"/>
                <a:cs typeface="Verdana"/>
              </a:rPr>
              <a:t>	</a:t>
            </a:r>
            <a:r>
              <a:rPr sz="1800" spc="-5" dirty="0">
                <a:solidFill>
                  <a:srgbClr val="124F5B"/>
                </a:solidFill>
                <a:latin typeface="Verdana"/>
                <a:cs typeface="Verdana"/>
              </a:rPr>
              <a:t>user</a:t>
            </a:r>
            <a:r>
              <a:rPr sz="1800" dirty="0">
                <a:solidFill>
                  <a:srgbClr val="124F5B"/>
                </a:solidFill>
                <a:latin typeface="Verdana"/>
                <a:cs typeface="Verdana"/>
              </a:rPr>
              <a:t>	</a:t>
            </a:r>
            <a:r>
              <a:rPr sz="1800" spc="-65" dirty="0">
                <a:solidFill>
                  <a:srgbClr val="124F5B"/>
                </a:solidFill>
                <a:latin typeface="Verdana"/>
                <a:cs typeface="Verdana"/>
              </a:rPr>
              <a:t>r</a:t>
            </a:r>
            <a:r>
              <a:rPr sz="1800" spc="15" dirty="0">
                <a:solidFill>
                  <a:srgbClr val="124F5B"/>
                </a:solidFill>
                <a:latin typeface="Verdana"/>
                <a:cs typeface="Verdana"/>
              </a:rPr>
              <a:t>atin</a:t>
            </a:r>
            <a:r>
              <a:rPr sz="1800" spc="110" dirty="0">
                <a:solidFill>
                  <a:srgbClr val="124F5B"/>
                </a:solidFill>
                <a:latin typeface="Verdana"/>
                <a:cs typeface="Verdana"/>
              </a:rPr>
              <a:t>g</a:t>
            </a:r>
            <a:r>
              <a:rPr sz="1800" dirty="0">
                <a:solidFill>
                  <a:srgbClr val="124F5B"/>
                </a:solidFill>
                <a:latin typeface="Verdana"/>
                <a:cs typeface="Verdana"/>
              </a:rPr>
              <a:t>	</a:t>
            </a:r>
            <a:r>
              <a:rPr sz="1800" spc="-35" dirty="0">
                <a:solidFill>
                  <a:srgbClr val="124F5B"/>
                </a:solidFill>
                <a:latin typeface="Verdana"/>
                <a:cs typeface="Verdana"/>
              </a:rPr>
              <a:t>is  </a:t>
            </a:r>
            <a:r>
              <a:rPr sz="1800" spc="25" dirty="0">
                <a:solidFill>
                  <a:srgbClr val="124F5B"/>
                </a:solidFill>
                <a:latin typeface="Verdana"/>
                <a:cs typeface="Verdana"/>
              </a:rPr>
              <a:t>divided</a:t>
            </a:r>
            <a:r>
              <a:rPr sz="1800" spc="-170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20" dirty="0">
                <a:solidFill>
                  <a:srgbClr val="124F5B"/>
                </a:solidFill>
                <a:latin typeface="Verdana"/>
                <a:cs typeface="Verdana"/>
              </a:rPr>
              <a:t>into</a:t>
            </a:r>
            <a:r>
              <a:rPr sz="1800" spc="-165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45" dirty="0">
                <a:solidFill>
                  <a:srgbClr val="124F5B"/>
                </a:solidFill>
                <a:latin typeface="Verdana"/>
                <a:cs typeface="Verdana"/>
              </a:rPr>
              <a:t>4</a:t>
            </a:r>
            <a:r>
              <a:rPr sz="1800" spc="-165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-35" dirty="0">
                <a:solidFill>
                  <a:srgbClr val="124F5B"/>
                </a:solidFill>
                <a:latin typeface="Verdana"/>
                <a:cs typeface="Verdana"/>
              </a:rPr>
              <a:t>categories:</a:t>
            </a:r>
            <a:endParaRPr sz="1800">
              <a:latin typeface="Verdana"/>
              <a:cs typeface="Verdana"/>
            </a:endParaRPr>
          </a:p>
          <a:p>
            <a:pPr marL="469900" lvl="1" indent="-367030">
              <a:lnSpc>
                <a:spcPct val="100000"/>
              </a:lnSpc>
              <a:buFont typeface="Arial"/>
              <a:buChar char="●"/>
              <a:tabLst>
                <a:tab pos="469265" algn="l"/>
                <a:tab pos="469900" algn="l"/>
              </a:tabLst>
            </a:pPr>
            <a:r>
              <a:rPr sz="1800" spc="-35" dirty="0">
                <a:solidFill>
                  <a:srgbClr val="124F5B"/>
                </a:solidFill>
                <a:latin typeface="Verdana"/>
                <a:cs typeface="Verdana"/>
              </a:rPr>
              <a:t>Rating:</a:t>
            </a:r>
            <a:r>
              <a:rPr sz="1800" spc="-170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-65" dirty="0">
                <a:solidFill>
                  <a:srgbClr val="124F5B"/>
                </a:solidFill>
                <a:latin typeface="Verdana"/>
                <a:cs typeface="Verdana"/>
              </a:rPr>
              <a:t>4-5</a:t>
            </a:r>
            <a:r>
              <a:rPr sz="1800" spc="-170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124F5B"/>
                </a:solidFill>
                <a:latin typeface="AoyagiKouzanFontT"/>
                <a:cs typeface="AoyagiKouzanFontT"/>
              </a:rPr>
              <a:t>⇒</a:t>
            </a:r>
            <a:r>
              <a:rPr sz="1800" spc="-430" dirty="0">
                <a:solidFill>
                  <a:srgbClr val="124F5B"/>
                </a:solidFill>
                <a:latin typeface="AoyagiKouzanFontT"/>
                <a:cs typeface="AoyagiKouzanFontT"/>
              </a:rPr>
              <a:t> </a:t>
            </a:r>
            <a:r>
              <a:rPr sz="1800" spc="-15" dirty="0">
                <a:solidFill>
                  <a:srgbClr val="124F5B"/>
                </a:solidFill>
                <a:latin typeface="Verdana"/>
                <a:cs typeface="Verdana"/>
              </a:rPr>
              <a:t>Top</a:t>
            </a:r>
            <a:r>
              <a:rPr sz="1800" spc="-170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20" dirty="0">
                <a:solidFill>
                  <a:srgbClr val="124F5B"/>
                </a:solidFill>
                <a:latin typeface="Verdana"/>
                <a:cs typeface="Verdana"/>
              </a:rPr>
              <a:t>Rated</a:t>
            </a:r>
            <a:endParaRPr sz="1800">
              <a:latin typeface="Verdana"/>
              <a:cs typeface="Verdana"/>
            </a:endParaRPr>
          </a:p>
          <a:p>
            <a:pPr marL="469900" lvl="1" indent="-367030">
              <a:lnSpc>
                <a:spcPct val="100000"/>
              </a:lnSpc>
              <a:buFont typeface="Arial"/>
              <a:buChar char="●"/>
              <a:tabLst>
                <a:tab pos="469265" algn="l"/>
                <a:tab pos="469900" algn="l"/>
              </a:tabLst>
            </a:pPr>
            <a:r>
              <a:rPr sz="1800" spc="-35" dirty="0">
                <a:solidFill>
                  <a:srgbClr val="124F5B"/>
                </a:solidFill>
                <a:latin typeface="Verdana"/>
                <a:cs typeface="Verdana"/>
              </a:rPr>
              <a:t>Rating:</a:t>
            </a:r>
            <a:r>
              <a:rPr sz="1800" spc="-170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-70" dirty="0">
                <a:solidFill>
                  <a:srgbClr val="124F5B"/>
                </a:solidFill>
                <a:latin typeface="Verdana"/>
                <a:cs typeface="Verdana"/>
              </a:rPr>
              <a:t>3-4</a:t>
            </a:r>
            <a:r>
              <a:rPr sz="1800" spc="-170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124F5B"/>
                </a:solidFill>
                <a:latin typeface="AoyagiKouzanFontT"/>
                <a:cs typeface="AoyagiKouzanFontT"/>
              </a:rPr>
              <a:t>⇒</a:t>
            </a:r>
            <a:r>
              <a:rPr sz="1800" spc="-434" dirty="0">
                <a:solidFill>
                  <a:srgbClr val="124F5B"/>
                </a:solidFill>
                <a:latin typeface="AoyagiKouzanFontT"/>
                <a:cs typeface="AoyagiKouzanFontT"/>
              </a:rPr>
              <a:t> </a:t>
            </a:r>
            <a:r>
              <a:rPr sz="1800" spc="10" dirty="0">
                <a:solidFill>
                  <a:srgbClr val="124F5B"/>
                </a:solidFill>
                <a:latin typeface="Verdana"/>
                <a:cs typeface="Verdana"/>
              </a:rPr>
              <a:t>Above</a:t>
            </a:r>
            <a:r>
              <a:rPr sz="1800" spc="-170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-10" dirty="0">
                <a:solidFill>
                  <a:srgbClr val="124F5B"/>
                </a:solidFill>
                <a:latin typeface="Verdana"/>
                <a:cs typeface="Verdana"/>
              </a:rPr>
              <a:t>Average</a:t>
            </a:r>
            <a:endParaRPr sz="1800">
              <a:latin typeface="Verdana"/>
              <a:cs typeface="Verdana"/>
            </a:endParaRPr>
          </a:p>
          <a:p>
            <a:pPr marL="469900" lvl="1" indent="-367030">
              <a:lnSpc>
                <a:spcPct val="100000"/>
              </a:lnSpc>
              <a:buFont typeface="Arial"/>
              <a:buChar char="●"/>
              <a:tabLst>
                <a:tab pos="469265" algn="l"/>
                <a:tab pos="469900" algn="l"/>
              </a:tabLst>
            </a:pPr>
            <a:r>
              <a:rPr sz="1800" spc="-35" dirty="0">
                <a:solidFill>
                  <a:srgbClr val="124F5B"/>
                </a:solidFill>
                <a:latin typeface="Verdana"/>
                <a:cs typeface="Verdana"/>
              </a:rPr>
              <a:t>Rating: </a:t>
            </a:r>
            <a:r>
              <a:rPr sz="1800" spc="-145" dirty="0">
                <a:solidFill>
                  <a:srgbClr val="124F5B"/>
                </a:solidFill>
                <a:latin typeface="Verdana"/>
                <a:cs typeface="Verdana"/>
              </a:rPr>
              <a:t>2-3 </a:t>
            </a:r>
            <a:r>
              <a:rPr sz="1800" dirty="0">
                <a:solidFill>
                  <a:srgbClr val="124F5B"/>
                </a:solidFill>
                <a:latin typeface="AoyagiKouzanFontT"/>
                <a:cs typeface="AoyagiKouzanFontT"/>
              </a:rPr>
              <a:t>⇒</a:t>
            </a:r>
            <a:r>
              <a:rPr sz="1800" spc="-590" dirty="0">
                <a:solidFill>
                  <a:srgbClr val="124F5B"/>
                </a:solidFill>
                <a:latin typeface="AoyagiKouzanFontT"/>
                <a:cs typeface="AoyagiKouzanFontT"/>
              </a:rPr>
              <a:t> </a:t>
            </a:r>
            <a:r>
              <a:rPr sz="1800" spc="-10" dirty="0">
                <a:solidFill>
                  <a:srgbClr val="124F5B"/>
                </a:solidFill>
                <a:latin typeface="Verdana"/>
                <a:cs typeface="Verdana"/>
              </a:rPr>
              <a:t>Average</a:t>
            </a:r>
            <a:endParaRPr sz="1800">
              <a:latin typeface="Verdana"/>
              <a:cs typeface="Verdana"/>
            </a:endParaRPr>
          </a:p>
          <a:p>
            <a:pPr marL="469900" lvl="1" indent="-367030">
              <a:lnSpc>
                <a:spcPct val="100000"/>
              </a:lnSpc>
              <a:buFont typeface="Arial"/>
              <a:buChar char="●"/>
              <a:tabLst>
                <a:tab pos="469265" algn="l"/>
                <a:tab pos="469900" algn="l"/>
              </a:tabLst>
            </a:pPr>
            <a:r>
              <a:rPr sz="1800" spc="-35" dirty="0">
                <a:solidFill>
                  <a:srgbClr val="124F5B"/>
                </a:solidFill>
                <a:latin typeface="Verdana"/>
                <a:cs typeface="Verdana"/>
              </a:rPr>
              <a:t>Rating: </a:t>
            </a:r>
            <a:r>
              <a:rPr sz="1800" spc="-260" dirty="0">
                <a:solidFill>
                  <a:srgbClr val="124F5B"/>
                </a:solidFill>
                <a:latin typeface="Verdana"/>
                <a:cs typeface="Verdana"/>
              </a:rPr>
              <a:t>1-2 </a:t>
            </a:r>
            <a:r>
              <a:rPr sz="1800" dirty="0">
                <a:solidFill>
                  <a:srgbClr val="124F5B"/>
                </a:solidFill>
                <a:latin typeface="AoyagiKouzanFontT"/>
                <a:cs typeface="AoyagiKouzanFontT"/>
              </a:rPr>
              <a:t>⇒</a:t>
            </a:r>
            <a:r>
              <a:rPr sz="1800" spc="-685" dirty="0">
                <a:solidFill>
                  <a:srgbClr val="124F5B"/>
                </a:solidFill>
                <a:latin typeface="AoyagiKouzanFontT"/>
                <a:cs typeface="AoyagiKouzanFontT"/>
              </a:rPr>
              <a:t> </a:t>
            </a:r>
            <a:r>
              <a:rPr sz="1800" spc="45" dirty="0">
                <a:solidFill>
                  <a:srgbClr val="124F5B"/>
                </a:solidFill>
                <a:latin typeface="Verdana"/>
                <a:cs typeface="Verdana"/>
              </a:rPr>
              <a:t>Below </a:t>
            </a:r>
            <a:r>
              <a:rPr sz="1800" spc="-10" dirty="0">
                <a:solidFill>
                  <a:srgbClr val="124F5B"/>
                </a:solidFill>
                <a:latin typeface="Verdana"/>
                <a:cs typeface="Verdana"/>
              </a:rPr>
              <a:t>Average</a:t>
            </a:r>
            <a:endParaRPr sz="1800">
              <a:latin typeface="Verdana"/>
              <a:cs typeface="Verdana"/>
            </a:endParaRPr>
          </a:p>
          <a:p>
            <a:pPr marL="469265" marR="5080" indent="-457200" algn="just">
              <a:lnSpc>
                <a:spcPct val="100000"/>
              </a:lnSpc>
              <a:buFont typeface="AoyagiKouzanFontT"/>
              <a:buChar char="❏"/>
              <a:tabLst>
                <a:tab pos="469900" algn="l"/>
              </a:tabLst>
            </a:pPr>
            <a:r>
              <a:rPr sz="1800" spc="5" dirty="0">
                <a:solidFill>
                  <a:srgbClr val="124F5B"/>
                </a:solidFill>
                <a:latin typeface="Verdana"/>
                <a:cs typeface="Verdana"/>
              </a:rPr>
              <a:t>The </a:t>
            </a:r>
            <a:r>
              <a:rPr sz="1800" spc="-15" dirty="0">
                <a:solidFill>
                  <a:srgbClr val="124F5B"/>
                </a:solidFill>
                <a:latin typeface="Verdana"/>
                <a:cs typeface="Verdana"/>
              </a:rPr>
              <a:t>majority </a:t>
            </a:r>
            <a:r>
              <a:rPr sz="1800" spc="5" dirty="0">
                <a:solidFill>
                  <a:srgbClr val="124F5B"/>
                </a:solidFill>
                <a:latin typeface="Verdana"/>
                <a:cs typeface="Verdana"/>
              </a:rPr>
              <a:t>of </a:t>
            </a:r>
            <a:r>
              <a:rPr sz="1800" spc="35" dirty="0">
                <a:solidFill>
                  <a:srgbClr val="124F5B"/>
                </a:solidFill>
                <a:latin typeface="Verdana"/>
                <a:cs typeface="Verdana"/>
              </a:rPr>
              <a:t>the </a:t>
            </a:r>
            <a:r>
              <a:rPr sz="1800" spc="30" dirty="0">
                <a:solidFill>
                  <a:srgbClr val="124F5B"/>
                </a:solidFill>
                <a:latin typeface="Verdana"/>
                <a:cs typeface="Verdana"/>
              </a:rPr>
              <a:t>apps in  </a:t>
            </a:r>
            <a:r>
              <a:rPr sz="1800" spc="35" dirty="0">
                <a:solidFill>
                  <a:srgbClr val="124F5B"/>
                </a:solidFill>
                <a:latin typeface="Verdana"/>
                <a:cs typeface="Verdana"/>
              </a:rPr>
              <a:t>the </a:t>
            </a:r>
            <a:r>
              <a:rPr sz="1800" spc="15" dirty="0">
                <a:solidFill>
                  <a:srgbClr val="124F5B"/>
                </a:solidFill>
                <a:latin typeface="Verdana"/>
                <a:cs typeface="Verdana"/>
              </a:rPr>
              <a:t>Play </a:t>
            </a:r>
            <a:r>
              <a:rPr sz="1800" spc="-35" dirty="0">
                <a:solidFill>
                  <a:srgbClr val="124F5B"/>
                </a:solidFill>
                <a:latin typeface="Verdana"/>
                <a:cs typeface="Verdana"/>
              </a:rPr>
              <a:t>Store </a:t>
            </a:r>
            <a:r>
              <a:rPr sz="1800" spc="-220" dirty="0">
                <a:solidFill>
                  <a:srgbClr val="124F5B"/>
                </a:solidFill>
                <a:latin typeface="Verdana"/>
                <a:cs typeface="Verdana"/>
              </a:rPr>
              <a:t>(~80%) </a:t>
            </a:r>
            <a:r>
              <a:rPr sz="1800" spc="-30" dirty="0">
                <a:solidFill>
                  <a:srgbClr val="124F5B"/>
                </a:solidFill>
                <a:latin typeface="Verdana"/>
                <a:cs typeface="Verdana"/>
              </a:rPr>
              <a:t>are </a:t>
            </a:r>
            <a:r>
              <a:rPr sz="1800" spc="40" dirty="0">
                <a:solidFill>
                  <a:srgbClr val="124F5B"/>
                </a:solidFill>
                <a:latin typeface="Verdana"/>
                <a:cs typeface="Verdana"/>
              </a:rPr>
              <a:t>top  </a:t>
            </a:r>
            <a:r>
              <a:rPr sz="1800" spc="-45" dirty="0">
                <a:solidFill>
                  <a:srgbClr val="124F5B"/>
                </a:solidFill>
                <a:latin typeface="Verdana"/>
                <a:cs typeface="Verdana"/>
              </a:rPr>
              <a:t>rated.</a:t>
            </a:r>
            <a:endParaRPr sz="1800">
              <a:latin typeface="Verdana"/>
              <a:cs typeface="Verdana"/>
            </a:endParaRPr>
          </a:p>
          <a:p>
            <a:pPr marL="469265" marR="5080" indent="-457200" algn="just">
              <a:lnSpc>
                <a:spcPct val="100000"/>
              </a:lnSpc>
              <a:buFont typeface="AoyagiKouzanFontT"/>
              <a:buChar char="❏"/>
              <a:tabLst>
                <a:tab pos="469900" algn="l"/>
              </a:tabLst>
            </a:pPr>
            <a:r>
              <a:rPr sz="1800" spc="-20" dirty="0">
                <a:solidFill>
                  <a:srgbClr val="124F5B"/>
                </a:solidFill>
                <a:latin typeface="Verdana"/>
                <a:cs typeface="Verdana"/>
              </a:rPr>
              <a:t>This </a:t>
            </a:r>
            <a:r>
              <a:rPr sz="1800" spc="25" dirty="0">
                <a:solidFill>
                  <a:srgbClr val="124F5B"/>
                </a:solidFill>
                <a:latin typeface="Verdana"/>
                <a:cs typeface="Verdana"/>
              </a:rPr>
              <a:t>implies that </a:t>
            </a:r>
            <a:r>
              <a:rPr sz="1800" spc="35" dirty="0">
                <a:solidFill>
                  <a:srgbClr val="124F5B"/>
                </a:solidFill>
                <a:latin typeface="Verdana"/>
                <a:cs typeface="Verdana"/>
              </a:rPr>
              <a:t>the</a:t>
            </a:r>
            <a:r>
              <a:rPr sz="1800" spc="-260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-15" dirty="0">
                <a:solidFill>
                  <a:srgbClr val="124F5B"/>
                </a:solidFill>
                <a:latin typeface="Verdana"/>
                <a:cs typeface="Verdana"/>
              </a:rPr>
              <a:t>majority  </a:t>
            </a:r>
            <a:r>
              <a:rPr sz="1800" spc="5" dirty="0">
                <a:solidFill>
                  <a:srgbClr val="124F5B"/>
                </a:solidFill>
                <a:latin typeface="Verdana"/>
                <a:cs typeface="Verdana"/>
              </a:rPr>
              <a:t>of </a:t>
            </a:r>
            <a:r>
              <a:rPr sz="1800" spc="35" dirty="0">
                <a:solidFill>
                  <a:srgbClr val="124F5B"/>
                </a:solidFill>
                <a:latin typeface="Verdana"/>
                <a:cs typeface="Verdana"/>
              </a:rPr>
              <a:t>the </a:t>
            </a:r>
            <a:r>
              <a:rPr sz="1800" spc="-20" dirty="0">
                <a:solidFill>
                  <a:srgbClr val="124F5B"/>
                </a:solidFill>
                <a:latin typeface="Verdana"/>
                <a:cs typeface="Verdana"/>
              </a:rPr>
              <a:t>users </a:t>
            </a:r>
            <a:r>
              <a:rPr sz="1800" spc="-30" dirty="0">
                <a:solidFill>
                  <a:srgbClr val="124F5B"/>
                </a:solidFill>
                <a:latin typeface="Verdana"/>
                <a:cs typeface="Verdana"/>
              </a:rPr>
              <a:t>are </a:t>
            </a:r>
            <a:r>
              <a:rPr sz="1800" spc="25" dirty="0">
                <a:solidFill>
                  <a:srgbClr val="124F5B"/>
                </a:solidFill>
                <a:latin typeface="Verdana"/>
                <a:cs typeface="Verdana"/>
              </a:rPr>
              <a:t>happy </a:t>
            </a:r>
            <a:r>
              <a:rPr sz="1800" spc="50" dirty="0">
                <a:solidFill>
                  <a:srgbClr val="124F5B"/>
                </a:solidFill>
                <a:latin typeface="Verdana"/>
                <a:cs typeface="Verdana"/>
              </a:rPr>
              <a:t>with  </a:t>
            </a:r>
            <a:r>
              <a:rPr sz="1800" spc="35" dirty="0">
                <a:solidFill>
                  <a:srgbClr val="124F5B"/>
                </a:solidFill>
                <a:latin typeface="Verdana"/>
                <a:cs typeface="Verdana"/>
              </a:rPr>
              <a:t>the </a:t>
            </a:r>
            <a:r>
              <a:rPr sz="1800" spc="-20" dirty="0">
                <a:solidFill>
                  <a:srgbClr val="124F5B"/>
                </a:solidFill>
                <a:latin typeface="Verdana"/>
                <a:cs typeface="Verdana"/>
              </a:rPr>
              <a:t>services </a:t>
            </a:r>
            <a:r>
              <a:rPr sz="1800" spc="-5" dirty="0">
                <a:solidFill>
                  <a:srgbClr val="124F5B"/>
                </a:solidFill>
                <a:latin typeface="Verdana"/>
                <a:cs typeface="Verdana"/>
              </a:rPr>
              <a:t>received </a:t>
            </a:r>
            <a:r>
              <a:rPr sz="1800" spc="-40" dirty="0">
                <a:solidFill>
                  <a:srgbClr val="124F5B"/>
                </a:solidFill>
                <a:latin typeface="Verdana"/>
                <a:cs typeface="Verdana"/>
              </a:rPr>
              <a:t>via </a:t>
            </a:r>
            <a:r>
              <a:rPr sz="1800" spc="35" dirty="0">
                <a:solidFill>
                  <a:srgbClr val="124F5B"/>
                </a:solidFill>
                <a:latin typeface="Verdana"/>
                <a:cs typeface="Verdana"/>
              </a:rPr>
              <a:t>the  </a:t>
            </a:r>
            <a:r>
              <a:rPr sz="1800" spc="-5" dirty="0">
                <a:solidFill>
                  <a:srgbClr val="124F5B"/>
                </a:solidFill>
                <a:latin typeface="Verdana"/>
                <a:cs typeface="Verdana"/>
              </a:rPr>
              <a:t>respective</a:t>
            </a:r>
            <a:r>
              <a:rPr sz="1800" spc="-170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-35" dirty="0">
                <a:solidFill>
                  <a:srgbClr val="124F5B"/>
                </a:solidFill>
                <a:latin typeface="Verdana"/>
                <a:cs typeface="Verdana"/>
              </a:rPr>
              <a:t>app.</a:t>
            </a:r>
            <a:endParaRPr sz="18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4" y="503825"/>
            <a:ext cx="268033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150" dirty="0"/>
              <a:t>Top </a:t>
            </a:r>
            <a:r>
              <a:rPr sz="2800" spc="-114" dirty="0"/>
              <a:t>Free</a:t>
            </a:r>
            <a:r>
              <a:rPr sz="2800" spc="-265" dirty="0"/>
              <a:t> </a:t>
            </a:r>
            <a:r>
              <a:rPr sz="2800" spc="-65" dirty="0"/>
              <a:t>Apps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384724" y="1175208"/>
            <a:ext cx="4414520" cy="1918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265" marR="9525" indent="-457200" algn="just">
              <a:lnSpc>
                <a:spcPct val="114999"/>
              </a:lnSpc>
              <a:spcBef>
                <a:spcPts val="100"/>
              </a:spcBef>
              <a:buFont typeface="AoyagiKouzanFontT"/>
              <a:buChar char="❏"/>
              <a:tabLst>
                <a:tab pos="469900" algn="l"/>
              </a:tabLst>
            </a:pPr>
            <a:r>
              <a:rPr sz="1800" spc="-10" dirty="0">
                <a:solidFill>
                  <a:srgbClr val="124F5B"/>
                </a:solidFill>
                <a:latin typeface="Verdana"/>
                <a:cs typeface="Verdana"/>
              </a:rPr>
              <a:t>There </a:t>
            </a:r>
            <a:r>
              <a:rPr sz="1800" spc="-30" dirty="0">
                <a:solidFill>
                  <a:srgbClr val="124F5B"/>
                </a:solidFill>
                <a:latin typeface="Verdana"/>
                <a:cs typeface="Verdana"/>
              </a:rPr>
              <a:t>are </a:t>
            </a:r>
            <a:r>
              <a:rPr sz="1800" spc="-20" dirty="0">
                <a:solidFill>
                  <a:srgbClr val="124F5B"/>
                </a:solidFill>
                <a:latin typeface="Verdana"/>
                <a:cs typeface="Verdana"/>
              </a:rPr>
              <a:t>a </a:t>
            </a:r>
            <a:r>
              <a:rPr sz="1800" dirty="0">
                <a:solidFill>
                  <a:srgbClr val="124F5B"/>
                </a:solidFill>
                <a:latin typeface="Verdana"/>
                <a:cs typeface="Verdana"/>
              </a:rPr>
              <a:t>total </a:t>
            </a:r>
            <a:r>
              <a:rPr sz="1800" spc="5" dirty="0">
                <a:solidFill>
                  <a:srgbClr val="124F5B"/>
                </a:solidFill>
                <a:latin typeface="Verdana"/>
                <a:cs typeface="Verdana"/>
              </a:rPr>
              <a:t>of </a:t>
            </a:r>
            <a:r>
              <a:rPr sz="1800" b="1" spc="-145" dirty="0">
                <a:solidFill>
                  <a:srgbClr val="124F5B"/>
                </a:solidFill>
                <a:latin typeface="Verdana"/>
                <a:cs typeface="Verdana"/>
              </a:rPr>
              <a:t>20 </a:t>
            </a:r>
            <a:r>
              <a:rPr sz="1800" spc="15" dirty="0">
                <a:solidFill>
                  <a:srgbClr val="124F5B"/>
                </a:solidFill>
                <a:latin typeface="Verdana"/>
                <a:cs typeface="Verdana"/>
              </a:rPr>
              <a:t>free </a:t>
            </a:r>
            <a:r>
              <a:rPr sz="1800" spc="30" dirty="0">
                <a:solidFill>
                  <a:srgbClr val="124F5B"/>
                </a:solidFill>
                <a:latin typeface="Verdana"/>
                <a:cs typeface="Verdana"/>
              </a:rPr>
              <a:t>apps  </a:t>
            </a:r>
            <a:r>
              <a:rPr sz="1800" spc="50" dirty="0">
                <a:solidFill>
                  <a:srgbClr val="124F5B"/>
                </a:solidFill>
                <a:latin typeface="Verdana"/>
                <a:cs typeface="Verdana"/>
              </a:rPr>
              <a:t>with</a:t>
            </a:r>
            <a:r>
              <a:rPr sz="1800" spc="-450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-40" dirty="0">
                <a:solidFill>
                  <a:srgbClr val="124F5B"/>
                </a:solidFill>
                <a:latin typeface="Verdana"/>
                <a:cs typeface="Verdana"/>
              </a:rPr>
              <a:t>over </a:t>
            </a:r>
            <a:r>
              <a:rPr sz="1800" b="1" spc="-50" dirty="0">
                <a:solidFill>
                  <a:srgbClr val="124F5B"/>
                </a:solidFill>
                <a:latin typeface="Verdana"/>
                <a:cs typeface="Verdana"/>
              </a:rPr>
              <a:t>one </a:t>
            </a:r>
            <a:r>
              <a:rPr sz="1800" b="1" spc="-60" dirty="0">
                <a:solidFill>
                  <a:srgbClr val="124F5B"/>
                </a:solidFill>
                <a:latin typeface="Verdana"/>
                <a:cs typeface="Verdana"/>
              </a:rPr>
              <a:t>billion </a:t>
            </a:r>
            <a:r>
              <a:rPr sz="1800" spc="-40" dirty="0">
                <a:solidFill>
                  <a:srgbClr val="124F5B"/>
                </a:solidFill>
                <a:latin typeface="Verdana"/>
                <a:cs typeface="Verdana"/>
              </a:rPr>
              <a:t>installs.</a:t>
            </a:r>
            <a:endParaRPr sz="1800">
              <a:latin typeface="Verdana"/>
              <a:cs typeface="Verdana"/>
            </a:endParaRPr>
          </a:p>
          <a:p>
            <a:pPr marL="469265" marR="5080" indent="-457200" algn="just">
              <a:lnSpc>
                <a:spcPct val="114999"/>
              </a:lnSpc>
              <a:buFont typeface="AoyagiKouzanFontT"/>
              <a:buChar char="❏"/>
              <a:tabLst>
                <a:tab pos="469900" algn="l"/>
              </a:tabLst>
            </a:pPr>
            <a:r>
              <a:rPr sz="1800" spc="5" dirty="0">
                <a:solidFill>
                  <a:srgbClr val="124F5B"/>
                </a:solidFill>
                <a:latin typeface="Verdana"/>
                <a:cs typeface="Verdana"/>
              </a:rPr>
              <a:t>The </a:t>
            </a:r>
            <a:r>
              <a:rPr sz="1800" spc="40" dirty="0">
                <a:solidFill>
                  <a:srgbClr val="124F5B"/>
                </a:solidFill>
                <a:latin typeface="Verdana"/>
                <a:cs typeface="Verdana"/>
              </a:rPr>
              <a:t>top </a:t>
            </a:r>
            <a:r>
              <a:rPr sz="1800" spc="5" dirty="0">
                <a:solidFill>
                  <a:srgbClr val="124F5B"/>
                </a:solidFill>
                <a:latin typeface="Verdana"/>
                <a:cs typeface="Verdana"/>
              </a:rPr>
              <a:t>categories </a:t>
            </a:r>
            <a:r>
              <a:rPr sz="1800" spc="30" dirty="0">
                <a:solidFill>
                  <a:srgbClr val="124F5B"/>
                </a:solidFill>
                <a:latin typeface="Verdana"/>
                <a:cs typeface="Verdana"/>
              </a:rPr>
              <a:t>in </a:t>
            </a:r>
            <a:r>
              <a:rPr sz="1800" spc="60" dirty="0">
                <a:solidFill>
                  <a:srgbClr val="124F5B"/>
                </a:solidFill>
                <a:latin typeface="Verdana"/>
                <a:cs typeface="Verdana"/>
              </a:rPr>
              <a:t>which</a:t>
            </a:r>
            <a:r>
              <a:rPr sz="1800" spc="-280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10" dirty="0">
                <a:solidFill>
                  <a:srgbClr val="124F5B"/>
                </a:solidFill>
                <a:latin typeface="Verdana"/>
                <a:cs typeface="Verdana"/>
              </a:rPr>
              <a:t>these  </a:t>
            </a:r>
            <a:r>
              <a:rPr sz="1800" spc="30" dirty="0">
                <a:solidFill>
                  <a:srgbClr val="124F5B"/>
                </a:solidFill>
                <a:latin typeface="Verdana"/>
                <a:cs typeface="Verdana"/>
              </a:rPr>
              <a:t>apps </a:t>
            </a:r>
            <a:r>
              <a:rPr sz="1800" spc="-25" dirty="0">
                <a:solidFill>
                  <a:srgbClr val="124F5B"/>
                </a:solidFill>
                <a:latin typeface="Verdana"/>
                <a:cs typeface="Verdana"/>
              </a:rPr>
              <a:t>fall </a:t>
            </a:r>
            <a:r>
              <a:rPr sz="1800" spc="-30" dirty="0">
                <a:solidFill>
                  <a:srgbClr val="124F5B"/>
                </a:solidFill>
                <a:latin typeface="Verdana"/>
                <a:cs typeface="Verdana"/>
              </a:rPr>
              <a:t>are </a:t>
            </a:r>
            <a:r>
              <a:rPr sz="1800" b="1" spc="-80" dirty="0">
                <a:solidFill>
                  <a:srgbClr val="124F5B"/>
                </a:solidFill>
                <a:latin typeface="Verdana"/>
                <a:cs typeface="Verdana"/>
              </a:rPr>
              <a:t>Communication</a:t>
            </a:r>
            <a:r>
              <a:rPr sz="1800" spc="-80" dirty="0">
                <a:solidFill>
                  <a:srgbClr val="124F5B"/>
                </a:solidFill>
                <a:latin typeface="Verdana"/>
                <a:cs typeface="Verdana"/>
              </a:rPr>
              <a:t>(6),  </a:t>
            </a:r>
            <a:r>
              <a:rPr sz="1800" b="1" spc="-130" dirty="0">
                <a:solidFill>
                  <a:srgbClr val="124F5B"/>
                </a:solidFill>
                <a:latin typeface="Verdana"/>
                <a:cs typeface="Verdana"/>
              </a:rPr>
              <a:t>Social</a:t>
            </a:r>
            <a:r>
              <a:rPr sz="1800" spc="-130" dirty="0">
                <a:solidFill>
                  <a:srgbClr val="124F5B"/>
                </a:solidFill>
                <a:latin typeface="Verdana"/>
                <a:cs typeface="Verdana"/>
              </a:rPr>
              <a:t>(3), </a:t>
            </a:r>
            <a:r>
              <a:rPr sz="1800" b="1" spc="-50" dirty="0">
                <a:solidFill>
                  <a:srgbClr val="124F5B"/>
                </a:solidFill>
                <a:latin typeface="Verdana"/>
                <a:cs typeface="Verdana"/>
              </a:rPr>
              <a:t>Video </a:t>
            </a:r>
            <a:r>
              <a:rPr sz="1800" b="1" spc="-135" dirty="0">
                <a:solidFill>
                  <a:srgbClr val="124F5B"/>
                </a:solidFill>
                <a:latin typeface="Verdana"/>
                <a:cs typeface="Verdana"/>
              </a:rPr>
              <a:t>Players</a:t>
            </a:r>
            <a:r>
              <a:rPr sz="1800" spc="-135" dirty="0">
                <a:solidFill>
                  <a:srgbClr val="124F5B"/>
                </a:solidFill>
                <a:latin typeface="Verdana"/>
                <a:cs typeface="Verdana"/>
              </a:rPr>
              <a:t>(2), </a:t>
            </a:r>
            <a:r>
              <a:rPr sz="1800" b="1" spc="-110" dirty="0">
                <a:solidFill>
                  <a:srgbClr val="124F5B"/>
                </a:solidFill>
                <a:latin typeface="Verdana"/>
                <a:cs typeface="Verdana"/>
              </a:rPr>
              <a:t>Travel  </a:t>
            </a:r>
            <a:r>
              <a:rPr sz="1800" b="1" spc="-50" dirty="0">
                <a:solidFill>
                  <a:srgbClr val="124F5B"/>
                </a:solidFill>
                <a:latin typeface="Verdana"/>
                <a:cs typeface="Verdana"/>
              </a:rPr>
              <a:t>and</a:t>
            </a:r>
            <a:r>
              <a:rPr sz="1800" b="1" spc="-114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b="1" spc="-130" dirty="0">
                <a:solidFill>
                  <a:srgbClr val="124F5B"/>
                </a:solidFill>
                <a:latin typeface="Verdana"/>
                <a:cs typeface="Verdana"/>
              </a:rPr>
              <a:t>Local</a:t>
            </a:r>
            <a:r>
              <a:rPr sz="1800" spc="-130" dirty="0">
                <a:solidFill>
                  <a:srgbClr val="124F5B"/>
                </a:solidFill>
                <a:latin typeface="Verdana"/>
                <a:cs typeface="Verdana"/>
              </a:rPr>
              <a:t>(2).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174689" y="1121297"/>
            <a:ext cx="3657592" cy="347874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392359" y="3206743"/>
            <a:ext cx="2410682" cy="193674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4" y="503825"/>
            <a:ext cx="8306434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150" dirty="0"/>
              <a:t>Top </a:t>
            </a:r>
            <a:r>
              <a:rPr sz="2800" spc="-80" dirty="0"/>
              <a:t>Paid </a:t>
            </a:r>
            <a:r>
              <a:rPr sz="2800" spc="-65" dirty="0"/>
              <a:t>Apps </a:t>
            </a:r>
            <a:r>
              <a:rPr sz="2800" spc="-85" dirty="0"/>
              <a:t>Based </a:t>
            </a:r>
            <a:r>
              <a:rPr sz="2800" spc="-75" dirty="0"/>
              <a:t>on </a:t>
            </a:r>
            <a:r>
              <a:rPr sz="2800" spc="-110" dirty="0"/>
              <a:t>Revenue</a:t>
            </a:r>
            <a:r>
              <a:rPr sz="2800" spc="-580" dirty="0"/>
              <a:t> </a:t>
            </a:r>
            <a:r>
              <a:rPr sz="2800" spc="-105" dirty="0"/>
              <a:t>Generated</a:t>
            </a:r>
            <a:endParaRPr sz="2800"/>
          </a:p>
        </p:txBody>
      </p:sp>
      <p:sp>
        <p:nvSpPr>
          <p:cNvPr id="3" name="object 3"/>
          <p:cNvSpPr txBox="1">
            <a:spLocks noGrp="1"/>
          </p:cNvSpPr>
          <p:nvPr>
            <p:ph sz="half" idx="2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265" marR="25400" indent="-457200" algn="just">
              <a:lnSpc>
                <a:spcPct val="114999"/>
              </a:lnSpc>
              <a:spcBef>
                <a:spcPts val="100"/>
              </a:spcBef>
              <a:buFont typeface="AoyagiKouzanFontT"/>
              <a:buChar char="❏"/>
              <a:tabLst>
                <a:tab pos="469900" algn="l"/>
              </a:tabLst>
            </a:pPr>
            <a:r>
              <a:rPr spc="15" dirty="0"/>
              <a:t>Revenue </a:t>
            </a:r>
            <a:r>
              <a:rPr spc="25" dirty="0"/>
              <a:t>generated </a:t>
            </a:r>
            <a:r>
              <a:rPr spc="-35" dirty="0"/>
              <a:t>is  </a:t>
            </a:r>
            <a:r>
              <a:rPr spc="15" dirty="0"/>
              <a:t>given</a:t>
            </a:r>
            <a:r>
              <a:rPr spc="-175" dirty="0"/>
              <a:t> </a:t>
            </a:r>
            <a:r>
              <a:rPr spc="-15" dirty="0"/>
              <a:t>by</a:t>
            </a:r>
            <a:r>
              <a:rPr spc="-170" dirty="0"/>
              <a:t> </a:t>
            </a:r>
            <a:r>
              <a:rPr spc="35" dirty="0"/>
              <a:t>the</a:t>
            </a:r>
            <a:r>
              <a:rPr spc="-170" dirty="0"/>
              <a:t> </a:t>
            </a:r>
            <a:r>
              <a:rPr spc="-40" dirty="0"/>
              <a:t>formula:</a:t>
            </a:r>
          </a:p>
          <a:p>
            <a:pPr marL="12700" algn="just">
              <a:lnSpc>
                <a:spcPct val="100000"/>
              </a:lnSpc>
              <a:spcBef>
                <a:spcPts val="320"/>
              </a:spcBef>
            </a:pPr>
            <a:r>
              <a:rPr b="1" spc="-75" dirty="0">
                <a:latin typeface="Verdana"/>
                <a:cs typeface="Verdana"/>
              </a:rPr>
              <a:t>Revenue </a:t>
            </a:r>
            <a:r>
              <a:rPr b="1" spc="-484" dirty="0">
                <a:latin typeface="Verdana"/>
                <a:cs typeface="Verdana"/>
              </a:rPr>
              <a:t>= </a:t>
            </a:r>
            <a:r>
              <a:rPr b="1" spc="-120" dirty="0">
                <a:latin typeface="Verdana"/>
                <a:cs typeface="Verdana"/>
              </a:rPr>
              <a:t>Installs </a:t>
            </a:r>
            <a:r>
              <a:rPr b="1" spc="-500" dirty="0">
                <a:latin typeface="Verdana"/>
                <a:cs typeface="Verdana"/>
              </a:rPr>
              <a:t>*</a:t>
            </a:r>
            <a:r>
              <a:rPr b="1" spc="-395" dirty="0">
                <a:latin typeface="Verdana"/>
                <a:cs typeface="Verdana"/>
              </a:rPr>
              <a:t> </a:t>
            </a:r>
            <a:r>
              <a:rPr b="1" spc="-60" dirty="0">
                <a:latin typeface="Verdana"/>
                <a:cs typeface="Verdana"/>
              </a:rPr>
              <a:t>Price</a:t>
            </a:r>
          </a:p>
          <a:p>
            <a:pPr marL="469265" marR="5080" indent="-457200" algn="just">
              <a:lnSpc>
                <a:spcPct val="114999"/>
              </a:lnSpc>
              <a:buFont typeface="AoyagiKouzanFontT"/>
              <a:buChar char="❏"/>
              <a:tabLst>
                <a:tab pos="469900" algn="l"/>
              </a:tabLst>
            </a:pPr>
            <a:r>
              <a:rPr spc="35" dirty="0"/>
              <a:t>Note </a:t>
            </a:r>
            <a:r>
              <a:rPr spc="25" dirty="0"/>
              <a:t>that </a:t>
            </a:r>
            <a:r>
              <a:rPr spc="30" dirty="0"/>
              <a:t>in </a:t>
            </a:r>
            <a:r>
              <a:rPr spc="5" dirty="0"/>
              <a:t>this </a:t>
            </a:r>
            <a:r>
              <a:rPr spc="-55" dirty="0"/>
              <a:t>case,  </a:t>
            </a:r>
            <a:r>
              <a:rPr spc="-5" dirty="0"/>
              <a:t>revenue </a:t>
            </a:r>
            <a:r>
              <a:rPr spc="-35" dirty="0"/>
              <a:t>refers </a:t>
            </a:r>
            <a:r>
              <a:rPr spc="10" dirty="0"/>
              <a:t>to </a:t>
            </a:r>
            <a:r>
              <a:rPr spc="35" dirty="0"/>
              <a:t>the  money </a:t>
            </a:r>
            <a:r>
              <a:rPr spc="15" dirty="0"/>
              <a:t>earned </a:t>
            </a:r>
            <a:r>
              <a:rPr dirty="0"/>
              <a:t>only</a:t>
            </a:r>
            <a:r>
              <a:rPr spc="-380" dirty="0"/>
              <a:t> </a:t>
            </a:r>
            <a:r>
              <a:rPr spc="60" dirty="0"/>
              <a:t>from  </a:t>
            </a:r>
            <a:r>
              <a:rPr spc="35" dirty="0"/>
              <a:t>paid </a:t>
            </a:r>
            <a:r>
              <a:rPr spc="55" dirty="0"/>
              <a:t>app</a:t>
            </a:r>
            <a:r>
              <a:rPr spc="-370" dirty="0"/>
              <a:t> </a:t>
            </a:r>
            <a:r>
              <a:rPr spc="-40" dirty="0"/>
              <a:t>installs.</a:t>
            </a:r>
          </a:p>
          <a:p>
            <a:pPr marL="469265" marR="20320" indent="-457200" algn="just">
              <a:lnSpc>
                <a:spcPct val="114999"/>
              </a:lnSpc>
              <a:buFont typeface="AoyagiKouzanFontT"/>
              <a:buChar char="❏"/>
              <a:tabLst>
                <a:tab pos="469900" algn="l"/>
              </a:tabLst>
            </a:pPr>
            <a:r>
              <a:rPr spc="5" dirty="0"/>
              <a:t>The </a:t>
            </a:r>
            <a:r>
              <a:rPr spc="40" dirty="0"/>
              <a:t>top </a:t>
            </a:r>
            <a:r>
              <a:rPr spc="5" dirty="0"/>
              <a:t>categories </a:t>
            </a:r>
            <a:r>
              <a:rPr spc="30" dirty="0"/>
              <a:t>in  </a:t>
            </a:r>
            <a:r>
              <a:rPr spc="60" dirty="0"/>
              <a:t>which</a:t>
            </a:r>
            <a:r>
              <a:rPr spc="-459" dirty="0"/>
              <a:t> </a:t>
            </a:r>
            <a:r>
              <a:rPr spc="10" dirty="0"/>
              <a:t>these </a:t>
            </a:r>
            <a:r>
              <a:rPr spc="30" dirty="0"/>
              <a:t>apps </a:t>
            </a:r>
            <a:r>
              <a:rPr spc="-25" dirty="0"/>
              <a:t>fall </a:t>
            </a:r>
            <a:r>
              <a:rPr spc="-30" dirty="0"/>
              <a:t>are  </a:t>
            </a:r>
            <a:r>
              <a:rPr b="1" spc="-120" dirty="0">
                <a:latin typeface="Verdana"/>
                <a:cs typeface="Verdana"/>
              </a:rPr>
              <a:t>Lifestyle</a:t>
            </a:r>
            <a:r>
              <a:rPr spc="-120" dirty="0"/>
              <a:t>(5), </a:t>
            </a:r>
            <a:r>
              <a:rPr b="1" spc="-130" dirty="0">
                <a:latin typeface="Verdana"/>
                <a:cs typeface="Verdana"/>
              </a:rPr>
              <a:t>Family</a:t>
            </a:r>
            <a:r>
              <a:rPr spc="-130" dirty="0"/>
              <a:t>(5),  </a:t>
            </a:r>
            <a:r>
              <a:rPr b="1" spc="-50" dirty="0">
                <a:latin typeface="Verdana"/>
                <a:cs typeface="Verdana"/>
              </a:rPr>
              <a:t>and</a:t>
            </a:r>
            <a:r>
              <a:rPr b="1" spc="-114" dirty="0">
                <a:latin typeface="Verdana"/>
                <a:cs typeface="Verdana"/>
              </a:rPr>
              <a:t> </a:t>
            </a:r>
            <a:r>
              <a:rPr b="1" spc="-120" dirty="0">
                <a:latin typeface="Verdana"/>
                <a:cs typeface="Verdana"/>
              </a:rPr>
              <a:t>Game</a:t>
            </a:r>
            <a:r>
              <a:rPr spc="-120" dirty="0"/>
              <a:t>(4).</a:t>
            </a:r>
          </a:p>
        </p:txBody>
      </p:sp>
      <p:sp>
        <p:nvSpPr>
          <p:cNvPr id="4" name="object 4"/>
          <p:cNvSpPr/>
          <p:nvPr/>
        </p:nvSpPr>
        <p:spPr>
          <a:xfrm>
            <a:off x="3803042" y="3113268"/>
            <a:ext cx="5340939" cy="201776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4645015" y="1040458"/>
            <a:ext cx="4105275" cy="1918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265" marR="5080" indent="-457200" algn="just">
              <a:lnSpc>
                <a:spcPct val="114999"/>
              </a:lnSpc>
              <a:spcBef>
                <a:spcPts val="100"/>
              </a:spcBef>
              <a:buFont typeface="AoyagiKouzanFontT"/>
              <a:buChar char="❏"/>
              <a:tabLst>
                <a:tab pos="469900" algn="l"/>
              </a:tabLst>
            </a:pPr>
            <a:r>
              <a:rPr sz="1800" b="1" spc="-75" dirty="0">
                <a:solidFill>
                  <a:srgbClr val="124F5B"/>
                </a:solidFill>
                <a:latin typeface="Verdana"/>
                <a:cs typeface="Verdana"/>
              </a:rPr>
              <a:t>Minecraft</a:t>
            </a:r>
            <a:r>
              <a:rPr sz="1800" spc="-75" dirty="0">
                <a:solidFill>
                  <a:srgbClr val="124F5B"/>
                </a:solidFill>
                <a:latin typeface="Verdana"/>
                <a:cs typeface="Verdana"/>
              </a:rPr>
              <a:t>, </a:t>
            </a:r>
            <a:r>
              <a:rPr sz="1800" b="1" spc="-395" dirty="0">
                <a:solidFill>
                  <a:srgbClr val="124F5B"/>
                </a:solidFill>
                <a:latin typeface="Verdana"/>
                <a:cs typeface="Verdana"/>
              </a:rPr>
              <a:t>I </a:t>
            </a:r>
            <a:r>
              <a:rPr sz="1800" b="1" spc="-55" dirty="0">
                <a:solidFill>
                  <a:srgbClr val="124F5B"/>
                </a:solidFill>
                <a:latin typeface="Verdana"/>
                <a:cs typeface="Verdana"/>
              </a:rPr>
              <a:t>am </a:t>
            </a:r>
            <a:r>
              <a:rPr sz="1800" b="1" spc="-105" dirty="0">
                <a:solidFill>
                  <a:srgbClr val="124F5B"/>
                </a:solidFill>
                <a:latin typeface="Verdana"/>
                <a:cs typeface="Verdana"/>
              </a:rPr>
              <a:t>rich</a:t>
            </a:r>
            <a:r>
              <a:rPr sz="1800" spc="-105" dirty="0">
                <a:solidFill>
                  <a:srgbClr val="124F5B"/>
                </a:solidFill>
                <a:latin typeface="Verdana"/>
                <a:cs typeface="Verdana"/>
              </a:rPr>
              <a:t>, </a:t>
            </a:r>
            <a:r>
              <a:rPr sz="1800" spc="50" dirty="0">
                <a:solidFill>
                  <a:srgbClr val="124F5B"/>
                </a:solidFill>
                <a:latin typeface="Verdana"/>
                <a:cs typeface="Verdana"/>
              </a:rPr>
              <a:t>and </a:t>
            </a:r>
            <a:r>
              <a:rPr sz="1800" b="1" spc="-395" dirty="0">
                <a:solidFill>
                  <a:srgbClr val="124F5B"/>
                </a:solidFill>
                <a:latin typeface="Verdana"/>
                <a:cs typeface="Verdana"/>
              </a:rPr>
              <a:t>I </a:t>
            </a:r>
            <a:r>
              <a:rPr sz="1800" b="1" spc="-55" dirty="0">
                <a:solidFill>
                  <a:srgbClr val="124F5B"/>
                </a:solidFill>
                <a:latin typeface="Verdana"/>
                <a:cs typeface="Verdana"/>
              </a:rPr>
              <a:t>am  </a:t>
            </a:r>
            <a:r>
              <a:rPr sz="1800" b="1" spc="-65" dirty="0">
                <a:solidFill>
                  <a:srgbClr val="124F5B"/>
                </a:solidFill>
                <a:latin typeface="Verdana"/>
                <a:cs typeface="Verdana"/>
              </a:rPr>
              <a:t>rich </a:t>
            </a:r>
            <a:r>
              <a:rPr sz="1800" b="1" spc="-55" dirty="0">
                <a:solidFill>
                  <a:srgbClr val="124F5B"/>
                </a:solidFill>
                <a:latin typeface="Verdana"/>
                <a:cs typeface="Verdana"/>
              </a:rPr>
              <a:t>premium </a:t>
            </a:r>
            <a:r>
              <a:rPr sz="1800" spc="-30" dirty="0">
                <a:solidFill>
                  <a:srgbClr val="124F5B"/>
                </a:solidFill>
                <a:latin typeface="Verdana"/>
                <a:cs typeface="Verdana"/>
              </a:rPr>
              <a:t>are </a:t>
            </a:r>
            <a:r>
              <a:rPr sz="1800" spc="35" dirty="0">
                <a:solidFill>
                  <a:srgbClr val="124F5B"/>
                </a:solidFill>
                <a:latin typeface="Verdana"/>
                <a:cs typeface="Verdana"/>
              </a:rPr>
              <a:t>the </a:t>
            </a:r>
            <a:r>
              <a:rPr sz="1800" spc="40" dirty="0">
                <a:solidFill>
                  <a:srgbClr val="124F5B"/>
                </a:solidFill>
                <a:latin typeface="Verdana"/>
                <a:cs typeface="Verdana"/>
              </a:rPr>
              <a:t>top </a:t>
            </a:r>
            <a:r>
              <a:rPr sz="1800" spc="35" dirty="0">
                <a:solidFill>
                  <a:srgbClr val="124F5B"/>
                </a:solidFill>
                <a:latin typeface="Verdana"/>
                <a:cs typeface="Verdana"/>
              </a:rPr>
              <a:t>paid  </a:t>
            </a:r>
            <a:r>
              <a:rPr sz="1800" spc="30" dirty="0">
                <a:solidFill>
                  <a:srgbClr val="124F5B"/>
                </a:solidFill>
                <a:latin typeface="Verdana"/>
                <a:cs typeface="Verdana"/>
              </a:rPr>
              <a:t>apps </a:t>
            </a:r>
            <a:r>
              <a:rPr sz="1800" spc="25" dirty="0">
                <a:solidFill>
                  <a:srgbClr val="124F5B"/>
                </a:solidFill>
                <a:latin typeface="Verdana"/>
                <a:cs typeface="Verdana"/>
              </a:rPr>
              <a:t>based </a:t>
            </a:r>
            <a:r>
              <a:rPr sz="1800" spc="55" dirty="0">
                <a:solidFill>
                  <a:srgbClr val="124F5B"/>
                </a:solidFill>
                <a:latin typeface="Verdana"/>
                <a:cs typeface="Verdana"/>
              </a:rPr>
              <a:t>on </a:t>
            </a:r>
            <a:r>
              <a:rPr sz="1800" spc="-5" dirty="0">
                <a:solidFill>
                  <a:srgbClr val="124F5B"/>
                </a:solidFill>
                <a:latin typeface="Verdana"/>
                <a:cs typeface="Verdana"/>
              </a:rPr>
              <a:t>revenue  generated.</a:t>
            </a:r>
            <a:endParaRPr sz="1800">
              <a:latin typeface="Verdana"/>
              <a:cs typeface="Verdana"/>
            </a:endParaRPr>
          </a:p>
          <a:p>
            <a:pPr marL="469265" marR="14604" indent="-457200" algn="just">
              <a:lnSpc>
                <a:spcPct val="114999"/>
              </a:lnSpc>
              <a:buFont typeface="AoyagiKouzanFontT"/>
              <a:buChar char="❏"/>
              <a:tabLst>
                <a:tab pos="469900" algn="l"/>
              </a:tabLst>
            </a:pPr>
            <a:r>
              <a:rPr sz="1800" b="1" spc="-55" dirty="0">
                <a:solidFill>
                  <a:srgbClr val="124F5B"/>
                </a:solidFill>
                <a:latin typeface="Verdana"/>
                <a:cs typeface="Verdana"/>
              </a:rPr>
              <a:t>Minecraft </a:t>
            </a:r>
            <a:r>
              <a:rPr sz="1800" spc="-35" dirty="0">
                <a:solidFill>
                  <a:srgbClr val="124F5B"/>
                </a:solidFill>
                <a:latin typeface="Verdana"/>
                <a:cs typeface="Verdana"/>
              </a:rPr>
              <a:t>is </a:t>
            </a:r>
            <a:r>
              <a:rPr sz="1800" spc="35" dirty="0">
                <a:solidFill>
                  <a:srgbClr val="124F5B"/>
                </a:solidFill>
                <a:latin typeface="Verdana"/>
                <a:cs typeface="Verdana"/>
              </a:rPr>
              <a:t>the </a:t>
            </a:r>
            <a:r>
              <a:rPr sz="1800" dirty="0">
                <a:solidFill>
                  <a:srgbClr val="124F5B"/>
                </a:solidFill>
                <a:latin typeface="Verdana"/>
                <a:cs typeface="Verdana"/>
              </a:rPr>
              <a:t>only </a:t>
            </a:r>
            <a:r>
              <a:rPr sz="1800" spc="55" dirty="0">
                <a:solidFill>
                  <a:srgbClr val="124F5B"/>
                </a:solidFill>
                <a:latin typeface="Verdana"/>
                <a:cs typeface="Verdana"/>
              </a:rPr>
              <a:t>app </a:t>
            </a:r>
            <a:r>
              <a:rPr sz="1800" spc="25" dirty="0">
                <a:solidFill>
                  <a:srgbClr val="124F5B"/>
                </a:solidFill>
                <a:latin typeface="Verdana"/>
                <a:cs typeface="Verdana"/>
              </a:rPr>
              <a:t>that  </a:t>
            </a:r>
            <a:r>
              <a:rPr sz="1800" dirty="0">
                <a:solidFill>
                  <a:srgbClr val="124F5B"/>
                </a:solidFill>
                <a:latin typeface="Verdana"/>
                <a:cs typeface="Verdana"/>
              </a:rPr>
              <a:t>has </a:t>
            </a:r>
            <a:r>
              <a:rPr sz="1800" spc="-40" dirty="0">
                <a:solidFill>
                  <a:srgbClr val="124F5B"/>
                </a:solidFill>
                <a:latin typeface="Verdana"/>
                <a:cs typeface="Verdana"/>
              </a:rPr>
              <a:t>over </a:t>
            </a:r>
            <a:r>
              <a:rPr sz="1800" b="1" spc="-210" dirty="0">
                <a:solidFill>
                  <a:srgbClr val="124F5B"/>
                </a:solidFill>
                <a:latin typeface="Verdana"/>
                <a:cs typeface="Verdana"/>
              </a:rPr>
              <a:t>10M</a:t>
            </a:r>
            <a:r>
              <a:rPr sz="1800" b="1" spc="-409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-40" dirty="0">
                <a:solidFill>
                  <a:srgbClr val="124F5B"/>
                </a:solidFill>
                <a:latin typeface="Verdana"/>
                <a:cs typeface="Verdana"/>
              </a:rPr>
              <a:t>installs.</a:t>
            </a:r>
            <a:endParaRPr sz="18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4" y="503825"/>
            <a:ext cx="833882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120" dirty="0"/>
              <a:t>Average </a:t>
            </a:r>
            <a:r>
              <a:rPr sz="2800" spc="-95" dirty="0"/>
              <a:t>Price of </a:t>
            </a:r>
            <a:r>
              <a:rPr sz="2800" spc="-80" dirty="0"/>
              <a:t>Paid </a:t>
            </a:r>
            <a:r>
              <a:rPr sz="2800" spc="-65" dirty="0"/>
              <a:t>Apps </a:t>
            </a:r>
            <a:r>
              <a:rPr sz="2800" spc="-90" dirty="0"/>
              <a:t>in </a:t>
            </a:r>
            <a:r>
              <a:rPr sz="2800" spc="-65" dirty="0"/>
              <a:t>Each</a:t>
            </a:r>
            <a:r>
              <a:rPr sz="2800" spc="-625" dirty="0"/>
              <a:t> </a:t>
            </a:r>
            <a:r>
              <a:rPr sz="2800" spc="-90" dirty="0"/>
              <a:t>Category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384724" y="1175208"/>
            <a:ext cx="3553460" cy="1918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265" marR="5080" indent="-457200">
              <a:lnSpc>
                <a:spcPct val="114999"/>
              </a:lnSpc>
              <a:spcBef>
                <a:spcPts val="100"/>
              </a:spcBef>
              <a:tabLst>
                <a:tab pos="469265" algn="l"/>
                <a:tab pos="1139190" algn="l"/>
                <a:tab pos="1457325" algn="l"/>
                <a:tab pos="1705610" algn="l"/>
                <a:tab pos="1771650" algn="l"/>
                <a:tab pos="1890395" algn="l"/>
                <a:tab pos="2475230" algn="l"/>
                <a:tab pos="2640965" algn="l"/>
                <a:tab pos="2692400" algn="l"/>
                <a:tab pos="2999105" algn="l"/>
                <a:tab pos="3027045" algn="l"/>
                <a:tab pos="3154045" algn="l"/>
                <a:tab pos="3176905" algn="l"/>
              </a:tabLst>
            </a:pPr>
            <a:r>
              <a:rPr sz="1800" dirty="0">
                <a:solidFill>
                  <a:srgbClr val="124F5B"/>
                </a:solidFill>
                <a:latin typeface="AoyagiKouzanFontT"/>
                <a:cs typeface="AoyagiKouzanFontT"/>
              </a:rPr>
              <a:t>❏	</a:t>
            </a:r>
            <a:r>
              <a:rPr sz="1800" dirty="0">
                <a:solidFill>
                  <a:srgbClr val="124F5B"/>
                </a:solidFill>
                <a:latin typeface="Verdana"/>
                <a:cs typeface="Verdana"/>
              </a:rPr>
              <a:t>Th</a:t>
            </a:r>
            <a:r>
              <a:rPr sz="1800" spc="10" dirty="0">
                <a:solidFill>
                  <a:srgbClr val="124F5B"/>
                </a:solidFill>
                <a:latin typeface="Verdana"/>
                <a:cs typeface="Verdana"/>
              </a:rPr>
              <a:t>e	</a:t>
            </a:r>
            <a:r>
              <a:rPr sz="1800" spc="85" dirty="0">
                <a:solidFill>
                  <a:srgbClr val="124F5B"/>
                </a:solidFill>
                <a:latin typeface="Verdana"/>
                <a:cs typeface="Verdana"/>
              </a:rPr>
              <a:t>p</a:t>
            </a:r>
            <a:r>
              <a:rPr sz="1800" spc="20" dirty="0">
                <a:solidFill>
                  <a:srgbClr val="124F5B"/>
                </a:solidFill>
                <a:latin typeface="Verdana"/>
                <a:cs typeface="Verdana"/>
              </a:rPr>
              <a:t>aid</a:t>
            </a:r>
            <a:r>
              <a:rPr sz="1800" dirty="0">
                <a:solidFill>
                  <a:srgbClr val="124F5B"/>
                </a:solidFill>
                <a:latin typeface="Verdana"/>
                <a:cs typeface="Verdana"/>
              </a:rPr>
              <a:t>			</a:t>
            </a:r>
            <a:r>
              <a:rPr sz="1800" spc="30" dirty="0">
                <a:solidFill>
                  <a:srgbClr val="124F5B"/>
                </a:solidFill>
                <a:latin typeface="Verdana"/>
                <a:cs typeface="Verdana"/>
              </a:rPr>
              <a:t>apps</a:t>
            </a:r>
            <a:r>
              <a:rPr sz="1800" dirty="0">
                <a:solidFill>
                  <a:srgbClr val="124F5B"/>
                </a:solidFill>
                <a:latin typeface="Verdana"/>
                <a:cs typeface="Verdana"/>
              </a:rPr>
              <a:t>			</a:t>
            </a:r>
            <a:r>
              <a:rPr sz="1800" spc="30" dirty="0">
                <a:solidFill>
                  <a:srgbClr val="124F5B"/>
                </a:solidFill>
                <a:latin typeface="Verdana"/>
                <a:cs typeface="Verdana"/>
              </a:rPr>
              <a:t>in</a:t>
            </a:r>
            <a:r>
              <a:rPr sz="1800" dirty="0">
                <a:solidFill>
                  <a:srgbClr val="124F5B"/>
                </a:solidFill>
                <a:latin typeface="Verdana"/>
                <a:cs typeface="Verdana"/>
              </a:rPr>
              <a:t>			</a:t>
            </a:r>
            <a:r>
              <a:rPr sz="1800" spc="50" dirty="0">
                <a:solidFill>
                  <a:srgbClr val="124F5B"/>
                </a:solidFill>
                <a:latin typeface="Verdana"/>
                <a:cs typeface="Verdana"/>
              </a:rPr>
              <a:t>th</a:t>
            </a:r>
            <a:r>
              <a:rPr sz="1800" spc="10" dirty="0">
                <a:solidFill>
                  <a:srgbClr val="124F5B"/>
                </a:solidFill>
                <a:latin typeface="Verdana"/>
                <a:cs typeface="Verdana"/>
              </a:rPr>
              <a:t>e  </a:t>
            </a:r>
            <a:r>
              <a:rPr sz="1800" b="1" spc="-80" dirty="0">
                <a:solidFill>
                  <a:srgbClr val="124F5B"/>
                </a:solidFill>
                <a:latin typeface="Verdana"/>
                <a:cs typeface="Verdana"/>
              </a:rPr>
              <a:t>Finance</a:t>
            </a:r>
            <a:r>
              <a:rPr sz="1800" spc="-80" dirty="0">
                <a:solidFill>
                  <a:srgbClr val="124F5B"/>
                </a:solidFill>
                <a:latin typeface="Verdana"/>
                <a:cs typeface="Verdana"/>
              </a:rPr>
              <a:t>,	</a:t>
            </a:r>
            <a:r>
              <a:rPr sz="1800" b="1" spc="-95" dirty="0">
                <a:solidFill>
                  <a:srgbClr val="124F5B"/>
                </a:solidFill>
                <a:latin typeface="Verdana"/>
                <a:cs typeface="Verdana"/>
              </a:rPr>
              <a:t>Lifestyle</a:t>
            </a:r>
            <a:r>
              <a:rPr sz="1800" spc="-95" dirty="0">
                <a:solidFill>
                  <a:srgbClr val="124F5B"/>
                </a:solidFill>
                <a:latin typeface="Verdana"/>
                <a:cs typeface="Verdana"/>
              </a:rPr>
              <a:t>,	</a:t>
            </a:r>
            <a:r>
              <a:rPr sz="1800" spc="50" dirty="0">
                <a:solidFill>
                  <a:srgbClr val="124F5B"/>
                </a:solidFill>
                <a:latin typeface="Verdana"/>
                <a:cs typeface="Verdana"/>
              </a:rPr>
              <a:t>and  </a:t>
            </a:r>
            <a:r>
              <a:rPr sz="1800" b="1" spc="-70" dirty="0">
                <a:solidFill>
                  <a:srgbClr val="124F5B"/>
                </a:solidFill>
                <a:latin typeface="Verdana"/>
                <a:cs typeface="Verdana"/>
              </a:rPr>
              <a:t>Events	</a:t>
            </a:r>
            <a:r>
              <a:rPr sz="1800" spc="10" dirty="0">
                <a:solidFill>
                  <a:srgbClr val="124F5B"/>
                </a:solidFill>
                <a:latin typeface="Verdana"/>
                <a:cs typeface="Verdana"/>
              </a:rPr>
              <a:t>category		</a:t>
            </a:r>
            <a:r>
              <a:rPr sz="1800" spc="-30" dirty="0">
                <a:solidFill>
                  <a:srgbClr val="124F5B"/>
                </a:solidFill>
                <a:latin typeface="Verdana"/>
                <a:cs typeface="Verdana"/>
              </a:rPr>
              <a:t>are			</a:t>
            </a:r>
            <a:r>
              <a:rPr sz="1800" spc="55" dirty="0">
                <a:solidFill>
                  <a:srgbClr val="124F5B"/>
                </a:solidFill>
                <a:latin typeface="Verdana"/>
                <a:cs typeface="Verdana"/>
              </a:rPr>
              <a:t>on  </a:t>
            </a:r>
            <a:r>
              <a:rPr sz="1800" spc="-15" dirty="0">
                <a:solidFill>
                  <a:srgbClr val="124F5B"/>
                </a:solidFill>
                <a:latin typeface="Verdana"/>
                <a:cs typeface="Verdana"/>
              </a:rPr>
              <a:t>average </a:t>
            </a:r>
            <a:r>
              <a:rPr sz="1800" spc="20" dirty="0">
                <a:solidFill>
                  <a:srgbClr val="124F5B"/>
                </a:solidFill>
                <a:latin typeface="Verdana"/>
                <a:cs typeface="Verdana"/>
              </a:rPr>
              <a:t>signiﬁcantly</a:t>
            </a:r>
            <a:r>
              <a:rPr sz="1800" spc="-215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30" dirty="0">
                <a:solidFill>
                  <a:srgbClr val="124F5B"/>
                </a:solidFill>
                <a:latin typeface="Verdana"/>
                <a:cs typeface="Verdana"/>
              </a:rPr>
              <a:t>more  </a:t>
            </a:r>
            <a:r>
              <a:rPr sz="1800" spc="-20" dirty="0">
                <a:solidFill>
                  <a:srgbClr val="124F5B"/>
                </a:solidFill>
                <a:latin typeface="Verdana"/>
                <a:cs typeface="Verdana"/>
              </a:rPr>
              <a:t>e</a:t>
            </a:r>
            <a:r>
              <a:rPr sz="1800" spc="-10" dirty="0">
                <a:solidFill>
                  <a:srgbClr val="124F5B"/>
                </a:solidFill>
                <a:latin typeface="Verdana"/>
                <a:cs typeface="Verdana"/>
              </a:rPr>
              <a:t>xpensi</a:t>
            </a:r>
            <a:r>
              <a:rPr sz="1800" spc="-45" dirty="0">
                <a:solidFill>
                  <a:srgbClr val="124F5B"/>
                </a:solidFill>
                <a:latin typeface="Verdana"/>
                <a:cs typeface="Verdana"/>
              </a:rPr>
              <a:t>v</a:t>
            </a:r>
            <a:r>
              <a:rPr sz="1800" spc="10" dirty="0">
                <a:solidFill>
                  <a:srgbClr val="124F5B"/>
                </a:solidFill>
                <a:latin typeface="Verdana"/>
                <a:cs typeface="Verdana"/>
              </a:rPr>
              <a:t>e</a:t>
            </a:r>
            <a:r>
              <a:rPr sz="1800" dirty="0">
                <a:solidFill>
                  <a:srgbClr val="124F5B"/>
                </a:solidFill>
                <a:latin typeface="Verdana"/>
                <a:cs typeface="Verdana"/>
              </a:rPr>
              <a:t>		</a:t>
            </a:r>
            <a:r>
              <a:rPr sz="1800" spc="40" dirty="0">
                <a:solidFill>
                  <a:srgbClr val="124F5B"/>
                </a:solidFill>
                <a:latin typeface="Verdana"/>
                <a:cs typeface="Verdana"/>
              </a:rPr>
              <a:t>than</a:t>
            </a:r>
            <a:r>
              <a:rPr sz="1800" dirty="0">
                <a:solidFill>
                  <a:srgbClr val="124F5B"/>
                </a:solidFill>
                <a:latin typeface="Verdana"/>
                <a:cs typeface="Verdana"/>
              </a:rPr>
              <a:t>	</a:t>
            </a:r>
            <a:r>
              <a:rPr sz="1800" spc="50" dirty="0">
                <a:solidFill>
                  <a:srgbClr val="124F5B"/>
                </a:solidFill>
                <a:latin typeface="Verdana"/>
                <a:cs typeface="Verdana"/>
              </a:rPr>
              <a:t>th</a:t>
            </a:r>
            <a:r>
              <a:rPr sz="1800" spc="10" dirty="0">
                <a:solidFill>
                  <a:srgbClr val="124F5B"/>
                </a:solidFill>
                <a:latin typeface="Verdana"/>
                <a:cs typeface="Verdana"/>
              </a:rPr>
              <a:t>e</a:t>
            </a:r>
            <a:r>
              <a:rPr sz="1800" dirty="0">
                <a:solidFill>
                  <a:srgbClr val="124F5B"/>
                </a:solidFill>
                <a:latin typeface="Verdana"/>
                <a:cs typeface="Verdana"/>
              </a:rPr>
              <a:t>		</a:t>
            </a:r>
            <a:r>
              <a:rPr sz="1800" spc="85" dirty="0">
                <a:solidFill>
                  <a:srgbClr val="124F5B"/>
                </a:solidFill>
                <a:latin typeface="Verdana"/>
                <a:cs typeface="Verdana"/>
              </a:rPr>
              <a:t>p</a:t>
            </a:r>
            <a:r>
              <a:rPr sz="1800" spc="20" dirty="0">
                <a:solidFill>
                  <a:srgbClr val="124F5B"/>
                </a:solidFill>
                <a:latin typeface="Verdana"/>
                <a:cs typeface="Verdana"/>
              </a:rPr>
              <a:t>aid  </a:t>
            </a:r>
            <a:r>
              <a:rPr sz="1800" spc="30" dirty="0">
                <a:solidFill>
                  <a:srgbClr val="124F5B"/>
                </a:solidFill>
                <a:latin typeface="Verdana"/>
                <a:cs typeface="Verdana"/>
              </a:rPr>
              <a:t>apps</a:t>
            </a:r>
            <a:r>
              <a:rPr sz="1800" spc="-175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30" dirty="0">
                <a:solidFill>
                  <a:srgbClr val="124F5B"/>
                </a:solidFill>
                <a:latin typeface="Verdana"/>
                <a:cs typeface="Verdana"/>
              </a:rPr>
              <a:t>in</a:t>
            </a:r>
            <a:r>
              <a:rPr sz="1800" spc="-170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20" dirty="0">
                <a:solidFill>
                  <a:srgbClr val="124F5B"/>
                </a:solidFill>
                <a:latin typeface="Verdana"/>
                <a:cs typeface="Verdana"/>
              </a:rPr>
              <a:t>other</a:t>
            </a:r>
            <a:r>
              <a:rPr sz="1800" spc="-170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-20" dirty="0">
                <a:solidFill>
                  <a:srgbClr val="124F5B"/>
                </a:solidFill>
                <a:latin typeface="Verdana"/>
                <a:cs typeface="Verdana"/>
              </a:rPr>
              <a:t>categories.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254191" y="1152472"/>
            <a:ext cx="4578090" cy="356394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09048" y="3293507"/>
            <a:ext cx="2316069" cy="184538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4" y="503825"/>
            <a:ext cx="355409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75" dirty="0"/>
              <a:t>Most </a:t>
            </a:r>
            <a:r>
              <a:rPr sz="2800" spc="-95" dirty="0"/>
              <a:t>Popular</a:t>
            </a:r>
            <a:r>
              <a:rPr sz="2800" spc="-340" dirty="0"/>
              <a:t> </a:t>
            </a:r>
            <a:r>
              <a:rPr sz="2800" spc="-65" dirty="0"/>
              <a:t>Apps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384724" y="1040458"/>
            <a:ext cx="8361045" cy="16027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265" marR="22860" indent="-457200" algn="just">
              <a:lnSpc>
                <a:spcPct val="114999"/>
              </a:lnSpc>
              <a:spcBef>
                <a:spcPts val="100"/>
              </a:spcBef>
              <a:buFont typeface="AoyagiKouzanFontT"/>
              <a:buChar char="❏"/>
              <a:tabLst>
                <a:tab pos="469900" algn="l"/>
              </a:tabLst>
            </a:pPr>
            <a:r>
              <a:rPr sz="1800" spc="65" dirty="0">
                <a:solidFill>
                  <a:srgbClr val="124F5B"/>
                </a:solidFill>
                <a:latin typeface="Verdana"/>
                <a:cs typeface="Verdana"/>
              </a:rPr>
              <a:t>We </a:t>
            </a:r>
            <a:r>
              <a:rPr sz="1800" spc="45" dirty="0">
                <a:solidFill>
                  <a:srgbClr val="124F5B"/>
                </a:solidFill>
                <a:latin typeface="Verdana"/>
                <a:cs typeface="Verdana"/>
              </a:rPr>
              <a:t>can </a:t>
            </a:r>
            <a:r>
              <a:rPr sz="1800" spc="-15" dirty="0">
                <a:solidFill>
                  <a:srgbClr val="124F5B"/>
                </a:solidFill>
                <a:latin typeface="Verdana"/>
                <a:cs typeface="Verdana"/>
              </a:rPr>
              <a:t>state </a:t>
            </a:r>
            <a:r>
              <a:rPr sz="1800" spc="25" dirty="0">
                <a:solidFill>
                  <a:srgbClr val="124F5B"/>
                </a:solidFill>
                <a:latin typeface="Verdana"/>
                <a:cs typeface="Verdana"/>
              </a:rPr>
              <a:t>that </a:t>
            </a:r>
            <a:r>
              <a:rPr sz="1800" spc="35" dirty="0">
                <a:solidFill>
                  <a:srgbClr val="124F5B"/>
                </a:solidFill>
                <a:latin typeface="Verdana"/>
                <a:cs typeface="Verdana"/>
              </a:rPr>
              <a:t>the </a:t>
            </a:r>
            <a:r>
              <a:rPr sz="1800" spc="30" dirty="0">
                <a:solidFill>
                  <a:srgbClr val="124F5B"/>
                </a:solidFill>
                <a:latin typeface="Verdana"/>
                <a:cs typeface="Verdana"/>
              </a:rPr>
              <a:t>apps </a:t>
            </a:r>
            <a:r>
              <a:rPr sz="1800" spc="50" dirty="0">
                <a:solidFill>
                  <a:srgbClr val="124F5B"/>
                </a:solidFill>
                <a:latin typeface="Verdana"/>
                <a:cs typeface="Verdana"/>
              </a:rPr>
              <a:t>with </a:t>
            </a:r>
            <a:r>
              <a:rPr sz="1800" spc="30" dirty="0">
                <a:solidFill>
                  <a:srgbClr val="124F5B"/>
                </a:solidFill>
                <a:latin typeface="Verdana"/>
                <a:cs typeface="Verdana"/>
              </a:rPr>
              <a:t>more </a:t>
            </a:r>
            <a:r>
              <a:rPr sz="1800" spc="-55" dirty="0">
                <a:solidFill>
                  <a:srgbClr val="124F5B"/>
                </a:solidFill>
                <a:latin typeface="Verdana"/>
                <a:cs typeface="Verdana"/>
              </a:rPr>
              <a:t>reviews, </a:t>
            </a:r>
            <a:r>
              <a:rPr sz="1800" spc="35" dirty="0">
                <a:solidFill>
                  <a:srgbClr val="124F5B"/>
                </a:solidFill>
                <a:latin typeface="Verdana"/>
                <a:cs typeface="Verdana"/>
              </a:rPr>
              <a:t>whether </a:t>
            </a:r>
            <a:r>
              <a:rPr sz="1800" spc="-35" dirty="0">
                <a:solidFill>
                  <a:srgbClr val="124F5B"/>
                </a:solidFill>
                <a:latin typeface="Verdana"/>
                <a:cs typeface="Verdana"/>
              </a:rPr>
              <a:t>positive,  </a:t>
            </a:r>
            <a:r>
              <a:rPr sz="1800" spc="-20" dirty="0">
                <a:solidFill>
                  <a:srgbClr val="124F5B"/>
                </a:solidFill>
                <a:latin typeface="Verdana"/>
                <a:cs typeface="Verdana"/>
              </a:rPr>
              <a:t>negative,</a:t>
            </a:r>
            <a:r>
              <a:rPr sz="1800" spc="-165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-10" dirty="0">
                <a:solidFill>
                  <a:srgbClr val="124F5B"/>
                </a:solidFill>
                <a:latin typeface="Verdana"/>
                <a:cs typeface="Verdana"/>
              </a:rPr>
              <a:t>or</a:t>
            </a:r>
            <a:r>
              <a:rPr sz="1800" spc="-165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-25" dirty="0">
                <a:solidFill>
                  <a:srgbClr val="124F5B"/>
                </a:solidFill>
                <a:latin typeface="Verdana"/>
                <a:cs typeface="Verdana"/>
              </a:rPr>
              <a:t>neutral,</a:t>
            </a:r>
            <a:r>
              <a:rPr sz="1800" spc="-165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-30" dirty="0">
                <a:solidFill>
                  <a:srgbClr val="124F5B"/>
                </a:solidFill>
                <a:latin typeface="Verdana"/>
                <a:cs typeface="Verdana"/>
              </a:rPr>
              <a:t>are</a:t>
            </a:r>
            <a:r>
              <a:rPr sz="1800" spc="-165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30" dirty="0">
                <a:solidFill>
                  <a:srgbClr val="124F5B"/>
                </a:solidFill>
                <a:latin typeface="Verdana"/>
                <a:cs typeface="Verdana"/>
              </a:rPr>
              <a:t>more</a:t>
            </a:r>
            <a:r>
              <a:rPr sz="1800" spc="-165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30" dirty="0">
                <a:solidFill>
                  <a:srgbClr val="124F5B"/>
                </a:solidFill>
                <a:latin typeface="Verdana"/>
                <a:cs typeface="Verdana"/>
              </a:rPr>
              <a:t>popular</a:t>
            </a:r>
            <a:r>
              <a:rPr sz="1800" spc="-165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40" dirty="0">
                <a:solidFill>
                  <a:srgbClr val="124F5B"/>
                </a:solidFill>
                <a:latin typeface="Verdana"/>
                <a:cs typeface="Verdana"/>
              </a:rPr>
              <a:t>than</a:t>
            </a:r>
            <a:r>
              <a:rPr sz="1800" spc="-165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35" dirty="0">
                <a:solidFill>
                  <a:srgbClr val="124F5B"/>
                </a:solidFill>
                <a:latin typeface="Verdana"/>
                <a:cs typeface="Verdana"/>
              </a:rPr>
              <a:t>the</a:t>
            </a:r>
            <a:r>
              <a:rPr sz="1800" spc="-165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-35" dirty="0">
                <a:solidFill>
                  <a:srgbClr val="124F5B"/>
                </a:solidFill>
                <a:latin typeface="Verdana"/>
                <a:cs typeface="Verdana"/>
              </a:rPr>
              <a:t>others.</a:t>
            </a:r>
            <a:endParaRPr sz="1800">
              <a:latin typeface="Verdana"/>
              <a:cs typeface="Verdana"/>
            </a:endParaRPr>
          </a:p>
          <a:p>
            <a:pPr marL="469265" marR="5080" indent="-457200" algn="just">
              <a:lnSpc>
                <a:spcPct val="114999"/>
              </a:lnSpc>
              <a:buFont typeface="AoyagiKouzanFontT"/>
              <a:buChar char="❏"/>
              <a:tabLst>
                <a:tab pos="469900" algn="l"/>
              </a:tabLst>
            </a:pPr>
            <a:r>
              <a:rPr sz="1800" spc="-20" dirty="0">
                <a:solidFill>
                  <a:srgbClr val="124F5B"/>
                </a:solidFill>
                <a:latin typeface="Verdana"/>
                <a:cs typeface="Verdana"/>
              </a:rPr>
              <a:t>This </a:t>
            </a:r>
            <a:r>
              <a:rPr sz="1800" spc="-35" dirty="0">
                <a:solidFill>
                  <a:srgbClr val="124F5B"/>
                </a:solidFill>
                <a:latin typeface="Verdana"/>
                <a:cs typeface="Verdana"/>
              </a:rPr>
              <a:t>is </a:t>
            </a:r>
            <a:r>
              <a:rPr sz="1800" spc="25" dirty="0">
                <a:solidFill>
                  <a:srgbClr val="124F5B"/>
                </a:solidFill>
                <a:latin typeface="Verdana"/>
                <a:cs typeface="Verdana"/>
              </a:rPr>
              <a:t>because </a:t>
            </a:r>
            <a:r>
              <a:rPr sz="1800" spc="35" dirty="0">
                <a:solidFill>
                  <a:srgbClr val="124F5B"/>
                </a:solidFill>
                <a:latin typeface="Verdana"/>
                <a:cs typeface="Verdana"/>
              </a:rPr>
              <a:t>the </a:t>
            </a:r>
            <a:r>
              <a:rPr sz="1800" spc="60" dirty="0">
                <a:solidFill>
                  <a:srgbClr val="124F5B"/>
                </a:solidFill>
                <a:latin typeface="Verdana"/>
                <a:cs typeface="Verdana"/>
              </a:rPr>
              <a:t>number </a:t>
            </a:r>
            <a:r>
              <a:rPr sz="1800" spc="5" dirty="0">
                <a:solidFill>
                  <a:srgbClr val="124F5B"/>
                </a:solidFill>
                <a:latin typeface="Verdana"/>
                <a:cs typeface="Verdana"/>
              </a:rPr>
              <a:t>of </a:t>
            </a:r>
            <a:r>
              <a:rPr sz="1800" spc="-5" dirty="0">
                <a:solidFill>
                  <a:srgbClr val="124F5B"/>
                </a:solidFill>
                <a:latin typeface="Verdana"/>
                <a:cs typeface="Verdana"/>
              </a:rPr>
              <a:t>user </a:t>
            </a:r>
            <a:r>
              <a:rPr sz="1800" spc="-25" dirty="0">
                <a:solidFill>
                  <a:srgbClr val="124F5B"/>
                </a:solidFill>
                <a:latin typeface="Verdana"/>
                <a:cs typeface="Verdana"/>
              </a:rPr>
              <a:t>reviews </a:t>
            </a:r>
            <a:r>
              <a:rPr sz="1800" spc="15" dirty="0">
                <a:solidFill>
                  <a:srgbClr val="124F5B"/>
                </a:solidFill>
                <a:latin typeface="Verdana"/>
                <a:cs typeface="Verdana"/>
              </a:rPr>
              <a:t>indicates </a:t>
            </a:r>
            <a:r>
              <a:rPr sz="1800" spc="25" dirty="0">
                <a:solidFill>
                  <a:srgbClr val="124F5B"/>
                </a:solidFill>
                <a:latin typeface="Verdana"/>
                <a:cs typeface="Verdana"/>
              </a:rPr>
              <a:t>that </a:t>
            </a:r>
            <a:r>
              <a:rPr sz="1800" spc="10" dirty="0">
                <a:solidFill>
                  <a:srgbClr val="124F5B"/>
                </a:solidFill>
                <a:latin typeface="Verdana"/>
                <a:cs typeface="Verdana"/>
              </a:rPr>
              <a:t>these  individuals </a:t>
            </a:r>
            <a:r>
              <a:rPr sz="1800" spc="-20" dirty="0">
                <a:solidFill>
                  <a:srgbClr val="124F5B"/>
                </a:solidFill>
                <a:latin typeface="Verdana"/>
                <a:cs typeface="Verdana"/>
              </a:rPr>
              <a:t>have </a:t>
            </a:r>
            <a:r>
              <a:rPr sz="1800" spc="55" dirty="0">
                <a:solidFill>
                  <a:srgbClr val="124F5B"/>
                </a:solidFill>
                <a:latin typeface="Verdana"/>
                <a:cs typeface="Verdana"/>
              </a:rPr>
              <a:t>engaged </a:t>
            </a:r>
            <a:r>
              <a:rPr sz="1800" spc="50" dirty="0">
                <a:solidFill>
                  <a:srgbClr val="124F5B"/>
                </a:solidFill>
                <a:latin typeface="Verdana"/>
                <a:cs typeface="Verdana"/>
              </a:rPr>
              <a:t>with </a:t>
            </a:r>
            <a:r>
              <a:rPr sz="1800" spc="35" dirty="0">
                <a:solidFill>
                  <a:srgbClr val="124F5B"/>
                </a:solidFill>
                <a:latin typeface="Verdana"/>
                <a:cs typeface="Verdana"/>
              </a:rPr>
              <a:t>the </a:t>
            </a:r>
            <a:r>
              <a:rPr sz="1800" spc="-10" dirty="0">
                <a:solidFill>
                  <a:srgbClr val="124F5B"/>
                </a:solidFill>
                <a:latin typeface="Verdana"/>
                <a:cs typeface="Verdana"/>
              </a:rPr>
              <a:t>app's </a:t>
            </a:r>
            <a:r>
              <a:rPr sz="1800" spc="35" dirty="0">
                <a:solidFill>
                  <a:srgbClr val="124F5B"/>
                </a:solidFill>
                <a:latin typeface="Verdana"/>
                <a:cs typeface="Verdana"/>
              </a:rPr>
              <a:t>content </a:t>
            </a:r>
            <a:r>
              <a:rPr sz="1800" spc="50" dirty="0">
                <a:solidFill>
                  <a:srgbClr val="124F5B"/>
                </a:solidFill>
                <a:latin typeface="Verdana"/>
                <a:cs typeface="Verdana"/>
              </a:rPr>
              <a:t>and </a:t>
            </a:r>
            <a:r>
              <a:rPr sz="1800" spc="-20" dirty="0">
                <a:solidFill>
                  <a:srgbClr val="124F5B"/>
                </a:solidFill>
                <a:latin typeface="Verdana"/>
                <a:cs typeface="Verdana"/>
              </a:rPr>
              <a:t>have </a:t>
            </a:r>
            <a:r>
              <a:rPr sz="1800" spc="15" dirty="0">
                <a:solidFill>
                  <a:srgbClr val="124F5B"/>
                </a:solidFill>
                <a:latin typeface="Verdana"/>
                <a:cs typeface="Verdana"/>
              </a:rPr>
              <a:t>written  </a:t>
            </a:r>
            <a:r>
              <a:rPr sz="1800" spc="10" dirty="0">
                <a:solidFill>
                  <a:srgbClr val="124F5B"/>
                </a:solidFill>
                <a:latin typeface="Verdana"/>
                <a:cs typeface="Verdana"/>
              </a:rPr>
              <a:t>their</a:t>
            </a:r>
            <a:r>
              <a:rPr sz="1800" spc="-170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30" dirty="0">
                <a:solidFill>
                  <a:srgbClr val="124F5B"/>
                </a:solidFill>
                <a:latin typeface="Verdana"/>
                <a:cs typeface="Verdana"/>
              </a:rPr>
              <a:t>opinions</a:t>
            </a:r>
            <a:r>
              <a:rPr sz="1800" spc="-165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55" dirty="0">
                <a:solidFill>
                  <a:srgbClr val="124F5B"/>
                </a:solidFill>
                <a:latin typeface="Verdana"/>
                <a:cs typeface="Verdana"/>
              </a:rPr>
              <a:t>on</a:t>
            </a:r>
            <a:r>
              <a:rPr sz="1800" spc="-165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-85" dirty="0">
                <a:solidFill>
                  <a:srgbClr val="124F5B"/>
                </a:solidFill>
                <a:latin typeface="Verdana"/>
                <a:cs typeface="Verdana"/>
              </a:rPr>
              <a:t>it.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04035" y="2630344"/>
            <a:ext cx="6935898" cy="251314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208291" y="66524"/>
            <a:ext cx="4935855" cy="5056505"/>
            <a:chOff x="4208291" y="66524"/>
            <a:chExt cx="4935855" cy="5056505"/>
          </a:xfrm>
        </p:grpSpPr>
        <p:sp>
          <p:nvSpPr>
            <p:cNvPr id="3" name="object 3"/>
            <p:cNvSpPr/>
            <p:nvPr/>
          </p:nvSpPr>
          <p:spPr>
            <a:xfrm>
              <a:off x="4281866" y="275466"/>
              <a:ext cx="4862115" cy="1615671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4250266" y="1891151"/>
              <a:ext cx="4864860" cy="1615666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208291" y="3506817"/>
              <a:ext cx="4912490" cy="1615671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384724" y="503825"/>
            <a:ext cx="327787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30" dirty="0"/>
              <a:t>App </a:t>
            </a:r>
            <a:r>
              <a:rPr sz="2800" spc="-145" dirty="0"/>
              <a:t>Size</a:t>
            </a:r>
            <a:r>
              <a:rPr sz="2800" spc="-370" dirty="0"/>
              <a:t> </a:t>
            </a:r>
            <a:r>
              <a:rPr sz="2800" spc="-125" dirty="0"/>
              <a:t>Analysis</a:t>
            </a:r>
            <a:endParaRPr sz="2800"/>
          </a:p>
        </p:txBody>
      </p:sp>
      <p:sp>
        <p:nvSpPr>
          <p:cNvPr id="7" name="object 7"/>
          <p:cNvSpPr txBox="1"/>
          <p:nvPr/>
        </p:nvSpPr>
        <p:spPr>
          <a:xfrm>
            <a:off x="384724" y="1081606"/>
            <a:ext cx="3676015" cy="24942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265" marR="11430" indent="-457200" algn="just">
              <a:lnSpc>
                <a:spcPct val="100000"/>
              </a:lnSpc>
              <a:spcBef>
                <a:spcPts val="100"/>
              </a:spcBef>
              <a:buFont typeface="AoyagiKouzanFontT"/>
              <a:buChar char="❏"/>
              <a:tabLst>
                <a:tab pos="469900" algn="l"/>
              </a:tabLst>
            </a:pPr>
            <a:r>
              <a:rPr sz="1800" spc="5" dirty="0">
                <a:solidFill>
                  <a:srgbClr val="124F5B"/>
                </a:solidFill>
                <a:latin typeface="Verdana"/>
                <a:cs typeface="Verdana"/>
              </a:rPr>
              <a:t>The </a:t>
            </a:r>
            <a:r>
              <a:rPr sz="1800" spc="30" dirty="0">
                <a:solidFill>
                  <a:srgbClr val="124F5B"/>
                </a:solidFill>
                <a:latin typeface="Verdana"/>
                <a:cs typeface="Verdana"/>
              </a:rPr>
              <a:t>apps </a:t>
            </a:r>
            <a:r>
              <a:rPr sz="1800" spc="-30" dirty="0">
                <a:solidFill>
                  <a:srgbClr val="124F5B"/>
                </a:solidFill>
                <a:latin typeface="Verdana"/>
                <a:cs typeface="Verdana"/>
              </a:rPr>
              <a:t>are </a:t>
            </a:r>
            <a:r>
              <a:rPr sz="1800" spc="15" dirty="0">
                <a:solidFill>
                  <a:srgbClr val="124F5B"/>
                </a:solidFill>
                <a:latin typeface="Verdana"/>
                <a:cs typeface="Verdana"/>
              </a:rPr>
              <a:t>categorized  </a:t>
            </a:r>
            <a:r>
              <a:rPr sz="1800" spc="25" dirty="0">
                <a:solidFill>
                  <a:srgbClr val="124F5B"/>
                </a:solidFill>
                <a:latin typeface="Verdana"/>
                <a:cs typeface="Verdana"/>
              </a:rPr>
              <a:t>based </a:t>
            </a:r>
            <a:r>
              <a:rPr sz="1800" spc="55" dirty="0">
                <a:solidFill>
                  <a:srgbClr val="124F5B"/>
                </a:solidFill>
                <a:latin typeface="Verdana"/>
                <a:cs typeface="Verdana"/>
              </a:rPr>
              <a:t>on </a:t>
            </a:r>
            <a:r>
              <a:rPr sz="1800" spc="-20" dirty="0">
                <a:solidFill>
                  <a:srgbClr val="124F5B"/>
                </a:solidFill>
                <a:latin typeface="Verdana"/>
                <a:cs typeface="Verdana"/>
              </a:rPr>
              <a:t>its </a:t>
            </a:r>
            <a:r>
              <a:rPr sz="1800" spc="-25" dirty="0">
                <a:solidFill>
                  <a:srgbClr val="124F5B"/>
                </a:solidFill>
                <a:latin typeface="Verdana"/>
                <a:cs typeface="Verdana"/>
              </a:rPr>
              <a:t>size</a:t>
            </a:r>
            <a:r>
              <a:rPr sz="1800" spc="-75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40" dirty="0">
                <a:solidFill>
                  <a:srgbClr val="124F5B"/>
                </a:solidFill>
                <a:latin typeface="Verdana"/>
                <a:cs typeface="Verdana"/>
              </a:rPr>
              <a:t>between</a:t>
            </a:r>
            <a:endParaRPr sz="1800">
              <a:latin typeface="Verdana"/>
              <a:cs typeface="Verdana"/>
            </a:endParaRPr>
          </a:p>
          <a:p>
            <a:pPr marL="469265" marR="5080" algn="just">
              <a:lnSpc>
                <a:spcPct val="100000"/>
              </a:lnSpc>
            </a:pPr>
            <a:r>
              <a:rPr sz="1800" spc="-195" dirty="0">
                <a:solidFill>
                  <a:srgbClr val="124F5B"/>
                </a:solidFill>
                <a:latin typeface="Verdana"/>
                <a:cs typeface="Verdana"/>
              </a:rPr>
              <a:t>~0 </a:t>
            </a:r>
            <a:r>
              <a:rPr sz="1800" spc="10" dirty="0">
                <a:solidFill>
                  <a:srgbClr val="124F5B"/>
                </a:solidFill>
                <a:latin typeface="Verdana"/>
                <a:cs typeface="Verdana"/>
              </a:rPr>
              <a:t>to</a:t>
            </a:r>
            <a:r>
              <a:rPr sz="1800" spc="650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-135" dirty="0">
                <a:solidFill>
                  <a:srgbClr val="124F5B"/>
                </a:solidFill>
                <a:latin typeface="Verdana"/>
                <a:cs typeface="Verdana"/>
              </a:rPr>
              <a:t>100 </a:t>
            </a:r>
            <a:r>
              <a:rPr sz="1800" spc="160" dirty="0">
                <a:solidFill>
                  <a:srgbClr val="124F5B"/>
                </a:solidFill>
                <a:latin typeface="Verdana"/>
                <a:cs typeface="Verdana"/>
              </a:rPr>
              <a:t>MB </a:t>
            </a:r>
            <a:r>
              <a:rPr sz="1800" spc="30" dirty="0">
                <a:solidFill>
                  <a:srgbClr val="124F5B"/>
                </a:solidFill>
                <a:latin typeface="Verdana"/>
                <a:cs typeface="Verdana"/>
              </a:rPr>
              <a:t>in </a:t>
            </a:r>
            <a:r>
              <a:rPr sz="1800" spc="35" dirty="0">
                <a:solidFill>
                  <a:srgbClr val="124F5B"/>
                </a:solidFill>
                <a:latin typeface="Verdana"/>
                <a:cs typeface="Verdana"/>
              </a:rPr>
              <a:t>the  </a:t>
            </a:r>
            <a:r>
              <a:rPr sz="1800" spc="-20" dirty="0">
                <a:solidFill>
                  <a:srgbClr val="124F5B"/>
                </a:solidFill>
                <a:latin typeface="Verdana"/>
                <a:cs typeface="Verdana"/>
              </a:rPr>
              <a:t>intervals </a:t>
            </a:r>
            <a:r>
              <a:rPr sz="1800" spc="5" dirty="0">
                <a:solidFill>
                  <a:srgbClr val="124F5B"/>
                </a:solidFill>
                <a:latin typeface="Verdana"/>
                <a:cs typeface="Verdana"/>
              </a:rPr>
              <a:t>of </a:t>
            </a:r>
            <a:r>
              <a:rPr sz="1800" spc="-225" dirty="0">
                <a:solidFill>
                  <a:srgbClr val="124F5B"/>
                </a:solidFill>
                <a:latin typeface="Verdana"/>
                <a:cs typeface="Verdana"/>
              </a:rPr>
              <a:t>10 </a:t>
            </a:r>
            <a:r>
              <a:rPr sz="1800" spc="160" dirty="0">
                <a:solidFill>
                  <a:srgbClr val="124F5B"/>
                </a:solidFill>
                <a:latin typeface="Verdana"/>
                <a:cs typeface="Verdana"/>
              </a:rPr>
              <a:t>MB</a:t>
            </a:r>
            <a:r>
              <a:rPr sz="1800" spc="-440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-35" dirty="0">
                <a:solidFill>
                  <a:srgbClr val="124F5B"/>
                </a:solidFill>
                <a:latin typeface="Verdana"/>
                <a:cs typeface="Verdana"/>
              </a:rPr>
              <a:t>each.</a:t>
            </a:r>
            <a:endParaRPr sz="1800">
              <a:latin typeface="Verdana"/>
              <a:cs typeface="Verdana"/>
            </a:endParaRPr>
          </a:p>
          <a:p>
            <a:pPr marL="469265" marR="6985" indent="-457200" algn="just">
              <a:lnSpc>
                <a:spcPct val="100000"/>
              </a:lnSpc>
              <a:buFont typeface="AoyagiKouzanFontT"/>
              <a:buChar char="❏"/>
              <a:tabLst>
                <a:tab pos="469900" algn="l"/>
              </a:tabLst>
            </a:pPr>
            <a:r>
              <a:rPr sz="1800" spc="5" dirty="0">
                <a:solidFill>
                  <a:srgbClr val="124F5B"/>
                </a:solidFill>
                <a:latin typeface="Verdana"/>
                <a:cs typeface="Verdana"/>
              </a:rPr>
              <a:t>The</a:t>
            </a:r>
            <a:r>
              <a:rPr sz="1800" spc="-150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124F5B"/>
                </a:solidFill>
                <a:latin typeface="Verdana"/>
                <a:cs typeface="Verdana"/>
              </a:rPr>
              <a:t>total</a:t>
            </a:r>
            <a:r>
              <a:rPr sz="1800" spc="-150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60" dirty="0">
                <a:solidFill>
                  <a:srgbClr val="124F5B"/>
                </a:solidFill>
                <a:latin typeface="Verdana"/>
                <a:cs typeface="Verdana"/>
              </a:rPr>
              <a:t>number</a:t>
            </a:r>
            <a:r>
              <a:rPr sz="1800" spc="-150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5" dirty="0">
                <a:solidFill>
                  <a:srgbClr val="124F5B"/>
                </a:solidFill>
                <a:latin typeface="Verdana"/>
                <a:cs typeface="Verdana"/>
              </a:rPr>
              <a:t>of</a:t>
            </a:r>
            <a:r>
              <a:rPr sz="1800" spc="-150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30" dirty="0">
                <a:solidFill>
                  <a:srgbClr val="124F5B"/>
                </a:solidFill>
                <a:latin typeface="Verdana"/>
                <a:cs typeface="Verdana"/>
              </a:rPr>
              <a:t>apps</a:t>
            </a:r>
            <a:r>
              <a:rPr sz="1800" spc="-150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30" dirty="0">
                <a:solidFill>
                  <a:srgbClr val="124F5B"/>
                </a:solidFill>
                <a:latin typeface="Verdana"/>
                <a:cs typeface="Verdana"/>
              </a:rPr>
              <a:t>in  </a:t>
            </a:r>
            <a:r>
              <a:rPr sz="1800" spc="25" dirty="0">
                <a:solidFill>
                  <a:srgbClr val="124F5B"/>
                </a:solidFill>
                <a:latin typeface="Verdana"/>
                <a:cs typeface="Verdana"/>
              </a:rPr>
              <a:t>each </a:t>
            </a:r>
            <a:r>
              <a:rPr sz="1800" spc="-25" dirty="0">
                <a:solidFill>
                  <a:srgbClr val="124F5B"/>
                </a:solidFill>
                <a:latin typeface="Verdana"/>
                <a:cs typeface="Verdana"/>
              </a:rPr>
              <a:t>size </a:t>
            </a:r>
            <a:r>
              <a:rPr sz="1800" spc="10" dirty="0">
                <a:solidFill>
                  <a:srgbClr val="124F5B"/>
                </a:solidFill>
                <a:latin typeface="Verdana"/>
                <a:cs typeface="Verdana"/>
              </a:rPr>
              <a:t>category  </a:t>
            </a:r>
            <a:r>
              <a:rPr sz="1800" spc="15" dirty="0">
                <a:solidFill>
                  <a:srgbClr val="124F5B"/>
                </a:solidFill>
                <a:latin typeface="Verdana"/>
                <a:cs typeface="Verdana"/>
              </a:rPr>
              <a:t>indicates </a:t>
            </a:r>
            <a:r>
              <a:rPr sz="1800" spc="35" dirty="0">
                <a:solidFill>
                  <a:srgbClr val="124F5B"/>
                </a:solidFill>
                <a:latin typeface="Verdana"/>
                <a:cs typeface="Verdana"/>
              </a:rPr>
              <a:t>the</a:t>
            </a:r>
            <a:r>
              <a:rPr sz="1800" spc="-365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b="1" spc="-65" dirty="0">
                <a:solidFill>
                  <a:srgbClr val="124F5B"/>
                </a:solidFill>
                <a:latin typeface="Verdana"/>
                <a:cs typeface="Verdana"/>
              </a:rPr>
              <a:t>competition</a:t>
            </a:r>
            <a:r>
              <a:rPr sz="1800" spc="-65" dirty="0">
                <a:solidFill>
                  <a:srgbClr val="124F5B"/>
                </a:solidFill>
                <a:latin typeface="Verdana"/>
                <a:cs typeface="Verdana"/>
              </a:rPr>
              <a:t>.</a:t>
            </a:r>
            <a:endParaRPr sz="1800">
              <a:latin typeface="Verdana"/>
              <a:cs typeface="Verdana"/>
            </a:endParaRPr>
          </a:p>
          <a:p>
            <a:pPr marL="469265" marR="47625" indent="-457200" algn="just">
              <a:lnSpc>
                <a:spcPct val="100000"/>
              </a:lnSpc>
              <a:buFont typeface="AoyagiKouzanFontT"/>
              <a:buChar char="❏"/>
              <a:tabLst>
                <a:tab pos="469900" algn="l"/>
              </a:tabLst>
            </a:pPr>
            <a:r>
              <a:rPr sz="1800" spc="-10" dirty="0">
                <a:solidFill>
                  <a:srgbClr val="124F5B"/>
                </a:solidFill>
                <a:latin typeface="Verdana"/>
                <a:cs typeface="Verdana"/>
              </a:rPr>
              <a:t>Average </a:t>
            </a:r>
            <a:r>
              <a:rPr sz="1800" spc="60" dirty="0">
                <a:solidFill>
                  <a:srgbClr val="124F5B"/>
                </a:solidFill>
                <a:latin typeface="Verdana"/>
                <a:cs typeface="Verdana"/>
              </a:rPr>
              <a:t>number </a:t>
            </a:r>
            <a:r>
              <a:rPr sz="1800" spc="5" dirty="0">
                <a:solidFill>
                  <a:srgbClr val="124F5B"/>
                </a:solidFill>
                <a:latin typeface="Verdana"/>
                <a:cs typeface="Verdana"/>
              </a:rPr>
              <a:t>of </a:t>
            </a:r>
            <a:r>
              <a:rPr sz="1800" b="1" spc="-85" dirty="0">
                <a:solidFill>
                  <a:srgbClr val="124F5B"/>
                </a:solidFill>
                <a:latin typeface="Verdana"/>
                <a:cs typeface="Verdana"/>
              </a:rPr>
              <a:t>user  </a:t>
            </a:r>
            <a:r>
              <a:rPr sz="1800" b="1" spc="-100" dirty="0">
                <a:solidFill>
                  <a:srgbClr val="124F5B"/>
                </a:solidFill>
                <a:latin typeface="Verdana"/>
                <a:cs typeface="Verdana"/>
              </a:rPr>
              <a:t>reviews  </a:t>
            </a:r>
            <a:r>
              <a:rPr sz="1800" spc="50" dirty="0">
                <a:solidFill>
                  <a:srgbClr val="124F5B"/>
                </a:solidFill>
                <a:latin typeface="Verdana"/>
                <a:cs typeface="Verdana"/>
              </a:rPr>
              <a:t>and  </a:t>
            </a:r>
            <a:r>
              <a:rPr sz="1800" b="1" spc="-85" dirty="0">
                <a:solidFill>
                  <a:srgbClr val="124F5B"/>
                </a:solidFill>
                <a:latin typeface="Verdana"/>
                <a:cs typeface="Verdana"/>
              </a:rPr>
              <a:t>average</a:t>
            </a:r>
            <a:r>
              <a:rPr sz="1800" b="1" spc="-140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b="1" spc="-45" dirty="0">
                <a:solidFill>
                  <a:srgbClr val="124F5B"/>
                </a:solidFill>
                <a:latin typeface="Verdana"/>
                <a:cs typeface="Verdana"/>
              </a:rPr>
              <a:t>app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41923" y="3824800"/>
            <a:ext cx="24504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402080" algn="l"/>
              </a:tabLst>
            </a:pPr>
            <a:r>
              <a:rPr sz="1800" spc="25" dirty="0">
                <a:solidFill>
                  <a:srgbClr val="124F5B"/>
                </a:solidFill>
                <a:latin typeface="Verdana"/>
                <a:cs typeface="Verdana"/>
              </a:rPr>
              <a:t>ca</a:t>
            </a:r>
            <a:r>
              <a:rPr sz="1800" spc="-15" dirty="0">
                <a:solidFill>
                  <a:srgbClr val="124F5B"/>
                </a:solidFill>
                <a:latin typeface="Verdana"/>
                <a:cs typeface="Verdana"/>
              </a:rPr>
              <a:t>t</a:t>
            </a:r>
            <a:r>
              <a:rPr sz="1800" spc="30" dirty="0">
                <a:solidFill>
                  <a:srgbClr val="124F5B"/>
                </a:solidFill>
                <a:latin typeface="Verdana"/>
                <a:cs typeface="Verdana"/>
              </a:rPr>
              <a:t>ego</a:t>
            </a:r>
            <a:r>
              <a:rPr sz="1800" spc="45" dirty="0">
                <a:solidFill>
                  <a:srgbClr val="124F5B"/>
                </a:solidFill>
                <a:latin typeface="Verdana"/>
                <a:cs typeface="Verdana"/>
              </a:rPr>
              <a:t>r</a:t>
            </a:r>
            <a:r>
              <a:rPr sz="1800" spc="-90" dirty="0">
                <a:solidFill>
                  <a:srgbClr val="124F5B"/>
                </a:solidFill>
                <a:latin typeface="Verdana"/>
                <a:cs typeface="Verdana"/>
              </a:rPr>
              <a:t>y</a:t>
            </a:r>
            <a:r>
              <a:rPr sz="1800" dirty="0">
                <a:solidFill>
                  <a:srgbClr val="124F5B"/>
                </a:solidFill>
                <a:latin typeface="Verdana"/>
                <a:cs typeface="Verdana"/>
              </a:rPr>
              <a:t>	</a:t>
            </a:r>
            <a:r>
              <a:rPr sz="1800" spc="30" dirty="0">
                <a:solidFill>
                  <a:srgbClr val="124F5B"/>
                </a:solidFill>
                <a:latin typeface="Verdana"/>
                <a:cs typeface="Verdana"/>
              </a:rPr>
              <a:t>in</a:t>
            </a:r>
            <a:r>
              <a:rPr sz="1800" spc="35" dirty="0">
                <a:solidFill>
                  <a:srgbClr val="124F5B"/>
                </a:solidFill>
                <a:latin typeface="Verdana"/>
                <a:cs typeface="Verdana"/>
              </a:rPr>
              <a:t>dica</a:t>
            </a:r>
            <a:r>
              <a:rPr sz="1800" spc="-10" dirty="0">
                <a:solidFill>
                  <a:srgbClr val="124F5B"/>
                </a:solidFill>
                <a:latin typeface="Verdana"/>
                <a:cs typeface="Verdana"/>
              </a:rPr>
              <a:t>t</a:t>
            </a:r>
            <a:r>
              <a:rPr sz="1800" spc="-25" dirty="0">
                <a:solidFill>
                  <a:srgbClr val="124F5B"/>
                </a:solidFill>
                <a:latin typeface="Verdana"/>
                <a:cs typeface="Verdana"/>
              </a:rPr>
              <a:t>es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41923" y="4099119"/>
            <a:ext cx="20808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846580" algn="l"/>
              </a:tabLst>
            </a:pPr>
            <a:r>
              <a:rPr sz="1800" b="1" spc="-65" dirty="0">
                <a:solidFill>
                  <a:srgbClr val="124F5B"/>
                </a:solidFill>
                <a:latin typeface="Verdana"/>
                <a:cs typeface="Verdana"/>
              </a:rPr>
              <a:t>popula</a:t>
            </a:r>
            <a:r>
              <a:rPr sz="1800" b="1" spc="-60" dirty="0">
                <a:solidFill>
                  <a:srgbClr val="124F5B"/>
                </a:solidFill>
                <a:latin typeface="Verdana"/>
                <a:cs typeface="Verdana"/>
              </a:rPr>
              <a:t>r</a:t>
            </a:r>
            <a:r>
              <a:rPr sz="1800" b="1" spc="-50" dirty="0">
                <a:solidFill>
                  <a:srgbClr val="124F5B"/>
                </a:solidFill>
                <a:latin typeface="Verdana"/>
                <a:cs typeface="Verdana"/>
              </a:rPr>
              <a:t>i</a:t>
            </a:r>
            <a:r>
              <a:rPr sz="1800" b="1" spc="-85" dirty="0">
                <a:solidFill>
                  <a:srgbClr val="124F5B"/>
                </a:solidFill>
                <a:latin typeface="Verdana"/>
                <a:cs typeface="Verdana"/>
              </a:rPr>
              <a:t>t</a:t>
            </a:r>
            <a:r>
              <a:rPr sz="1800" b="1" spc="-100" dirty="0">
                <a:solidFill>
                  <a:srgbClr val="124F5B"/>
                </a:solidFill>
                <a:latin typeface="Verdana"/>
                <a:cs typeface="Verdana"/>
              </a:rPr>
              <a:t>y</a:t>
            </a:r>
            <a:r>
              <a:rPr sz="1800" b="1" dirty="0">
                <a:solidFill>
                  <a:srgbClr val="124F5B"/>
                </a:solidFill>
                <a:latin typeface="Verdana"/>
                <a:cs typeface="Verdana"/>
              </a:rPr>
              <a:t>	</a:t>
            </a:r>
            <a:r>
              <a:rPr sz="1800" spc="5" dirty="0">
                <a:solidFill>
                  <a:srgbClr val="124F5B"/>
                </a:solidFill>
                <a:latin typeface="Verdana"/>
                <a:cs typeface="Verdana"/>
              </a:rPr>
              <a:t>of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41923" y="3550480"/>
            <a:ext cx="3216910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228725" algn="l"/>
                <a:tab pos="1813560" algn="l"/>
                <a:tab pos="2734310" algn="l"/>
              </a:tabLst>
            </a:pPr>
            <a:r>
              <a:rPr sz="1800" b="1" spc="-80" dirty="0">
                <a:solidFill>
                  <a:srgbClr val="124F5B"/>
                </a:solidFill>
                <a:latin typeface="Verdana"/>
                <a:cs typeface="Verdana"/>
              </a:rPr>
              <a:t>installs	</a:t>
            </a:r>
            <a:r>
              <a:rPr sz="1800" spc="30" dirty="0">
                <a:solidFill>
                  <a:srgbClr val="124F5B"/>
                </a:solidFill>
                <a:latin typeface="Verdana"/>
                <a:cs typeface="Verdana"/>
              </a:rPr>
              <a:t>in	</a:t>
            </a:r>
            <a:r>
              <a:rPr sz="1800" spc="25" dirty="0">
                <a:solidFill>
                  <a:srgbClr val="124F5B"/>
                </a:solidFill>
                <a:latin typeface="Verdana"/>
                <a:cs typeface="Verdana"/>
              </a:rPr>
              <a:t>each	</a:t>
            </a:r>
            <a:r>
              <a:rPr sz="1800" spc="-25" dirty="0">
                <a:solidFill>
                  <a:srgbClr val="124F5B"/>
                </a:solidFill>
                <a:latin typeface="Verdana"/>
                <a:cs typeface="Verdana"/>
              </a:rPr>
              <a:t>size</a:t>
            </a:r>
            <a:endParaRPr sz="1800">
              <a:latin typeface="Verdana"/>
              <a:cs typeface="Verdana"/>
            </a:endParaRPr>
          </a:p>
          <a:p>
            <a:pPr marL="2664460" marR="5080" indent="153035">
              <a:lnSpc>
                <a:spcPct val="100000"/>
              </a:lnSpc>
            </a:pPr>
            <a:r>
              <a:rPr sz="1800" spc="50" dirty="0">
                <a:solidFill>
                  <a:srgbClr val="124F5B"/>
                </a:solidFill>
                <a:latin typeface="Verdana"/>
                <a:cs typeface="Verdana"/>
              </a:rPr>
              <a:t>th</a:t>
            </a:r>
            <a:r>
              <a:rPr sz="1800" spc="10" dirty="0">
                <a:solidFill>
                  <a:srgbClr val="124F5B"/>
                </a:solidFill>
                <a:latin typeface="Verdana"/>
                <a:cs typeface="Verdana"/>
              </a:rPr>
              <a:t>e  </a:t>
            </a:r>
            <a:r>
              <a:rPr sz="1800" spc="35" dirty="0">
                <a:solidFill>
                  <a:srgbClr val="124F5B"/>
                </a:solidFill>
                <a:latin typeface="Verdana"/>
                <a:cs typeface="Verdana"/>
              </a:rPr>
              <a:t>the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41923" y="4373439"/>
            <a:ext cx="17500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124F5B"/>
                </a:solidFill>
                <a:latin typeface="Verdana"/>
                <a:cs typeface="Verdana"/>
              </a:rPr>
              <a:t>respective</a:t>
            </a:r>
            <a:r>
              <a:rPr sz="1800" spc="-204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-35" dirty="0">
                <a:solidFill>
                  <a:srgbClr val="124F5B"/>
                </a:solidFill>
                <a:latin typeface="Verdana"/>
                <a:cs typeface="Verdana"/>
              </a:rPr>
              <a:t>app.</a:t>
            </a:r>
            <a:endParaRPr sz="18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4" y="503825"/>
            <a:ext cx="573595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110" dirty="0"/>
              <a:t>Positive </a:t>
            </a:r>
            <a:r>
              <a:rPr sz="2800" spc="-75" dirty="0"/>
              <a:t>and </a:t>
            </a:r>
            <a:r>
              <a:rPr sz="2800" spc="-100" dirty="0"/>
              <a:t>Negative</a:t>
            </a:r>
            <a:r>
              <a:rPr sz="2800" spc="-340" dirty="0"/>
              <a:t> </a:t>
            </a:r>
            <a:r>
              <a:rPr sz="2800" spc="-140" dirty="0"/>
              <a:t>Reviews</a:t>
            </a:r>
            <a:endParaRPr sz="2800"/>
          </a:p>
        </p:txBody>
      </p:sp>
      <p:sp>
        <p:nvSpPr>
          <p:cNvPr id="3" name="object 3"/>
          <p:cNvSpPr/>
          <p:nvPr/>
        </p:nvSpPr>
        <p:spPr>
          <a:xfrm>
            <a:off x="1395897" y="1184272"/>
            <a:ext cx="6352187" cy="176844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253635" y="3119268"/>
            <a:ext cx="6636699" cy="184382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4" y="503825"/>
            <a:ext cx="635825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95" dirty="0"/>
              <a:t>Word </a:t>
            </a:r>
            <a:r>
              <a:rPr sz="2800" spc="-55" dirty="0"/>
              <a:t>Cloud </a:t>
            </a:r>
            <a:r>
              <a:rPr sz="2800" spc="-75" dirty="0"/>
              <a:t>on </a:t>
            </a:r>
            <a:r>
              <a:rPr sz="2800" spc="-114" dirty="0"/>
              <a:t>translated</a:t>
            </a:r>
            <a:r>
              <a:rPr sz="2800" spc="-470" dirty="0"/>
              <a:t> </a:t>
            </a:r>
            <a:r>
              <a:rPr sz="2800" spc="-150" dirty="0"/>
              <a:t>reviews</a:t>
            </a:r>
            <a:endParaRPr sz="2800"/>
          </a:p>
        </p:txBody>
      </p:sp>
      <p:sp>
        <p:nvSpPr>
          <p:cNvPr id="3" name="object 3"/>
          <p:cNvSpPr/>
          <p:nvPr/>
        </p:nvSpPr>
        <p:spPr>
          <a:xfrm>
            <a:off x="5018789" y="1017725"/>
            <a:ext cx="3813492" cy="375741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84724" y="1040458"/>
            <a:ext cx="4261485" cy="3180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265" marR="13970" indent="-457200" algn="just">
              <a:lnSpc>
                <a:spcPct val="114999"/>
              </a:lnSpc>
              <a:spcBef>
                <a:spcPts val="100"/>
              </a:spcBef>
              <a:buFont typeface="AoyagiKouzanFontT"/>
              <a:buChar char="❏"/>
              <a:tabLst>
                <a:tab pos="469900" algn="l"/>
              </a:tabLst>
            </a:pPr>
            <a:r>
              <a:rPr sz="1800" spc="5" dirty="0">
                <a:solidFill>
                  <a:srgbClr val="124F5B"/>
                </a:solidFill>
                <a:latin typeface="Verdana"/>
                <a:cs typeface="Verdana"/>
              </a:rPr>
              <a:t>The </a:t>
            </a:r>
            <a:r>
              <a:rPr sz="1800" spc="35" dirty="0">
                <a:solidFill>
                  <a:srgbClr val="124F5B"/>
                </a:solidFill>
                <a:latin typeface="Verdana"/>
                <a:cs typeface="Verdana"/>
              </a:rPr>
              <a:t>word </a:t>
            </a:r>
            <a:r>
              <a:rPr sz="1800" spc="30" dirty="0">
                <a:solidFill>
                  <a:srgbClr val="124F5B"/>
                </a:solidFill>
                <a:latin typeface="Verdana"/>
                <a:cs typeface="Verdana"/>
              </a:rPr>
              <a:t>clouds </a:t>
            </a:r>
            <a:r>
              <a:rPr sz="1800" spc="-35" dirty="0">
                <a:solidFill>
                  <a:srgbClr val="124F5B"/>
                </a:solidFill>
                <a:latin typeface="Verdana"/>
                <a:cs typeface="Verdana"/>
              </a:rPr>
              <a:t>is </a:t>
            </a:r>
            <a:r>
              <a:rPr sz="1800" spc="30" dirty="0">
                <a:solidFill>
                  <a:srgbClr val="124F5B"/>
                </a:solidFill>
                <a:latin typeface="Verdana"/>
                <a:cs typeface="Verdana"/>
              </a:rPr>
              <a:t>used </a:t>
            </a:r>
            <a:r>
              <a:rPr sz="1800" spc="-40" dirty="0">
                <a:solidFill>
                  <a:srgbClr val="124F5B"/>
                </a:solidFill>
                <a:latin typeface="Verdana"/>
                <a:cs typeface="Verdana"/>
              </a:rPr>
              <a:t>as </a:t>
            </a:r>
            <a:r>
              <a:rPr sz="1800" spc="-20" dirty="0">
                <a:solidFill>
                  <a:srgbClr val="124F5B"/>
                </a:solidFill>
                <a:latin typeface="Verdana"/>
                <a:cs typeface="Verdana"/>
              </a:rPr>
              <a:t>a  visual </a:t>
            </a:r>
            <a:r>
              <a:rPr sz="1800" spc="10" dirty="0">
                <a:solidFill>
                  <a:srgbClr val="124F5B"/>
                </a:solidFill>
                <a:latin typeface="Verdana"/>
                <a:cs typeface="Verdana"/>
              </a:rPr>
              <a:t>representation</a:t>
            </a:r>
            <a:r>
              <a:rPr sz="1800" spc="650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5" dirty="0">
                <a:solidFill>
                  <a:srgbClr val="124F5B"/>
                </a:solidFill>
                <a:latin typeface="Verdana"/>
                <a:cs typeface="Verdana"/>
              </a:rPr>
              <a:t>of </a:t>
            </a:r>
            <a:r>
              <a:rPr sz="1800" spc="-20" dirty="0">
                <a:solidFill>
                  <a:srgbClr val="124F5B"/>
                </a:solidFill>
                <a:latin typeface="Verdana"/>
                <a:cs typeface="Verdana"/>
              </a:rPr>
              <a:t>any  </a:t>
            </a:r>
            <a:r>
              <a:rPr sz="1800" spc="-10" dirty="0">
                <a:solidFill>
                  <a:srgbClr val="124F5B"/>
                </a:solidFill>
                <a:latin typeface="Verdana"/>
                <a:cs typeface="Verdana"/>
              </a:rPr>
              <a:t>textual</a:t>
            </a:r>
            <a:r>
              <a:rPr sz="1800" spc="-145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-40" dirty="0">
                <a:solidFill>
                  <a:srgbClr val="124F5B"/>
                </a:solidFill>
                <a:latin typeface="Verdana"/>
                <a:cs typeface="Verdana"/>
              </a:rPr>
              <a:t>data,</a:t>
            </a:r>
            <a:r>
              <a:rPr sz="1800" spc="-140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30" dirty="0">
                <a:solidFill>
                  <a:srgbClr val="124F5B"/>
                </a:solidFill>
                <a:latin typeface="Verdana"/>
                <a:cs typeface="Verdana"/>
              </a:rPr>
              <a:t>in</a:t>
            </a:r>
            <a:r>
              <a:rPr sz="1800" spc="-140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5" dirty="0">
                <a:solidFill>
                  <a:srgbClr val="124F5B"/>
                </a:solidFill>
                <a:latin typeface="Verdana"/>
                <a:cs typeface="Verdana"/>
              </a:rPr>
              <a:t>this</a:t>
            </a:r>
            <a:r>
              <a:rPr sz="1800" spc="-140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124F5B"/>
                </a:solidFill>
                <a:latin typeface="Verdana"/>
                <a:cs typeface="Verdana"/>
              </a:rPr>
              <a:t>case</a:t>
            </a:r>
            <a:r>
              <a:rPr sz="1800" spc="-140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35" dirty="0">
                <a:solidFill>
                  <a:srgbClr val="124F5B"/>
                </a:solidFill>
                <a:latin typeface="Verdana"/>
                <a:cs typeface="Verdana"/>
              </a:rPr>
              <a:t>the</a:t>
            </a:r>
            <a:r>
              <a:rPr sz="1800" spc="-145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-5" dirty="0">
                <a:solidFill>
                  <a:srgbClr val="124F5B"/>
                </a:solidFill>
                <a:latin typeface="Verdana"/>
                <a:cs typeface="Verdana"/>
              </a:rPr>
              <a:t>user  </a:t>
            </a:r>
            <a:r>
              <a:rPr sz="1800" spc="-55" dirty="0">
                <a:solidFill>
                  <a:srgbClr val="124F5B"/>
                </a:solidFill>
                <a:latin typeface="Verdana"/>
                <a:cs typeface="Verdana"/>
              </a:rPr>
              <a:t>reviews.</a:t>
            </a:r>
            <a:endParaRPr sz="1800">
              <a:latin typeface="Verdana"/>
              <a:cs typeface="Verdana"/>
            </a:endParaRPr>
          </a:p>
          <a:p>
            <a:pPr marL="469265" marR="5080" indent="-457200" algn="just">
              <a:lnSpc>
                <a:spcPct val="114999"/>
              </a:lnSpc>
              <a:buFont typeface="AoyagiKouzanFontT"/>
              <a:buChar char="❏"/>
              <a:tabLst>
                <a:tab pos="469900" algn="l"/>
              </a:tabLst>
            </a:pPr>
            <a:r>
              <a:rPr sz="1800" spc="5" dirty="0">
                <a:solidFill>
                  <a:srgbClr val="124F5B"/>
                </a:solidFill>
                <a:latin typeface="Verdana"/>
                <a:cs typeface="Verdana"/>
              </a:rPr>
              <a:t>The </a:t>
            </a:r>
            <a:r>
              <a:rPr sz="1800" spc="35" dirty="0">
                <a:solidFill>
                  <a:srgbClr val="124F5B"/>
                </a:solidFill>
                <a:latin typeface="Verdana"/>
                <a:cs typeface="Verdana"/>
              </a:rPr>
              <a:t>higher the </a:t>
            </a:r>
            <a:r>
              <a:rPr sz="1800" spc="60" dirty="0">
                <a:solidFill>
                  <a:srgbClr val="124F5B"/>
                </a:solidFill>
                <a:latin typeface="Verdana"/>
                <a:cs typeface="Verdana"/>
              </a:rPr>
              <a:t>number </a:t>
            </a:r>
            <a:r>
              <a:rPr sz="1800" spc="5" dirty="0">
                <a:solidFill>
                  <a:srgbClr val="124F5B"/>
                </a:solidFill>
                <a:latin typeface="Verdana"/>
                <a:cs typeface="Verdana"/>
              </a:rPr>
              <a:t>of</a:t>
            </a:r>
            <a:r>
              <a:rPr sz="1800" spc="-150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25" dirty="0">
                <a:solidFill>
                  <a:srgbClr val="124F5B"/>
                </a:solidFill>
                <a:latin typeface="Verdana"/>
                <a:cs typeface="Verdana"/>
              </a:rPr>
              <a:t>times  </a:t>
            </a:r>
            <a:r>
              <a:rPr sz="1800" spc="-20" dirty="0">
                <a:solidFill>
                  <a:srgbClr val="124F5B"/>
                </a:solidFill>
                <a:latin typeface="Verdana"/>
                <a:cs typeface="Verdana"/>
              </a:rPr>
              <a:t>a </a:t>
            </a:r>
            <a:r>
              <a:rPr sz="1800" spc="35" dirty="0">
                <a:solidFill>
                  <a:srgbClr val="124F5B"/>
                </a:solidFill>
                <a:latin typeface="Verdana"/>
                <a:cs typeface="Verdana"/>
              </a:rPr>
              <a:t>word </a:t>
            </a:r>
            <a:r>
              <a:rPr sz="1800" spc="-35" dirty="0">
                <a:solidFill>
                  <a:srgbClr val="124F5B"/>
                </a:solidFill>
                <a:latin typeface="Verdana"/>
                <a:cs typeface="Verdana"/>
              </a:rPr>
              <a:t>is </a:t>
            </a:r>
            <a:r>
              <a:rPr sz="1800" spc="-20" dirty="0">
                <a:solidFill>
                  <a:srgbClr val="124F5B"/>
                </a:solidFill>
                <a:latin typeface="Verdana"/>
                <a:cs typeface="Verdana"/>
              </a:rPr>
              <a:t>repeated, </a:t>
            </a:r>
            <a:r>
              <a:rPr sz="1800" spc="35" dirty="0">
                <a:solidFill>
                  <a:srgbClr val="124F5B"/>
                </a:solidFill>
                <a:latin typeface="Verdana"/>
                <a:cs typeface="Verdana"/>
              </a:rPr>
              <a:t>the </a:t>
            </a:r>
            <a:r>
              <a:rPr sz="1800" spc="45" dirty="0">
                <a:solidFill>
                  <a:srgbClr val="124F5B"/>
                </a:solidFill>
                <a:latin typeface="Verdana"/>
                <a:cs typeface="Verdana"/>
              </a:rPr>
              <a:t>bigger  </a:t>
            </a:r>
            <a:r>
              <a:rPr sz="1800" spc="50" dirty="0">
                <a:solidFill>
                  <a:srgbClr val="124F5B"/>
                </a:solidFill>
                <a:latin typeface="Verdana"/>
                <a:cs typeface="Verdana"/>
              </a:rPr>
              <a:t>and</a:t>
            </a:r>
            <a:r>
              <a:rPr sz="1800" spc="-170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30" dirty="0">
                <a:solidFill>
                  <a:srgbClr val="124F5B"/>
                </a:solidFill>
                <a:latin typeface="Verdana"/>
                <a:cs typeface="Verdana"/>
              </a:rPr>
              <a:t>bolder</a:t>
            </a:r>
            <a:r>
              <a:rPr sz="1800" spc="-165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5" dirty="0">
                <a:solidFill>
                  <a:srgbClr val="124F5B"/>
                </a:solidFill>
                <a:latin typeface="Verdana"/>
                <a:cs typeface="Verdana"/>
              </a:rPr>
              <a:t>it</a:t>
            </a:r>
            <a:r>
              <a:rPr sz="1800" spc="-170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-40" dirty="0">
                <a:solidFill>
                  <a:srgbClr val="124F5B"/>
                </a:solidFill>
                <a:latin typeface="Verdana"/>
                <a:cs typeface="Verdana"/>
              </a:rPr>
              <a:t>gets.</a:t>
            </a:r>
            <a:endParaRPr sz="1800">
              <a:latin typeface="Verdana"/>
              <a:cs typeface="Verdana"/>
            </a:endParaRPr>
          </a:p>
          <a:p>
            <a:pPr marL="469265" marR="15875" indent="-457200" algn="just">
              <a:lnSpc>
                <a:spcPct val="114999"/>
              </a:lnSpc>
              <a:buFont typeface="AoyagiKouzanFontT"/>
              <a:buChar char="❏"/>
              <a:tabLst>
                <a:tab pos="469900" algn="l"/>
              </a:tabLst>
            </a:pPr>
            <a:r>
              <a:rPr sz="1800" spc="55" dirty="0">
                <a:solidFill>
                  <a:srgbClr val="124F5B"/>
                </a:solidFill>
                <a:latin typeface="Verdana"/>
                <a:cs typeface="Verdana"/>
              </a:rPr>
              <a:t>Hence </a:t>
            </a:r>
            <a:r>
              <a:rPr sz="1800" spc="35" dirty="0">
                <a:solidFill>
                  <a:srgbClr val="124F5B"/>
                </a:solidFill>
                <a:latin typeface="Verdana"/>
                <a:cs typeface="Verdana"/>
              </a:rPr>
              <a:t>the word </a:t>
            </a:r>
            <a:r>
              <a:rPr sz="1800" spc="30" dirty="0">
                <a:solidFill>
                  <a:srgbClr val="124F5B"/>
                </a:solidFill>
                <a:latin typeface="Verdana"/>
                <a:cs typeface="Verdana"/>
              </a:rPr>
              <a:t>clouds </a:t>
            </a:r>
            <a:r>
              <a:rPr sz="1800" spc="45" dirty="0">
                <a:solidFill>
                  <a:srgbClr val="124F5B"/>
                </a:solidFill>
                <a:latin typeface="Verdana"/>
                <a:cs typeface="Verdana"/>
              </a:rPr>
              <a:t>can </a:t>
            </a:r>
            <a:r>
              <a:rPr sz="1800" spc="55" dirty="0">
                <a:solidFill>
                  <a:srgbClr val="124F5B"/>
                </a:solidFill>
                <a:latin typeface="Verdana"/>
                <a:cs typeface="Verdana"/>
              </a:rPr>
              <a:t>be  </a:t>
            </a:r>
            <a:r>
              <a:rPr sz="1800" spc="30" dirty="0">
                <a:solidFill>
                  <a:srgbClr val="124F5B"/>
                </a:solidFill>
                <a:latin typeface="Verdana"/>
                <a:cs typeface="Verdana"/>
              </a:rPr>
              <a:t>used</a:t>
            </a:r>
            <a:r>
              <a:rPr sz="1800" spc="-165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10" dirty="0">
                <a:solidFill>
                  <a:srgbClr val="124F5B"/>
                </a:solidFill>
                <a:latin typeface="Verdana"/>
                <a:cs typeface="Verdana"/>
              </a:rPr>
              <a:t>to</a:t>
            </a:r>
            <a:r>
              <a:rPr sz="1800" spc="-165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45" dirty="0">
                <a:solidFill>
                  <a:srgbClr val="124F5B"/>
                </a:solidFill>
                <a:latin typeface="Verdana"/>
                <a:cs typeface="Verdana"/>
              </a:rPr>
              <a:t>get</a:t>
            </a:r>
            <a:r>
              <a:rPr sz="1800" spc="-165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-20" dirty="0">
                <a:solidFill>
                  <a:srgbClr val="124F5B"/>
                </a:solidFill>
                <a:latin typeface="Verdana"/>
                <a:cs typeface="Verdana"/>
              </a:rPr>
              <a:t>a</a:t>
            </a:r>
            <a:r>
              <a:rPr sz="1800" spc="-165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10" dirty="0">
                <a:solidFill>
                  <a:srgbClr val="124F5B"/>
                </a:solidFill>
                <a:latin typeface="Verdana"/>
                <a:cs typeface="Verdana"/>
              </a:rPr>
              <a:t>birds</a:t>
            </a:r>
            <a:r>
              <a:rPr sz="1800" spc="-165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-40" dirty="0">
                <a:solidFill>
                  <a:srgbClr val="124F5B"/>
                </a:solidFill>
                <a:latin typeface="Verdana"/>
                <a:cs typeface="Verdana"/>
              </a:rPr>
              <a:t>eye</a:t>
            </a:r>
            <a:r>
              <a:rPr sz="1800" spc="-165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124F5B"/>
                </a:solidFill>
                <a:latin typeface="Verdana"/>
                <a:cs typeface="Verdana"/>
              </a:rPr>
              <a:t>view</a:t>
            </a:r>
            <a:r>
              <a:rPr sz="1800" spc="-165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5" dirty="0">
                <a:solidFill>
                  <a:srgbClr val="124F5B"/>
                </a:solidFill>
                <a:latin typeface="Verdana"/>
                <a:cs typeface="Verdana"/>
              </a:rPr>
              <a:t>of</a:t>
            </a:r>
            <a:r>
              <a:rPr sz="1800" spc="-165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-15" dirty="0">
                <a:solidFill>
                  <a:srgbClr val="124F5B"/>
                </a:solidFill>
                <a:latin typeface="Verdana"/>
                <a:cs typeface="Verdana"/>
              </a:rPr>
              <a:t>all  </a:t>
            </a:r>
            <a:r>
              <a:rPr sz="1800" spc="35" dirty="0">
                <a:solidFill>
                  <a:srgbClr val="124F5B"/>
                </a:solidFill>
                <a:latin typeface="Verdana"/>
                <a:cs typeface="Verdana"/>
              </a:rPr>
              <a:t>the</a:t>
            </a:r>
            <a:r>
              <a:rPr sz="1800" spc="-175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-10" dirty="0">
                <a:solidFill>
                  <a:srgbClr val="124F5B"/>
                </a:solidFill>
                <a:latin typeface="Verdana"/>
                <a:cs typeface="Verdana"/>
              </a:rPr>
              <a:t>textual</a:t>
            </a:r>
            <a:r>
              <a:rPr sz="1800" spc="-170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20" dirty="0">
                <a:solidFill>
                  <a:srgbClr val="124F5B"/>
                </a:solidFill>
                <a:latin typeface="Verdana"/>
                <a:cs typeface="Verdana"/>
              </a:rPr>
              <a:t>data</a:t>
            </a:r>
            <a:r>
              <a:rPr sz="1800" spc="-170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30" dirty="0">
                <a:solidFill>
                  <a:srgbClr val="124F5B"/>
                </a:solidFill>
                <a:latin typeface="Verdana"/>
                <a:cs typeface="Verdana"/>
              </a:rPr>
              <a:t>in</a:t>
            </a:r>
            <a:r>
              <a:rPr sz="1800" spc="-175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35" dirty="0">
                <a:solidFill>
                  <a:srgbClr val="124F5B"/>
                </a:solidFill>
                <a:latin typeface="Verdana"/>
                <a:cs typeface="Verdana"/>
              </a:rPr>
              <a:t>the</a:t>
            </a:r>
            <a:r>
              <a:rPr sz="1800" spc="-170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-25" dirty="0">
                <a:solidFill>
                  <a:srgbClr val="124F5B"/>
                </a:solidFill>
                <a:latin typeface="Verdana"/>
                <a:cs typeface="Verdana"/>
              </a:rPr>
              <a:t>dataset.</a:t>
            </a:r>
            <a:endParaRPr sz="18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4" y="503825"/>
            <a:ext cx="332232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85" dirty="0"/>
              <a:t>Challenges</a:t>
            </a:r>
            <a:r>
              <a:rPr sz="2800" spc="-204" dirty="0"/>
              <a:t> </a:t>
            </a:r>
            <a:r>
              <a:rPr sz="2800" spc="-70" dirty="0"/>
              <a:t>Faced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384724" y="1175208"/>
            <a:ext cx="8363584" cy="2233930"/>
          </a:xfrm>
          <a:prstGeom prst="rect">
            <a:avLst/>
          </a:prstGeom>
        </p:spPr>
        <p:txBody>
          <a:bodyPr vert="horz" wrap="square" lIns="0" tIns="53340" rIns="0" bIns="0" rtlCol="0">
            <a:spAutoFit/>
          </a:bodyPr>
          <a:lstStyle/>
          <a:p>
            <a:pPr marL="469900" indent="-457200" algn="just">
              <a:lnSpc>
                <a:spcPct val="100000"/>
              </a:lnSpc>
              <a:spcBef>
                <a:spcPts val="420"/>
              </a:spcBef>
              <a:buFont typeface="AoyagiKouzanFontT"/>
              <a:buChar char="❏"/>
              <a:tabLst>
                <a:tab pos="469900" algn="l"/>
              </a:tabLst>
            </a:pPr>
            <a:r>
              <a:rPr sz="1800" spc="40" dirty="0">
                <a:solidFill>
                  <a:srgbClr val="124F5B"/>
                </a:solidFill>
                <a:latin typeface="Verdana"/>
                <a:cs typeface="Verdana"/>
              </a:rPr>
              <a:t>Reading</a:t>
            </a:r>
            <a:r>
              <a:rPr sz="1800" spc="-165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35" dirty="0">
                <a:solidFill>
                  <a:srgbClr val="124F5B"/>
                </a:solidFill>
                <a:latin typeface="Verdana"/>
                <a:cs typeface="Verdana"/>
              </a:rPr>
              <a:t>the</a:t>
            </a:r>
            <a:r>
              <a:rPr sz="1800" spc="-160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5" dirty="0">
                <a:solidFill>
                  <a:srgbClr val="124F5B"/>
                </a:solidFill>
                <a:latin typeface="Verdana"/>
                <a:cs typeface="Verdana"/>
              </a:rPr>
              <a:t>dataset</a:t>
            </a:r>
            <a:r>
              <a:rPr sz="1800" spc="-165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50" dirty="0">
                <a:solidFill>
                  <a:srgbClr val="124F5B"/>
                </a:solidFill>
                <a:latin typeface="Verdana"/>
                <a:cs typeface="Verdana"/>
              </a:rPr>
              <a:t>and</a:t>
            </a:r>
            <a:r>
              <a:rPr sz="1800" spc="-160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55" dirty="0">
                <a:solidFill>
                  <a:srgbClr val="124F5B"/>
                </a:solidFill>
                <a:latin typeface="Verdana"/>
                <a:cs typeface="Verdana"/>
              </a:rPr>
              <a:t>comprehending</a:t>
            </a:r>
            <a:r>
              <a:rPr sz="1800" spc="-165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35" dirty="0">
                <a:solidFill>
                  <a:srgbClr val="124F5B"/>
                </a:solidFill>
                <a:latin typeface="Verdana"/>
                <a:cs typeface="Verdana"/>
              </a:rPr>
              <a:t>the</a:t>
            </a:r>
            <a:r>
              <a:rPr sz="1800" spc="-160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45" dirty="0">
                <a:solidFill>
                  <a:srgbClr val="124F5B"/>
                </a:solidFill>
                <a:latin typeface="Verdana"/>
                <a:cs typeface="Verdana"/>
              </a:rPr>
              <a:t>problem</a:t>
            </a:r>
            <a:r>
              <a:rPr sz="1800" spc="-165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-5" dirty="0">
                <a:solidFill>
                  <a:srgbClr val="124F5B"/>
                </a:solidFill>
                <a:latin typeface="Verdana"/>
                <a:cs typeface="Verdana"/>
              </a:rPr>
              <a:t>statement.</a:t>
            </a:r>
            <a:endParaRPr sz="1800">
              <a:latin typeface="Verdana"/>
              <a:cs typeface="Verdana"/>
            </a:endParaRPr>
          </a:p>
          <a:p>
            <a:pPr marL="469265" marR="10795" indent="-457200" algn="just">
              <a:lnSpc>
                <a:spcPct val="114999"/>
              </a:lnSpc>
              <a:buFont typeface="AoyagiKouzanFontT"/>
              <a:buChar char="❏"/>
              <a:tabLst>
                <a:tab pos="469900" algn="l"/>
              </a:tabLst>
            </a:pPr>
            <a:r>
              <a:rPr sz="1800" spc="30" dirty="0">
                <a:solidFill>
                  <a:srgbClr val="124F5B"/>
                </a:solidFill>
                <a:latin typeface="Verdana"/>
                <a:cs typeface="Verdana"/>
              </a:rPr>
              <a:t>Examining </a:t>
            </a:r>
            <a:r>
              <a:rPr sz="1800" spc="35" dirty="0">
                <a:solidFill>
                  <a:srgbClr val="124F5B"/>
                </a:solidFill>
                <a:latin typeface="Verdana"/>
                <a:cs typeface="Verdana"/>
              </a:rPr>
              <a:t>the </a:t>
            </a:r>
            <a:r>
              <a:rPr sz="1800" spc="10" dirty="0">
                <a:solidFill>
                  <a:srgbClr val="124F5B"/>
                </a:solidFill>
                <a:latin typeface="Verdana"/>
                <a:cs typeface="Verdana"/>
              </a:rPr>
              <a:t>business </a:t>
            </a:r>
            <a:r>
              <a:rPr sz="1800" spc="-15" dirty="0">
                <a:solidFill>
                  <a:srgbClr val="124F5B"/>
                </a:solidFill>
                <a:latin typeface="Verdana"/>
                <a:cs typeface="Verdana"/>
              </a:rPr>
              <a:t>KPIs </a:t>
            </a:r>
            <a:r>
              <a:rPr sz="1800" spc="-20" dirty="0">
                <a:solidFill>
                  <a:srgbClr val="124F5B"/>
                </a:solidFill>
                <a:latin typeface="Verdana"/>
                <a:cs typeface="Verdana"/>
              </a:rPr>
              <a:t>for </a:t>
            </a:r>
            <a:r>
              <a:rPr sz="1800" spc="55" dirty="0">
                <a:solidFill>
                  <a:srgbClr val="124F5B"/>
                </a:solidFill>
                <a:latin typeface="Verdana"/>
                <a:cs typeface="Verdana"/>
              </a:rPr>
              <a:t>app </a:t>
            </a:r>
            <a:r>
              <a:rPr sz="1800" spc="35" dirty="0">
                <a:solidFill>
                  <a:srgbClr val="124F5B"/>
                </a:solidFill>
                <a:latin typeface="Verdana"/>
                <a:cs typeface="Verdana"/>
              </a:rPr>
              <a:t>development </a:t>
            </a:r>
            <a:r>
              <a:rPr sz="1800" spc="50" dirty="0">
                <a:solidFill>
                  <a:srgbClr val="124F5B"/>
                </a:solidFill>
                <a:latin typeface="Verdana"/>
                <a:cs typeface="Verdana"/>
              </a:rPr>
              <a:t>and </a:t>
            </a:r>
            <a:r>
              <a:rPr sz="1800" spc="15" dirty="0">
                <a:solidFill>
                  <a:srgbClr val="124F5B"/>
                </a:solidFill>
                <a:latin typeface="Verdana"/>
                <a:cs typeface="Verdana"/>
              </a:rPr>
              <a:t>devising </a:t>
            </a:r>
            <a:r>
              <a:rPr sz="1800" spc="-20" dirty="0">
                <a:solidFill>
                  <a:srgbClr val="124F5B"/>
                </a:solidFill>
                <a:latin typeface="Verdana"/>
                <a:cs typeface="Verdana"/>
              </a:rPr>
              <a:t>a  </a:t>
            </a:r>
            <a:r>
              <a:rPr sz="1800" spc="20" dirty="0">
                <a:solidFill>
                  <a:srgbClr val="124F5B"/>
                </a:solidFill>
                <a:latin typeface="Verdana"/>
                <a:cs typeface="Verdana"/>
              </a:rPr>
              <a:t>solution</a:t>
            </a:r>
            <a:r>
              <a:rPr sz="1800" spc="-170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10" dirty="0">
                <a:solidFill>
                  <a:srgbClr val="124F5B"/>
                </a:solidFill>
                <a:latin typeface="Verdana"/>
                <a:cs typeface="Verdana"/>
              </a:rPr>
              <a:t>to</a:t>
            </a:r>
            <a:r>
              <a:rPr sz="1800" spc="-165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35" dirty="0">
                <a:solidFill>
                  <a:srgbClr val="124F5B"/>
                </a:solidFill>
                <a:latin typeface="Verdana"/>
                <a:cs typeface="Verdana"/>
              </a:rPr>
              <a:t>the</a:t>
            </a:r>
            <a:r>
              <a:rPr sz="1800" spc="-165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5" dirty="0">
                <a:solidFill>
                  <a:srgbClr val="124F5B"/>
                </a:solidFill>
                <a:latin typeface="Verdana"/>
                <a:cs typeface="Verdana"/>
              </a:rPr>
              <a:t>problem.</a:t>
            </a:r>
            <a:endParaRPr sz="1800">
              <a:latin typeface="Verdana"/>
              <a:cs typeface="Verdana"/>
            </a:endParaRPr>
          </a:p>
          <a:p>
            <a:pPr marL="469900" indent="-457200" algn="just">
              <a:lnSpc>
                <a:spcPct val="100000"/>
              </a:lnSpc>
              <a:spcBef>
                <a:spcPts val="325"/>
              </a:spcBef>
              <a:buFont typeface="AoyagiKouzanFontT"/>
              <a:buChar char="❏"/>
              <a:tabLst>
                <a:tab pos="469900" algn="l"/>
              </a:tabLst>
            </a:pPr>
            <a:r>
              <a:rPr sz="1800" spc="55" dirty="0">
                <a:solidFill>
                  <a:srgbClr val="124F5B"/>
                </a:solidFill>
                <a:latin typeface="Verdana"/>
                <a:cs typeface="Verdana"/>
              </a:rPr>
              <a:t>Handling</a:t>
            </a:r>
            <a:r>
              <a:rPr sz="1800" spc="-165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35" dirty="0">
                <a:solidFill>
                  <a:srgbClr val="124F5B"/>
                </a:solidFill>
                <a:latin typeface="Verdana"/>
                <a:cs typeface="Verdana"/>
              </a:rPr>
              <a:t>the</a:t>
            </a:r>
            <a:r>
              <a:rPr sz="1800" spc="-165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-75" dirty="0">
                <a:solidFill>
                  <a:srgbClr val="124F5B"/>
                </a:solidFill>
                <a:latin typeface="Verdana"/>
                <a:cs typeface="Verdana"/>
              </a:rPr>
              <a:t>error,</a:t>
            </a:r>
            <a:r>
              <a:rPr sz="1800" spc="-165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30" dirty="0">
                <a:solidFill>
                  <a:srgbClr val="124F5B"/>
                </a:solidFill>
                <a:latin typeface="Verdana"/>
                <a:cs typeface="Verdana"/>
              </a:rPr>
              <a:t>duplicate</a:t>
            </a:r>
            <a:r>
              <a:rPr sz="1800" spc="-165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50" dirty="0">
                <a:solidFill>
                  <a:srgbClr val="124F5B"/>
                </a:solidFill>
                <a:latin typeface="Verdana"/>
                <a:cs typeface="Verdana"/>
              </a:rPr>
              <a:t>and</a:t>
            </a:r>
            <a:r>
              <a:rPr sz="1800" spc="-165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70" dirty="0">
                <a:solidFill>
                  <a:srgbClr val="124F5B"/>
                </a:solidFill>
                <a:latin typeface="Verdana"/>
                <a:cs typeface="Verdana"/>
              </a:rPr>
              <a:t>NaN</a:t>
            </a:r>
            <a:r>
              <a:rPr sz="1800" spc="-165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-20" dirty="0">
                <a:solidFill>
                  <a:srgbClr val="124F5B"/>
                </a:solidFill>
                <a:latin typeface="Verdana"/>
                <a:cs typeface="Verdana"/>
              </a:rPr>
              <a:t>values</a:t>
            </a:r>
            <a:r>
              <a:rPr sz="1800" spc="-160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30" dirty="0">
                <a:solidFill>
                  <a:srgbClr val="124F5B"/>
                </a:solidFill>
                <a:latin typeface="Verdana"/>
                <a:cs typeface="Verdana"/>
              </a:rPr>
              <a:t>in</a:t>
            </a:r>
            <a:r>
              <a:rPr sz="1800" spc="-165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35" dirty="0">
                <a:solidFill>
                  <a:srgbClr val="124F5B"/>
                </a:solidFill>
                <a:latin typeface="Verdana"/>
                <a:cs typeface="Verdana"/>
              </a:rPr>
              <a:t>the</a:t>
            </a:r>
            <a:r>
              <a:rPr sz="1800" spc="-165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-25" dirty="0">
                <a:solidFill>
                  <a:srgbClr val="124F5B"/>
                </a:solidFill>
                <a:latin typeface="Verdana"/>
                <a:cs typeface="Verdana"/>
              </a:rPr>
              <a:t>dataset.</a:t>
            </a:r>
            <a:endParaRPr sz="1800">
              <a:latin typeface="Verdana"/>
              <a:cs typeface="Verdana"/>
            </a:endParaRPr>
          </a:p>
          <a:p>
            <a:pPr marL="469265" marR="5080" indent="-457200" algn="just">
              <a:lnSpc>
                <a:spcPct val="114999"/>
              </a:lnSpc>
              <a:buFont typeface="AoyagiKouzanFontT"/>
              <a:buChar char="❏"/>
              <a:tabLst>
                <a:tab pos="469900" algn="l"/>
              </a:tabLst>
            </a:pPr>
            <a:r>
              <a:rPr sz="1800" spc="45" dirty="0">
                <a:solidFill>
                  <a:srgbClr val="124F5B"/>
                </a:solidFill>
                <a:latin typeface="Verdana"/>
                <a:cs typeface="Verdana"/>
              </a:rPr>
              <a:t>Designing </a:t>
            </a:r>
            <a:r>
              <a:rPr sz="1800" spc="40" dirty="0">
                <a:solidFill>
                  <a:srgbClr val="124F5B"/>
                </a:solidFill>
                <a:latin typeface="Verdana"/>
                <a:cs typeface="Verdana"/>
              </a:rPr>
              <a:t>multiple </a:t>
            </a:r>
            <a:r>
              <a:rPr sz="1800" spc="-10" dirty="0">
                <a:solidFill>
                  <a:srgbClr val="124F5B"/>
                </a:solidFill>
                <a:latin typeface="Verdana"/>
                <a:cs typeface="Verdana"/>
              </a:rPr>
              <a:t>visualizations </a:t>
            </a:r>
            <a:r>
              <a:rPr sz="1800" spc="10" dirty="0">
                <a:solidFill>
                  <a:srgbClr val="124F5B"/>
                </a:solidFill>
                <a:latin typeface="Verdana"/>
                <a:cs typeface="Verdana"/>
              </a:rPr>
              <a:t>to </a:t>
            </a:r>
            <a:r>
              <a:rPr sz="1800" spc="20" dirty="0">
                <a:solidFill>
                  <a:srgbClr val="124F5B"/>
                </a:solidFill>
                <a:latin typeface="Verdana"/>
                <a:cs typeface="Verdana"/>
              </a:rPr>
              <a:t>summarize </a:t>
            </a:r>
            <a:r>
              <a:rPr sz="1800" spc="35" dirty="0">
                <a:solidFill>
                  <a:srgbClr val="124F5B"/>
                </a:solidFill>
                <a:latin typeface="Verdana"/>
                <a:cs typeface="Verdana"/>
              </a:rPr>
              <a:t>the </a:t>
            </a:r>
            <a:r>
              <a:rPr sz="1800" spc="20" dirty="0">
                <a:solidFill>
                  <a:srgbClr val="124F5B"/>
                </a:solidFill>
                <a:latin typeface="Verdana"/>
                <a:cs typeface="Verdana"/>
              </a:rPr>
              <a:t>information </a:t>
            </a:r>
            <a:r>
              <a:rPr sz="1800" spc="30" dirty="0">
                <a:solidFill>
                  <a:srgbClr val="124F5B"/>
                </a:solidFill>
                <a:latin typeface="Verdana"/>
                <a:cs typeface="Verdana"/>
              </a:rPr>
              <a:t>in  </a:t>
            </a:r>
            <a:r>
              <a:rPr sz="1800" spc="35" dirty="0">
                <a:solidFill>
                  <a:srgbClr val="124F5B"/>
                </a:solidFill>
                <a:latin typeface="Verdana"/>
                <a:cs typeface="Verdana"/>
              </a:rPr>
              <a:t>the</a:t>
            </a:r>
            <a:r>
              <a:rPr sz="1800" spc="-70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5" dirty="0">
                <a:solidFill>
                  <a:srgbClr val="124F5B"/>
                </a:solidFill>
                <a:latin typeface="Verdana"/>
                <a:cs typeface="Verdana"/>
              </a:rPr>
              <a:t>dataset</a:t>
            </a:r>
            <a:r>
              <a:rPr sz="1800" spc="-65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50" dirty="0">
                <a:solidFill>
                  <a:srgbClr val="124F5B"/>
                </a:solidFill>
                <a:latin typeface="Verdana"/>
                <a:cs typeface="Verdana"/>
              </a:rPr>
              <a:t>and</a:t>
            </a:r>
            <a:r>
              <a:rPr sz="1800" spc="-65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-5" dirty="0">
                <a:solidFill>
                  <a:srgbClr val="124F5B"/>
                </a:solidFill>
                <a:latin typeface="Verdana"/>
                <a:cs typeface="Verdana"/>
              </a:rPr>
              <a:t>successfully</a:t>
            </a:r>
            <a:r>
              <a:rPr sz="1800" spc="-65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55" dirty="0">
                <a:solidFill>
                  <a:srgbClr val="124F5B"/>
                </a:solidFill>
                <a:latin typeface="Verdana"/>
                <a:cs typeface="Verdana"/>
              </a:rPr>
              <a:t>communicate</a:t>
            </a:r>
            <a:r>
              <a:rPr sz="1800" spc="-65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35" dirty="0">
                <a:solidFill>
                  <a:srgbClr val="124F5B"/>
                </a:solidFill>
                <a:latin typeface="Verdana"/>
                <a:cs typeface="Verdana"/>
              </a:rPr>
              <a:t>the</a:t>
            </a:r>
            <a:r>
              <a:rPr sz="1800" spc="-65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-15" dirty="0">
                <a:solidFill>
                  <a:srgbClr val="124F5B"/>
                </a:solidFill>
                <a:latin typeface="Verdana"/>
                <a:cs typeface="Verdana"/>
              </a:rPr>
              <a:t>results</a:t>
            </a:r>
            <a:r>
              <a:rPr sz="1800" spc="-65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50" dirty="0">
                <a:solidFill>
                  <a:srgbClr val="124F5B"/>
                </a:solidFill>
                <a:latin typeface="Verdana"/>
                <a:cs typeface="Verdana"/>
              </a:rPr>
              <a:t>and</a:t>
            </a:r>
            <a:r>
              <a:rPr sz="1800" spc="-65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10" dirty="0">
                <a:solidFill>
                  <a:srgbClr val="124F5B"/>
                </a:solidFill>
                <a:latin typeface="Verdana"/>
                <a:cs typeface="Verdana"/>
              </a:rPr>
              <a:t>trends</a:t>
            </a:r>
            <a:r>
              <a:rPr sz="1800" spc="-65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10" dirty="0">
                <a:solidFill>
                  <a:srgbClr val="124F5B"/>
                </a:solidFill>
                <a:latin typeface="Verdana"/>
                <a:cs typeface="Verdana"/>
              </a:rPr>
              <a:t>to  </a:t>
            </a:r>
            <a:r>
              <a:rPr sz="1800" spc="35" dirty="0">
                <a:solidFill>
                  <a:srgbClr val="124F5B"/>
                </a:solidFill>
                <a:latin typeface="Verdana"/>
                <a:cs typeface="Verdana"/>
              </a:rPr>
              <a:t>the</a:t>
            </a:r>
            <a:r>
              <a:rPr sz="1800" spc="-170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-50" dirty="0">
                <a:solidFill>
                  <a:srgbClr val="124F5B"/>
                </a:solidFill>
                <a:latin typeface="Verdana"/>
                <a:cs typeface="Verdana"/>
              </a:rPr>
              <a:t>reader.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4021266"/>
            <a:ext cx="9143981" cy="112222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4" y="503825"/>
            <a:ext cx="347345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125" dirty="0"/>
              <a:t>Analysis</a:t>
            </a:r>
            <a:r>
              <a:rPr sz="2800" spc="-229" dirty="0"/>
              <a:t> </a:t>
            </a:r>
            <a:r>
              <a:rPr sz="2800" spc="-110" dirty="0"/>
              <a:t>Summary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384724" y="1175208"/>
            <a:ext cx="8362950" cy="3811270"/>
          </a:xfrm>
          <a:prstGeom prst="rect">
            <a:avLst/>
          </a:prstGeom>
        </p:spPr>
        <p:txBody>
          <a:bodyPr vert="horz" wrap="square" lIns="0" tIns="53340" rIns="0" bIns="0" rtlCol="0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420"/>
              </a:spcBef>
              <a:buFont typeface="AoyagiKouzanFontT"/>
              <a:buChar char="❏"/>
              <a:tabLst>
                <a:tab pos="469265" algn="l"/>
                <a:tab pos="469900" algn="l"/>
              </a:tabLst>
            </a:pPr>
            <a:r>
              <a:rPr sz="1800" spc="40" dirty="0">
                <a:solidFill>
                  <a:srgbClr val="124F5B"/>
                </a:solidFill>
                <a:latin typeface="Verdana"/>
                <a:cs typeface="Verdana"/>
              </a:rPr>
              <a:t>Percentage</a:t>
            </a:r>
            <a:r>
              <a:rPr sz="1800" spc="-170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5" dirty="0">
                <a:solidFill>
                  <a:srgbClr val="124F5B"/>
                </a:solidFill>
                <a:latin typeface="Verdana"/>
                <a:cs typeface="Verdana"/>
              </a:rPr>
              <a:t>of</a:t>
            </a:r>
            <a:r>
              <a:rPr sz="1800" spc="-165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15" dirty="0">
                <a:solidFill>
                  <a:srgbClr val="124F5B"/>
                </a:solidFill>
                <a:latin typeface="Verdana"/>
                <a:cs typeface="Verdana"/>
              </a:rPr>
              <a:t>free</a:t>
            </a:r>
            <a:r>
              <a:rPr sz="1800" spc="-165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30" dirty="0">
                <a:solidFill>
                  <a:srgbClr val="124F5B"/>
                </a:solidFill>
                <a:latin typeface="Verdana"/>
                <a:cs typeface="Verdana"/>
              </a:rPr>
              <a:t>apps</a:t>
            </a:r>
            <a:r>
              <a:rPr sz="1800" spc="-165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-440" dirty="0">
                <a:solidFill>
                  <a:srgbClr val="124F5B"/>
                </a:solidFill>
                <a:latin typeface="Verdana"/>
                <a:cs typeface="Verdana"/>
              </a:rPr>
              <a:t>=</a:t>
            </a:r>
            <a:r>
              <a:rPr sz="1800" spc="-360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b="1" spc="-385" dirty="0">
                <a:solidFill>
                  <a:srgbClr val="124F5B"/>
                </a:solidFill>
                <a:latin typeface="Verdana"/>
                <a:cs typeface="Verdana"/>
              </a:rPr>
              <a:t>~92%</a:t>
            </a:r>
            <a:endParaRPr sz="1800">
              <a:latin typeface="Verdana"/>
              <a:cs typeface="Verdana"/>
            </a:endParaRPr>
          </a:p>
          <a:p>
            <a:pPr marL="469900" indent="-457200">
              <a:lnSpc>
                <a:spcPct val="100000"/>
              </a:lnSpc>
              <a:spcBef>
                <a:spcPts val="325"/>
              </a:spcBef>
              <a:buFont typeface="AoyagiKouzanFontT"/>
              <a:buChar char="❏"/>
              <a:tabLst>
                <a:tab pos="469265" algn="l"/>
                <a:tab pos="469900" algn="l"/>
              </a:tabLst>
            </a:pPr>
            <a:r>
              <a:rPr sz="1800" spc="40" dirty="0">
                <a:solidFill>
                  <a:srgbClr val="124F5B"/>
                </a:solidFill>
                <a:latin typeface="Verdana"/>
                <a:cs typeface="Verdana"/>
              </a:rPr>
              <a:t>Percentage</a:t>
            </a:r>
            <a:r>
              <a:rPr sz="1800" spc="-170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5" dirty="0">
                <a:solidFill>
                  <a:srgbClr val="124F5B"/>
                </a:solidFill>
                <a:latin typeface="Verdana"/>
                <a:cs typeface="Verdana"/>
              </a:rPr>
              <a:t>of</a:t>
            </a:r>
            <a:r>
              <a:rPr sz="1800" spc="-165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30" dirty="0">
                <a:solidFill>
                  <a:srgbClr val="124F5B"/>
                </a:solidFill>
                <a:latin typeface="Verdana"/>
                <a:cs typeface="Verdana"/>
              </a:rPr>
              <a:t>apps</a:t>
            </a:r>
            <a:r>
              <a:rPr sz="1800" spc="-165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50" dirty="0">
                <a:solidFill>
                  <a:srgbClr val="124F5B"/>
                </a:solidFill>
                <a:latin typeface="Verdana"/>
                <a:cs typeface="Verdana"/>
              </a:rPr>
              <a:t>with</a:t>
            </a:r>
            <a:r>
              <a:rPr sz="1800" spc="-165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55" dirty="0">
                <a:solidFill>
                  <a:srgbClr val="124F5B"/>
                </a:solidFill>
                <a:latin typeface="Verdana"/>
                <a:cs typeface="Verdana"/>
              </a:rPr>
              <a:t>no</a:t>
            </a:r>
            <a:r>
              <a:rPr sz="1800" spc="-165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35" dirty="0">
                <a:solidFill>
                  <a:srgbClr val="124F5B"/>
                </a:solidFill>
                <a:latin typeface="Verdana"/>
                <a:cs typeface="Verdana"/>
              </a:rPr>
              <a:t>age</a:t>
            </a:r>
            <a:r>
              <a:rPr sz="1800" spc="-165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-5" dirty="0">
                <a:solidFill>
                  <a:srgbClr val="124F5B"/>
                </a:solidFill>
                <a:latin typeface="Verdana"/>
                <a:cs typeface="Verdana"/>
              </a:rPr>
              <a:t>restrictions</a:t>
            </a:r>
            <a:r>
              <a:rPr sz="1800" spc="-165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-440" dirty="0">
                <a:solidFill>
                  <a:srgbClr val="124F5B"/>
                </a:solidFill>
                <a:latin typeface="Verdana"/>
                <a:cs typeface="Verdana"/>
              </a:rPr>
              <a:t>=</a:t>
            </a:r>
            <a:r>
              <a:rPr sz="1800" spc="-360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b="1" spc="-375" dirty="0">
                <a:solidFill>
                  <a:srgbClr val="124F5B"/>
                </a:solidFill>
                <a:latin typeface="Verdana"/>
                <a:cs typeface="Verdana"/>
              </a:rPr>
              <a:t>~82%</a:t>
            </a:r>
            <a:endParaRPr sz="1800">
              <a:latin typeface="Verdana"/>
              <a:cs typeface="Verdana"/>
            </a:endParaRPr>
          </a:p>
          <a:p>
            <a:pPr marL="469900" indent="-457200">
              <a:lnSpc>
                <a:spcPct val="100000"/>
              </a:lnSpc>
              <a:spcBef>
                <a:spcPts val="325"/>
              </a:spcBef>
              <a:buFont typeface="AoyagiKouzanFontT"/>
              <a:buChar char="❏"/>
              <a:tabLst>
                <a:tab pos="469265" algn="l"/>
                <a:tab pos="469900" algn="l"/>
              </a:tabLst>
            </a:pPr>
            <a:r>
              <a:rPr sz="1800" spc="50" dirty="0">
                <a:solidFill>
                  <a:srgbClr val="124F5B"/>
                </a:solidFill>
                <a:latin typeface="Verdana"/>
                <a:cs typeface="Verdana"/>
              </a:rPr>
              <a:t>Most</a:t>
            </a:r>
            <a:r>
              <a:rPr sz="1800" spc="-484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25" dirty="0">
                <a:solidFill>
                  <a:srgbClr val="124F5B"/>
                </a:solidFill>
                <a:latin typeface="Verdana"/>
                <a:cs typeface="Verdana"/>
              </a:rPr>
              <a:t>competitive </a:t>
            </a:r>
            <a:r>
              <a:rPr sz="1800" spc="-40" dirty="0">
                <a:solidFill>
                  <a:srgbClr val="124F5B"/>
                </a:solidFill>
                <a:latin typeface="Verdana"/>
                <a:cs typeface="Verdana"/>
              </a:rPr>
              <a:t>category: </a:t>
            </a:r>
            <a:r>
              <a:rPr sz="1800" b="1" spc="-70" dirty="0">
                <a:solidFill>
                  <a:srgbClr val="124F5B"/>
                </a:solidFill>
                <a:latin typeface="Verdana"/>
                <a:cs typeface="Verdana"/>
              </a:rPr>
              <a:t>Family</a:t>
            </a:r>
            <a:endParaRPr sz="1800">
              <a:latin typeface="Verdana"/>
              <a:cs typeface="Verdana"/>
            </a:endParaRPr>
          </a:p>
          <a:p>
            <a:pPr marL="469900" indent="-457200">
              <a:lnSpc>
                <a:spcPct val="100000"/>
              </a:lnSpc>
              <a:spcBef>
                <a:spcPts val="325"/>
              </a:spcBef>
              <a:buFont typeface="AoyagiKouzanFontT"/>
              <a:buChar char="❏"/>
              <a:tabLst>
                <a:tab pos="469265" algn="l"/>
                <a:tab pos="469900" algn="l"/>
              </a:tabLst>
            </a:pPr>
            <a:r>
              <a:rPr sz="1800" spc="5" dirty="0">
                <a:solidFill>
                  <a:srgbClr val="124F5B"/>
                </a:solidFill>
                <a:latin typeface="Verdana"/>
                <a:cs typeface="Verdana"/>
              </a:rPr>
              <a:t>Category</a:t>
            </a:r>
            <a:r>
              <a:rPr sz="1800" spc="-165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50" dirty="0">
                <a:solidFill>
                  <a:srgbClr val="124F5B"/>
                </a:solidFill>
                <a:latin typeface="Verdana"/>
                <a:cs typeface="Verdana"/>
              </a:rPr>
              <a:t>with</a:t>
            </a:r>
            <a:r>
              <a:rPr sz="1800" spc="-165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35" dirty="0">
                <a:solidFill>
                  <a:srgbClr val="124F5B"/>
                </a:solidFill>
                <a:latin typeface="Verdana"/>
                <a:cs typeface="Verdana"/>
              </a:rPr>
              <a:t>the</a:t>
            </a:r>
            <a:r>
              <a:rPr sz="1800" spc="-165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30" dirty="0">
                <a:solidFill>
                  <a:srgbClr val="124F5B"/>
                </a:solidFill>
                <a:latin typeface="Verdana"/>
                <a:cs typeface="Verdana"/>
              </a:rPr>
              <a:t>highest</a:t>
            </a:r>
            <a:r>
              <a:rPr sz="1800" spc="-165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60" dirty="0">
                <a:solidFill>
                  <a:srgbClr val="124F5B"/>
                </a:solidFill>
                <a:latin typeface="Verdana"/>
                <a:cs typeface="Verdana"/>
              </a:rPr>
              <a:t>number</a:t>
            </a:r>
            <a:r>
              <a:rPr sz="1800" spc="-165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5" dirty="0">
                <a:solidFill>
                  <a:srgbClr val="124F5B"/>
                </a:solidFill>
                <a:latin typeface="Verdana"/>
                <a:cs typeface="Verdana"/>
              </a:rPr>
              <a:t>of</a:t>
            </a:r>
            <a:r>
              <a:rPr sz="1800" spc="-165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-60" dirty="0">
                <a:solidFill>
                  <a:srgbClr val="124F5B"/>
                </a:solidFill>
                <a:latin typeface="Verdana"/>
                <a:cs typeface="Verdana"/>
              </a:rPr>
              <a:t>installs:</a:t>
            </a:r>
            <a:r>
              <a:rPr sz="1800" spc="-165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b="1" spc="-60" dirty="0">
                <a:solidFill>
                  <a:srgbClr val="124F5B"/>
                </a:solidFill>
                <a:latin typeface="Verdana"/>
                <a:cs typeface="Verdana"/>
              </a:rPr>
              <a:t>Game</a:t>
            </a:r>
            <a:endParaRPr sz="1800">
              <a:latin typeface="Verdana"/>
              <a:cs typeface="Verdana"/>
            </a:endParaRPr>
          </a:p>
          <a:p>
            <a:pPr marL="469900" indent="-457200">
              <a:lnSpc>
                <a:spcPct val="100000"/>
              </a:lnSpc>
              <a:spcBef>
                <a:spcPts val="325"/>
              </a:spcBef>
              <a:buFont typeface="AoyagiKouzanFontT"/>
              <a:buChar char="❏"/>
              <a:tabLst>
                <a:tab pos="469265" algn="l"/>
                <a:tab pos="469900" algn="l"/>
              </a:tabLst>
            </a:pPr>
            <a:r>
              <a:rPr sz="1800" spc="5" dirty="0">
                <a:solidFill>
                  <a:srgbClr val="124F5B"/>
                </a:solidFill>
                <a:latin typeface="Verdana"/>
                <a:cs typeface="Verdana"/>
              </a:rPr>
              <a:t>Category</a:t>
            </a:r>
            <a:r>
              <a:rPr sz="1800" spc="-165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50" dirty="0">
                <a:solidFill>
                  <a:srgbClr val="124F5B"/>
                </a:solidFill>
                <a:latin typeface="Verdana"/>
                <a:cs typeface="Verdana"/>
              </a:rPr>
              <a:t>with</a:t>
            </a:r>
            <a:r>
              <a:rPr sz="1800" spc="-165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35" dirty="0">
                <a:solidFill>
                  <a:srgbClr val="124F5B"/>
                </a:solidFill>
                <a:latin typeface="Verdana"/>
                <a:cs typeface="Verdana"/>
              </a:rPr>
              <a:t>the</a:t>
            </a:r>
            <a:r>
              <a:rPr sz="1800" spc="-160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30" dirty="0">
                <a:solidFill>
                  <a:srgbClr val="124F5B"/>
                </a:solidFill>
                <a:latin typeface="Verdana"/>
                <a:cs typeface="Verdana"/>
              </a:rPr>
              <a:t>highest</a:t>
            </a:r>
            <a:r>
              <a:rPr sz="1800" spc="-165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-15" dirty="0">
                <a:solidFill>
                  <a:srgbClr val="124F5B"/>
                </a:solidFill>
                <a:latin typeface="Verdana"/>
                <a:cs typeface="Verdana"/>
              </a:rPr>
              <a:t>average</a:t>
            </a:r>
            <a:r>
              <a:rPr sz="1800" spc="-165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55" dirty="0">
                <a:solidFill>
                  <a:srgbClr val="124F5B"/>
                </a:solidFill>
                <a:latin typeface="Verdana"/>
                <a:cs typeface="Verdana"/>
              </a:rPr>
              <a:t>app</a:t>
            </a:r>
            <a:r>
              <a:rPr sz="1800" spc="-160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-60" dirty="0">
                <a:solidFill>
                  <a:srgbClr val="124F5B"/>
                </a:solidFill>
                <a:latin typeface="Verdana"/>
                <a:cs typeface="Verdana"/>
              </a:rPr>
              <a:t>installs:</a:t>
            </a:r>
            <a:r>
              <a:rPr sz="1800" spc="-165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b="1" spc="-40" dirty="0">
                <a:solidFill>
                  <a:srgbClr val="124F5B"/>
                </a:solidFill>
                <a:latin typeface="Verdana"/>
                <a:cs typeface="Verdana"/>
              </a:rPr>
              <a:t>Communicaction</a:t>
            </a:r>
            <a:endParaRPr sz="1800">
              <a:latin typeface="Verdana"/>
              <a:cs typeface="Verdana"/>
            </a:endParaRPr>
          </a:p>
          <a:p>
            <a:pPr marL="469900" indent="-457200">
              <a:lnSpc>
                <a:spcPct val="100000"/>
              </a:lnSpc>
              <a:spcBef>
                <a:spcPts val="320"/>
              </a:spcBef>
              <a:buFont typeface="AoyagiKouzanFontT"/>
              <a:buChar char="❏"/>
              <a:tabLst>
                <a:tab pos="469265" algn="l"/>
                <a:tab pos="469900" algn="l"/>
              </a:tabLst>
            </a:pPr>
            <a:r>
              <a:rPr sz="1800" spc="40" dirty="0">
                <a:solidFill>
                  <a:srgbClr val="124F5B"/>
                </a:solidFill>
                <a:latin typeface="Verdana"/>
                <a:cs typeface="Verdana"/>
              </a:rPr>
              <a:t>Percentage</a:t>
            </a:r>
            <a:r>
              <a:rPr sz="1800" spc="-170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5" dirty="0">
                <a:solidFill>
                  <a:srgbClr val="124F5B"/>
                </a:solidFill>
                <a:latin typeface="Verdana"/>
                <a:cs typeface="Verdana"/>
              </a:rPr>
              <a:t>of</a:t>
            </a:r>
            <a:r>
              <a:rPr sz="1800" spc="-165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30" dirty="0">
                <a:solidFill>
                  <a:srgbClr val="124F5B"/>
                </a:solidFill>
                <a:latin typeface="Verdana"/>
                <a:cs typeface="Verdana"/>
              </a:rPr>
              <a:t>apps</a:t>
            </a:r>
            <a:r>
              <a:rPr sz="1800" spc="-165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25" dirty="0">
                <a:solidFill>
                  <a:srgbClr val="124F5B"/>
                </a:solidFill>
                <a:latin typeface="Verdana"/>
                <a:cs typeface="Verdana"/>
              </a:rPr>
              <a:t>that</a:t>
            </a:r>
            <a:r>
              <a:rPr sz="1800" spc="-165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-30" dirty="0">
                <a:solidFill>
                  <a:srgbClr val="124F5B"/>
                </a:solidFill>
                <a:latin typeface="Verdana"/>
                <a:cs typeface="Verdana"/>
              </a:rPr>
              <a:t>are</a:t>
            </a:r>
            <a:r>
              <a:rPr sz="1800" spc="-165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40" dirty="0">
                <a:solidFill>
                  <a:srgbClr val="124F5B"/>
                </a:solidFill>
                <a:latin typeface="Verdana"/>
                <a:cs typeface="Verdana"/>
              </a:rPr>
              <a:t>top</a:t>
            </a:r>
            <a:r>
              <a:rPr sz="1800" spc="-165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124F5B"/>
                </a:solidFill>
                <a:latin typeface="Verdana"/>
                <a:cs typeface="Verdana"/>
              </a:rPr>
              <a:t>rated</a:t>
            </a:r>
            <a:r>
              <a:rPr sz="1800" spc="-165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-440" dirty="0">
                <a:solidFill>
                  <a:srgbClr val="124F5B"/>
                </a:solidFill>
                <a:latin typeface="Verdana"/>
                <a:cs typeface="Verdana"/>
              </a:rPr>
              <a:t>=</a:t>
            </a:r>
            <a:r>
              <a:rPr sz="1800" spc="-370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b="1" spc="-340" dirty="0">
                <a:solidFill>
                  <a:srgbClr val="124F5B"/>
                </a:solidFill>
                <a:latin typeface="Verdana"/>
                <a:cs typeface="Verdana"/>
              </a:rPr>
              <a:t>~80%</a:t>
            </a:r>
            <a:endParaRPr sz="1800">
              <a:latin typeface="Verdana"/>
              <a:cs typeface="Verdana"/>
            </a:endParaRPr>
          </a:p>
          <a:p>
            <a:pPr marL="469900" indent="-457200">
              <a:lnSpc>
                <a:spcPct val="100000"/>
              </a:lnSpc>
              <a:spcBef>
                <a:spcPts val="325"/>
              </a:spcBef>
              <a:buFont typeface="AoyagiKouzanFontT"/>
              <a:buChar char="❏"/>
              <a:tabLst>
                <a:tab pos="469265" algn="l"/>
                <a:tab pos="469900" algn="l"/>
              </a:tabLst>
            </a:pPr>
            <a:r>
              <a:rPr sz="1800" spc="-10" dirty="0">
                <a:solidFill>
                  <a:srgbClr val="124F5B"/>
                </a:solidFill>
                <a:latin typeface="Verdana"/>
                <a:cs typeface="Verdana"/>
              </a:rPr>
              <a:t>There</a:t>
            </a:r>
            <a:r>
              <a:rPr sz="1800" spc="-165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-30" dirty="0">
                <a:solidFill>
                  <a:srgbClr val="124F5B"/>
                </a:solidFill>
                <a:latin typeface="Verdana"/>
                <a:cs typeface="Verdana"/>
              </a:rPr>
              <a:t>are</a:t>
            </a:r>
            <a:r>
              <a:rPr sz="1800" spc="-165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b="1" spc="-145" dirty="0">
                <a:solidFill>
                  <a:srgbClr val="124F5B"/>
                </a:solidFill>
                <a:latin typeface="Verdana"/>
                <a:cs typeface="Verdana"/>
              </a:rPr>
              <a:t>20</a:t>
            </a:r>
            <a:r>
              <a:rPr sz="1800" b="1" spc="-105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15" dirty="0">
                <a:solidFill>
                  <a:srgbClr val="124F5B"/>
                </a:solidFill>
                <a:latin typeface="Verdana"/>
                <a:cs typeface="Verdana"/>
              </a:rPr>
              <a:t>free</a:t>
            </a:r>
            <a:r>
              <a:rPr sz="1800" spc="-165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30" dirty="0">
                <a:solidFill>
                  <a:srgbClr val="124F5B"/>
                </a:solidFill>
                <a:latin typeface="Verdana"/>
                <a:cs typeface="Verdana"/>
              </a:rPr>
              <a:t>apps</a:t>
            </a:r>
            <a:r>
              <a:rPr sz="1800" spc="-160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25" dirty="0">
                <a:solidFill>
                  <a:srgbClr val="124F5B"/>
                </a:solidFill>
                <a:latin typeface="Verdana"/>
                <a:cs typeface="Verdana"/>
              </a:rPr>
              <a:t>that</a:t>
            </a:r>
            <a:r>
              <a:rPr sz="1800" spc="-165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-20" dirty="0">
                <a:solidFill>
                  <a:srgbClr val="124F5B"/>
                </a:solidFill>
                <a:latin typeface="Verdana"/>
                <a:cs typeface="Verdana"/>
              </a:rPr>
              <a:t>have</a:t>
            </a:r>
            <a:r>
              <a:rPr sz="1800" spc="-165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50" dirty="0">
                <a:solidFill>
                  <a:srgbClr val="124F5B"/>
                </a:solidFill>
                <a:latin typeface="Verdana"/>
                <a:cs typeface="Verdana"/>
              </a:rPr>
              <a:t>been</a:t>
            </a:r>
            <a:r>
              <a:rPr sz="1800" spc="-160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10" dirty="0">
                <a:solidFill>
                  <a:srgbClr val="124F5B"/>
                </a:solidFill>
                <a:latin typeface="Verdana"/>
                <a:cs typeface="Verdana"/>
              </a:rPr>
              <a:t>installed</a:t>
            </a:r>
            <a:r>
              <a:rPr sz="1800" spc="-165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-40" dirty="0">
                <a:solidFill>
                  <a:srgbClr val="124F5B"/>
                </a:solidFill>
                <a:latin typeface="Verdana"/>
                <a:cs typeface="Verdana"/>
              </a:rPr>
              <a:t>over</a:t>
            </a:r>
            <a:r>
              <a:rPr sz="1800" spc="-160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-20" dirty="0">
                <a:solidFill>
                  <a:srgbClr val="124F5B"/>
                </a:solidFill>
                <a:latin typeface="Verdana"/>
                <a:cs typeface="Verdana"/>
              </a:rPr>
              <a:t>a</a:t>
            </a:r>
            <a:r>
              <a:rPr sz="1800" spc="-165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b="1" spc="-60" dirty="0">
                <a:solidFill>
                  <a:srgbClr val="124F5B"/>
                </a:solidFill>
                <a:latin typeface="Verdana"/>
                <a:cs typeface="Verdana"/>
              </a:rPr>
              <a:t>billion</a:t>
            </a:r>
            <a:r>
              <a:rPr sz="1800" b="1" spc="-110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25" dirty="0">
                <a:solidFill>
                  <a:srgbClr val="124F5B"/>
                </a:solidFill>
                <a:latin typeface="Verdana"/>
                <a:cs typeface="Verdana"/>
              </a:rPr>
              <a:t>times</a:t>
            </a:r>
            <a:endParaRPr sz="1800">
              <a:latin typeface="Verdana"/>
              <a:cs typeface="Verdana"/>
            </a:endParaRPr>
          </a:p>
          <a:p>
            <a:pPr marL="469265" marR="5080" indent="-457200">
              <a:lnSpc>
                <a:spcPct val="114999"/>
              </a:lnSpc>
              <a:buFont typeface="AoyagiKouzanFontT"/>
              <a:buChar char="❏"/>
              <a:tabLst>
                <a:tab pos="469265" algn="l"/>
                <a:tab pos="469900" algn="l"/>
              </a:tabLst>
            </a:pPr>
            <a:r>
              <a:rPr sz="1800" b="1" spc="-55" dirty="0">
                <a:solidFill>
                  <a:srgbClr val="124F5B"/>
                </a:solidFill>
                <a:latin typeface="Verdana"/>
                <a:cs typeface="Verdana"/>
              </a:rPr>
              <a:t>Minecraft</a:t>
            </a:r>
            <a:r>
              <a:rPr sz="1800" b="1" spc="-40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-35" dirty="0">
                <a:solidFill>
                  <a:srgbClr val="124F5B"/>
                </a:solidFill>
                <a:latin typeface="Verdana"/>
                <a:cs typeface="Verdana"/>
              </a:rPr>
              <a:t>is</a:t>
            </a:r>
            <a:r>
              <a:rPr sz="1800" spc="-100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35" dirty="0">
                <a:solidFill>
                  <a:srgbClr val="124F5B"/>
                </a:solidFill>
                <a:latin typeface="Verdana"/>
                <a:cs typeface="Verdana"/>
              </a:rPr>
              <a:t>the</a:t>
            </a:r>
            <a:r>
              <a:rPr sz="1800" spc="-100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124F5B"/>
                </a:solidFill>
                <a:latin typeface="Verdana"/>
                <a:cs typeface="Verdana"/>
              </a:rPr>
              <a:t>only</a:t>
            </a:r>
            <a:r>
              <a:rPr sz="1800" spc="-100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55" dirty="0">
                <a:solidFill>
                  <a:srgbClr val="124F5B"/>
                </a:solidFill>
                <a:latin typeface="Verdana"/>
                <a:cs typeface="Verdana"/>
              </a:rPr>
              <a:t>app</a:t>
            </a:r>
            <a:r>
              <a:rPr sz="1800" spc="-100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30" dirty="0">
                <a:solidFill>
                  <a:srgbClr val="124F5B"/>
                </a:solidFill>
                <a:latin typeface="Verdana"/>
                <a:cs typeface="Verdana"/>
              </a:rPr>
              <a:t>in</a:t>
            </a:r>
            <a:r>
              <a:rPr sz="1800" spc="-95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35" dirty="0">
                <a:solidFill>
                  <a:srgbClr val="124F5B"/>
                </a:solidFill>
                <a:latin typeface="Verdana"/>
                <a:cs typeface="Verdana"/>
              </a:rPr>
              <a:t>the</a:t>
            </a:r>
            <a:r>
              <a:rPr sz="1800" spc="-100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35" dirty="0">
                <a:solidFill>
                  <a:srgbClr val="124F5B"/>
                </a:solidFill>
                <a:latin typeface="Verdana"/>
                <a:cs typeface="Verdana"/>
              </a:rPr>
              <a:t>paid</a:t>
            </a:r>
            <a:r>
              <a:rPr sz="1800" spc="-100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10" dirty="0">
                <a:solidFill>
                  <a:srgbClr val="124F5B"/>
                </a:solidFill>
                <a:latin typeface="Verdana"/>
                <a:cs typeface="Verdana"/>
              </a:rPr>
              <a:t>category</a:t>
            </a:r>
            <a:r>
              <a:rPr sz="1800" spc="-100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50" dirty="0">
                <a:solidFill>
                  <a:srgbClr val="124F5B"/>
                </a:solidFill>
                <a:latin typeface="Verdana"/>
                <a:cs typeface="Verdana"/>
              </a:rPr>
              <a:t>with</a:t>
            </a:r>
            <a:r>
              <a:rPr sz="1800" spc="-100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-40" dirty="0">
                <a:solidFill>
                  <a:srgbClr val="124F5B"/>
                </a:solidFill>
                <a:latin typeface="Verdana"/>
                <a:cs typeface="Verdana"/>
              </a:rPr>
              <a:t>over</a:t>
            </a:r>
            <a:r>
              <a:rPr sz="1800" spc="-85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b="1" spc="-210" dirty="0">
                <a:solidFill>
                  <a:srgbClr val="124F5B"/>
                </a:solidFill>
                <a:latin typeface="Verdana"/>
                <a:cs typeface="Verdana"/>
              </a:rPr>
              <a:t>10M</a:t>
            </a:r>
            <a:r>
              <a:rPr sz="1800" b="1" spc="-35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-40" dirty="0">
                <a:solidFill>
                  <a:srgbClr val="124F5B"/>
                </a:solidFill>
                <a:latin typeface="Verdana"/>
                <a:cs typeface="Verdana"/>
              </a:rPr>
              <a:t>installs,  </a:t>
            </a:r>
            <a:r>
              <a:rPr sz="1800" spc="50" dirty="0">
                <a:solidFill>
                  <a:srgbClr val="124F5B"/>
                </a:solidFill>
                <a:latin typeface="Verdana"/>
                <a:cs typeface="Verdana"/>
              </a:rPr>
              <a:t>and</a:t>
            </a:r>
            <a:r>
              <a:rPr sz="1800" spc="-165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-15" dirty="0">
                <a:solidFill>
                  <a:srgbClr val="124F5B"/>
                </a:solidFill>
                <a:latin typeface="Verdana"/>
                <a:cs typeface="Verdana"/>
              </a:rPr>
              <a:t>also</a:t>
            </a:r>
            <a:r>
              <a:rPr sz="1800" spc="-160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124F5B"/>
                </a:solidFill>
                <a:latin typeface="Verdana"/>
                <a:cs typeface="Verdana"/>
              </a:rPr>
              <a:t>has</a:t>
            </a:r>
            <a:r>
              <a:rPr sz="1800" spc="-160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50" dirty="0">
                <a:solidFill>
                  <a:srgbClr val="124F5B"/>
                </a:solidFill>
                <a:latin typeface="Verdana"/>
                <a:cs typeface="Verdana"/>
              </a:rPr>
              <a:t>produced</a:t>
            </a:r>
            <a:r>
              <a:rPr sz="1800" spc="-165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35" dirty="0">
                <a:solidFill>
                  <a:srgbClr val="124F5B"/>
                </a:solidFill>
                <a:latin typeface="Verdana"/>
                <a:cs typeface="Verdana"/>
              </a:rPr>
              <a:t>the</a:t>
            </a:r>
            <a:r>
              <a:rPr sz="1800" spc="-160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35" dirty="0">
                <a:solidFill>
                  <a:srgbClr val="124F5B"/>
                </a:solidFill>
                <a:latin typeface="Verdana"/>
                <a:cs typeface="Verdana"/>
              </a:rPr>
              <a:t>most</a:t>
            </a:r>
            <a:r>
              <a:rPr sz="1800" spc="-160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-5" dirty="0">
                <a:solidFill>
                  <a:srgbClr val="124F5B"/>
                </a:solidFill>
                <a:latin typeface="Verdana"/>
                <a:cs typeface="Verdana"/>
              </a:rPr>
              <a:t>revenue</a:t>
            </a:r>
            <a:r>
              <a:rPr sz="1800" spc="-160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124F5B"/>
                </a:solidFill>
                <a:latin typeface="Verdana"/>
                <a:cs typeface="Verdana"/>
              </a:rPr>
              <a:t>only</a:t>
            </a:r>
            <a:r>
              <a:rPr sz="1800" spc="-165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60" dirty="0">
                <a:solidFill>
                  <a:srgbClr val="124F5B"/>
                </a:solidFill>
                <a:latin typeface="Verdana"/>
                <a:cs typeface="Verdana"/>
              </a:rPr>
              <a:t>from</a:t>
            </a:r>
            <a:r>
              <a:rPr sz="1800" spc="-160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5" dirty="0">
                <a:solidFill>
                  <a:srgbClr val="124F5B"/>
                </a:solidFill>
                <a:latin typeface="Verdana"/>
                <a:cs typeface="Verdana"/>
              </a:rPr>
              <a:t>installation</a:t>
            </a:r>
            <a:r>
              <a:rPr sz="1800" spc="-160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-75" dirty="0">
                <a:solidFill>
                  <a:srgbClr val="124F5B"/>
                </a:solidFill>
                <a:latin typeface="Verdana"/>
                <a:cs typeface="Verdana"/>
              </a:rPr>
              <a:t>fee.</a:t>
            </a:r>
            <a:endParaRPr sz="1800">
              <a:latin typeface="Verdana"/>
              <a:cs typeface="Verdana"/>
            </a:endParaRPr>
          </a:p>
          <a:p>
            <a:pPr marL="469265" marR="5080" indent="-457200">
              <a:lnSpc>
                <a:spcPct val="114999"/>
              </a:lnSpc>
              <a:buFont typeface="AoyagiKouzanFontT"/>
              <a:buChar char="❏"/>
              <a:tabLst>
                <a:tab pos="469265" algn="l"/>
                <a:tab pos="469900" algn="l"/>
              </a:tabLst>
            </a:pPr>
            <a:r>
              <a:rPr sz="1800" spc="-10" dirty="0">
                <a:solidFill>
                  <a:srgbClr val="124F5B"/>
                </a:solidFill>
                <a:latin typeface="Verdana"/>
                <a:cs typeface="Verdana"/>
              </a:rPr>
              <a:t>There</a:t>
            </a:r>
            <a:r>
              <a:rPr sz="1800" spc="-165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-35" dirty="0">
                <a:solidFill>
                  <a:srgbClr val="124F5B"/>
                </a:solidFill>
                <a:latin typeface="Verdana"/>
                <a:cs typeface="Verdana"/>
              </a:rPr>
              <a:t>is</a:t>
            </a:r>
            <a:r>
              <a:rPr sz="1800" spc="-160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-20" dirty="0">
                <a:solidFill>
                  <a:srgbClr val="124F5B"/>
                </a:solidFill>
                <a:latin typeface="Verdana"/>
                <a:cs typeface="Verdana"/>
              </a:rPr>
              <a:t>a</a:t>
            </a:r>
            <a:r>
              <a:rPr sz="1800" spc="-160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b="1" spc="-70" dirty="0">
                <a:solidFill>
                  <a:srgbClr val="124F5B"/>
                </a:solidFill>
                <a:latin typeface="Verdana"/>
                <a:cs typeface="Verdana"/>
              </a:rPr>
              <a:t>positive</a:t>
            </a:r>
            <a:r>
              <a:rPr sz="1800" b="1" spc="-105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5" dirty="0">
                <a:solidFill>
                  <a:srgbClr val="124F5B"/>
                </a:solidFill>
                <a:latin typeface="Verdana"/>
                <a:cs typeface="Verdana"/>
              </a:rPr>
              <a:t>correlation</a:t>
            </a:r>
            <a:r>
              <a:rPr sz="1800" spc="-160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40" dirty="0">
                <a:solidFill>
                  <a:srgbClr val="124F5B"/>
                </a:solidFill>
                <a:latin typeface="Verdana"/>
                <a:cs typeface="Verdana"/>
              </a:rPr>
              <a:t>between</a:t>
            </a:r>
            <a:r>
              <a:rPr sz="1800" spc="-160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35" dirty="0">
                <a:solidFill>
                  <a:srgbClr val="124F5B"/>
                </a:solidFill>
                <a:latin typeface="Verdana"/>
                <a:cs typeface="Verdana"/>
              </a:rPr>
              <a:t>the</a:t>
            </a:r>
            <a:r>
              <a:rPr sz="1800" spc="-160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b="1" spc="-100" dirty="0">
                <a:solidFill>
                  <a:srgbClr val="124F5B"/>
                </a:solidFill>
                <a:latin typeface="Verdana"/>
                <a:cs typeface="Verdana"/>
              </a:rPr>
              <a:t>reviews</a:t>
            </a:r>
            <a:r>
              <a:rPr sz="1800" b="1" spc="-105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50" dirty="0">
                <a:solidFill>
                  <a:srgbClr val="124F5B"/>
                </a:solidFill>
                <a:latin typeface="Verdana"/>
                <a:cs typeface="Verdana"/>
              </a:rPr>
              <a:t>and</a:t>
            </a:r>
            <a:r>
              <a:rPr sz="1800" spc="-160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b="1" spc="-100" dirty="0">
                <a:solidFill>
                  <a:srgbClr val="124F5B"/>
                </a:solidFill>
                <a:latin typeface="Verdana"/>
                <a:cs typeface="Verdana"/>
              </a:rPr>
              <a:t>installs</a:t>
            </a:r>
            <a:r>
              <a:rPr sz="1800" spc="-100" dirty="0">
                <a:solidFill>
                  <a:srgbClr val="124F5B"/>
                </a:solidFill>
                <a:latin typeface="Verdana"/>
                <a:cs typeface="Verdana"/>
              </a:rPr>
              <a:t>.</a:t>
            </a:r>
            <a:r>
              <a:rPr sz="1800" spc="-165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75" dirty="0">
                <a:solidFill>
                  <a:srgbClr val="124F5B"/>
                </a:solidFill>
                <a:latin typeface="Verdana"/>
                <a:cs typeface="Verdana"/>
              </a:rPr>
              <a:t>And  </a:t>
            </a:r>
            <a:r>
              <a:rPr sz="1800" spc="-15" dirty="0">
                <a:solidFill>
                  <a:srgbClr val="124F5B"/>
                </a:solidFill>
                <a:latin typeface="Verdana"/>
                <a:cs typeface="Verdana"/>
              </a:rPr>
              <a:t>also</a:t>
            </a:r>
            <a:r>
              <a:rPr sz="1800" spc="-165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40" dirty="0">
                <a:solidFill>
                  <a:srgbClr val="124F5B"/>
                </a:solidFill>
                <a:latin typeface="Verdana"/>
                <a:cs typeface="Verdana"/>
              </a:rPr>
              <a:t>between</a:t>
            </a:r>
            <a:r>
              <a:rPr sz="1800" spc="-165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b="1" spc="-65" dirty="0">
                <a:solidFill>
                  <a:srgbClr val="124F5B"/>
                </a:solidFill>
                <a:latin typeface="Verdana"/>
                <a:cs typeface="Verdana"/>
              </a:rPr>
              <a:t>rating</a:t>
            </a:r>
            <a:r>
              <a:rPr sz="1800" b="1" spc="-110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50" dirty="0">
                <a:solidFill>
                  <a:srgbClr val="124F5B"/>
                </a:solidFill>
                <a:latin typeface="Verdana"/>
                <a:cs typeface="Verdana"/>
              </a:rPr>
              <a:t>with</a:t>
            </a:r>
            <a:r>
              <a:rPr sz="1800" spc="-165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b="1" spc="-80" dirty="0">
                <a:solidFill>
                  <a:srgbClr val="124F5B"/>
                </a:solidFill>
                <a:latin typeface="Verdana"/>
                <a:cs typeface="Verdana"/>
              </a:rPr>
              <a:t>installs</a:t>
            </a:r>
            <a:r>
              <a:rPr sz="1800" b="1" spc="-110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50" dirty="0">
                <a:solidFill>
                  <a:srgbClr val="124F5B"/>
                </a:solidFill>
                <a:latin typeface="Verdana"/>
                <a:cs typeface="Verdana"/>
              </a:rPr>
              <a:t>and</a:t>
            </a:r>
            <a:r>
              <a:rPr sz="1800" spc="-165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b="1" spc="-120" dirty="0">
                <a:solidFill>
                  <a:srgbClr val="124F5B"/>
                </a:solidFill>
                <a:latin typeface="Verdana"/>
                <a:cs typeface="Verdana"/>
              </a:rPr>
              <a:t>reviews</a:t>
            </a:r>
            <a:r>
              <a:rPr sz="1800" spc="-120" dirty="0">
                <a:solidFill>
                  <a:srgbClr val="124F5B"/>
                </a:solidFill>
                <a:latin typeface="Verdana"/>
                <a:cs typeface="Verdana"/>
              </a:rPr>
              <a:t>.</a:t>
            </a:r>
            <a:endParaRPr sz="1800">
              <a:latin typeface="Verdana"/>
              <a:cs typeface="Verdana"/>
            </a:endParaRPr>
          </a:p>
          <a:p>
            <a:pPr marL="469900" indent="-457200">
              <a:lnSpc>
                <a:spcPct val="100000"/>
              </a:lnSpc>
              <a:spcBef>
                <a:spcPts val="325"/>
              </a:spcBef>
              <a:buFont typeface="AoyagiKouzanFontT"/>
              <a:buChar char="❏"/>
              <a:tabLst>
                <a:tab pos="469265" algn="l"/>
                <a:tab pos="469900" algn="l"/>
              </a:tabLst>
            </a:pPr>
            <a:r>
              <a:rPr sz="1800" b="1" spc="-60" dirty="0">
                <a:solidFill>
                  <a:srgbClr val="124F5B"/>
                </a:solidFill>
                <a:latin typeface="Verdana"/>
                <a:cs typeface="Verdana"/>
              </a:rPr>
              <a:t>Price</a:t>
            </a:r>
            <a:r>
              <a:rPr sz="1800" b="1" spc="-110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-35" dirty="0">
                <a:solidFill>
                  <a:srgbClr val="124F5B"/>
                </a:solidFill>
                <a:latin typeface="Verdana"/>
                <a:cs typeface="Verdana"/>
              </a:rPr>
              <a:t>is</a:t>
            </a:r>
            <a:r>
              <a:rPr sz="1800" spc="-160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b="1" spc="-65" dirty="0">
                <a:solidFill>
                  <a:srgbClr val="124F5B"/>
                </a:solidFill>
                <a:latin typeface="Verdana"/>
                <a:cs typeface="Verdana"/>
              </a:rPr>
              <a:t>negatively</a:t>
            </a:r>
            <a:r>
              <a:rPr sz="1800" b="1" spc="-105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124F5B"/>
                </a:solidFill>
                <a:latin typeface="Verdana"/>
                <a:cs typeface="Verdana"/>
              </a:rPr>
              <a:t>correlated</a:t>
            </a:r>
            <a:r>
              <a:rPr sz="1800" spc="-160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50" dirty="0">
                <a:solidFill>
                  <a:srgbClr val="124F5B"/>
                </a:solidFill>
                <a:latin typeface="Verdana"/>
                <a:cs typeface="Verdana"/>
              </a:rPr>
              <a:t>with</a:t>
            </a:r>
            <a:r>
              <a:rPr sz="1800" spc="-165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35" dirty="0">
                <a:solidFill>
                  <a:srgbClr val="124F5B"/>
                </a:solidFill>
                <a:latin typeface="Verdana"/>
                <a:cs typeface="Verdana"/>
              </a:rPr>
              <a:t>the</a:t>
            </a:r>
            <a:r>
              <a:rPr sz="1800" spc="-160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b="1" spc="-95" dirty="0">
                <a:solidFill>
                  <a:srgbClr val="124F5B"/>
                </a:solidFill>
                <a:latin typeface="Verdana"/>
                <a:cs typeface="Verdana"/>
              </a:rPr>
              <a:t>rating</a:t>
            </a:r>
            <a:r>
              <a:rPr sz="1800" spc="-95" dirty="0">
                <a:solidFill>
                  <a:srgbClr val="124F5B"/>
                </a:solidFill>
                <a:latin typeface="Verdana"/>
                <a:cs typeface="Verdana"/>
              </a:rPr>
              <a:t>,</a:t>
            </a:r>
            <a:r>
              <a:rPr sz="1800" spc="-165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b="1" spc="-120" dirty="0">
                <a:solidFill>
                  <a:srgbClr val="124F5B"/>
                </a:solidFill>
                <a:latin typeface="Verdana"/>
                <a:cs typeface="Verdana"/>
              </a:rPr>
              <a:t>reviews</a:t>
            </a:r>
            <a:r>
              <a:rPr sz="1800" spc="-120" dirty="0">
                <a:solidFill>
                  <a:srgbClr val="124F5B"/>
                </a:solidFill>
                <a:latin typeface="Verdana"/>
                <a:cs typeface="Verdana"/>
              </a:rPr>
              <a:t>,</a:t>
            </a:r>
            <a:r>
              <a:rPr sz="1800" spc="-160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50" dirty="0">
                <a:solidFill>
                  <a:srgbClr val="124F5B"/>
                </a:solidFill>
                <a:latin typeface="Verdana"/>
                <a:cs typeface="Verdana"/>
              </a:rPr>
              <a:t>and</a:t>
            </a:r>
            <a:r>
              <a:rPr sz="1800" spc="-165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b="1" spc="-100" dirty="0">
                <a:solidFill>
                  <a:srgbClr val="124F5B"/>
                </a:solidFill>
                <a:latin typeface="Verdana"/>
                <a:cs typeface="Verdana"/>
              </a:rPr>
              <a:t>installs</a:t>
            </a:r>
            <a:r>
              <a:rPr sz="1800" spc="-100" dirty="0">
                <a:solidFill>
                  <a:srgbClr val="124F5B"/>
                </a:solidFill>
                <a:latin typeface="Verdana"/>
                <a:cs typeface="Verdana"/>
              </a:rPr>
              <a:t>.</a:t>
            </a:r>
            <a:endParaRPr sz="18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4" y="503825"/>
            <a:ext cx="504888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125" dirty="0"/>
              <a:t>Analysis </a:t>
            </a:r>
            <a:r>
              <a:rPr sz="2800" spc="-110" dirty="0"/>
              <a:t>Summary</a:t>
            </a:r>
            <a:r>
              <a:rPr sz="2800" spc="-260" dirty="0"/>
              <a:t> </a:t>
            </a:r>
            <a:r>
              <a:rPr sz="2800" spc="-204" dirty="0"/>
              <a:t>(Contd.)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384724" y="1216356"/>
            <a:ext cx="48641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69265" algn="l"/>
                <a:tab pos="1707514" algn="l"/>
                <a:tab pos="2118360" algn="l"/>
                <a:tab pos="3012440" algn="l"/>
                <a:tab pos="3593465" algn="l"/>
                <a:tab pos="4293870" algn="l"/>
              </a:tabLst>
            </a:pPr>
            <a:r>
              <a:rPr sz="1800" dirty="0">
                <a:solidFill>
                  <a:srgbClr val="124F5B"/>
                </a:solidFill>
                <a:latin typeface="AoyagiKouzanFontT"/>
                <a:cs typeface="AoyagiKouzanFontT"/>
              </a:rPr>
              <a:t>❏	</a:t>
            </a:r>
            <a:r>
              <a:rPr sz="1800" spc="20" dirty="0">
                <a:solidFill>
                  <a:srgbClr val="124F5B"/>
                </a:solidFill>
                <a:latin typeface="Verdana"/>
                <a:cs typeface="Verdana"/>
              </a:rPr>
              <a:t>C</a:t>
            </a:r>
            <a:r>
              <a:rPr sz="1800" dirty="0">
                <a:solidFill>
                  <a:srgbClr val="124F5B"/>
                </a:solidFill>
                <a:latin typeface="Verdana"/>
                <a:cs typeface="Verdana"/>
              </a:rPr>
              <a:t>a</a:t>
            </a:r>
            <a:r>
              <a:rPr sz="1800" spc="-35" dirty="0">
                <a:solidFill>
                  <a:srgbClr val="124F5B"/>
                </a:solidFill>
                <a:latin typeface="Verdana"/>
                <a:cs typeface="Verdana"/>
              </a:rPr>
              <a:t>t</a:t>
            </a:r>
            <a:r>
              <a:rPr sz="1800" spc="30" dirty="0">
                <a:solidFill>
                  <a:srgbClr val="124F5B"/>
                </a:solidFill>
                <a:latin typeface="Verdana"/>
                <a:cs typeface="Verdana"/>
              </a:rPr>
              <a:t>ego</a:t>
            </a:r>
            <a:r>
              <a:rPr sz="1800" spc="45" dirty="0">
                <a:solidFill>
                  <a:srgbClr val="124F5B"/>
                </a:solidFill>
                <a:latin typeface="Verdana"/>
                <a:cs typeface="Verdana"/>
              </a:rPr>
              <a:t>r</a:t>
            </a:r>
            <a:r>
              <a:rPr sz="1800" spc="-90" dirty="0">
                <a:solidFill>
                  <a:srgbClr val="124F5B"/>
                </a:solidFill>
                <a:latin typeface="Verdana"/>
                <a:cs typeface="Verdana"/>
              </a:rPr>
              <a:t>y</a:t>
            </a:r>
            <a:r>
              <a:rPr sz="1800" dirty="0">
                <a:solidFill>
                  <a:srgbClr val="124F5B"/>
                </a:solidFill>
                <a:latin typeface="Verdana"/>
                <a:cs typeface="Verdana"/>
              </a:rPr>
              <a:t>	</a:t>
            </a:r>
            <a:r>
              <a:rPr sz="1800" spc="30" dirty="0">
                <a:solidFill>
                  <a:srgbClr val="124F5B"/>
                </a:solidFill>
                <a:latin typeface="Verdana"/>
                <a:cs typeface="Verdana"/>
              </a:rPr>
              <a:t>in</a:t>
            </a:r>
            <a:r>
              <a:rPr sz="1800" dirty="0">
                <a:solidFill>
                  <a:srgbClr val="124F5B"/>
                </a:solidFill>
                <a:latin typeface="Verdana"/>
                <a:cs typeface="Verdana"/>
              </a:rPr>
              <a:t>	</a:t>
            </a:r>
            <a:r>
              <a:rPr sz="1800" spc="65" dirty="0">
                <a:solidFill>
                  <a:srgbClr val="124F5B"/>
                </a:solidFill>
                <a:latin typeface="Verdana"/>
                <a:cs typeface="Verdana"/>
              </a:rPr>
              <a:t>whi</a:t>
            </a:r>
            <a:r>
              <a:rPr sz="1800" spc="40" dirty="0">
                <a:solidFill>
                  <a:srgbClr val="124F5B"/>
                </a:solidFill>
                <a:latin typeface="Verdana"/>
                <a:cs typeface="Verdana"/>
              </a:rPr>
              <a:t>c</a:t>
            </a:r>
            <a:r>
              <a:rPr sz="1800" spc="75" dirty="0">
                <a:solidFill>
                  <a:srgbClr val="124F5B"/>
                </a:solidFill>
                <a:latin typeface="Verdana"/>
                <a:cs typeface="Verdana"/>
              </a:rPr>
              <a:t>h</a:t>
            </a:r>
            <a:r>
              <a:rPr sz="1800" dirty="0">
                <a:solidFill>
                  <a:srgbClr val="124F5B"/>
                </a:solidFill>
                <a:latin typeface="Verdana"/>
                <a:cs typeface="Verdana"/>
              </a:rPr>
              <a:t>	</a:t>
            </a:r>
            <a:r>
              <a:rPr sz="1800" spc="50" dirty="0">
                <a:solidFill>
                  <a:srgbClr val="124F5B"/>
                </a:solidFill>
                <a:latin typeface="Verdana"/>
                <a:cs typeface="Verdana"/>
              </a:rPr>
              <a:t>th</a:t>
            </a:r>
            <a:r>
              <a:rPr sz="1800" spc="10" dirty="0">
                <a:solidFill>
                  <a:srgbClr val="124F5B"/>
                </a:solidFill>
                <a:latin typeface="Verdana"/>
                <a:cs typeface="Verdana"/>
              </a:rPr>
              <a:t>e</a:t>
            </a:r>
            <a:r>
              <a:rPr sz="1800" dirty="0">
                <a:solidFill>
                  <a:srgbClr val="124F5B"/>
                </a:solidFill>
                <a:latin typeface="Verdana"/>
                <a:cs typeface="Verdana"/>
              </a:rPr>
              <a:t>	</a:t>
            </a:r>
            <a:r>
              <a:rPr sz="1800" spc="85" dirty="0">
                <a:solidFill>
                  <a:srgbClr val="124F5B"/>
                </a:solidFill>
                <a:latin typeface="Verdana"/>
                <a:cs typeface="Verdana"/>
              </a:rPr>
              <a:t>p</a:t>
            </a:r>
            <a:r>
              <a:rPr sz="1800" spc="20" dirty="0">
                <a:solidFill>
                  <a:srgbClr val="124F5B"/>
                </a:solidFill>
                <a:latin typeface="Verdana"/>
                <a:cs typeface="Verdana"/>
              </a:rPr>
              <a:t>aid</a:t>
            </a:r>
            <a:r>
              <a:rPr sz="1800" dirty="0">
                <a:solidFill>
                  <a:srgbClr val="124F5B"/>
                </a:solidFill>
                <a:latin typeface="Verdana"/>
                <a:cs typeface="Verdana"/>
              </a:rPr>
              <a:t>	</a:t>
            </a:r>
            <a:r>
              <a:rPr sz="1800" spc="30" dirty="0">
                <a:solidFill>
                  <a:srgbClr val="124F5B"/>
                </a:solidFill>
                <a:latin typeface="Verdana"/>
                <a:cs typeface="Verdana"/>
              </a:rPr>
              <a:t>apps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417571" y="1216356"/>
            <a:ext cx="33242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53110" algn="l"/>
                <a:tab pos="1334135" algn="l"/>
                <a:tab pos="2399665" algn="l"/>
              </a:tabLst>
            </a:pPr>
            <a:r>
              <a:rPr sz="1800" spc="30" dirty="0">
                <a:solidFill>
                  <a:srgbClr val="124F5B"/>
                </a:solidFill>
                <a:latin typeface="Verdana"/>
                <a:cs typeface="Verdana"/>
              </a:rPr>
              <a:t>h</a:t>
            </a:r>
            <a:r>
              <a:rPr sz="1800" spc="5" dirty="0">
                <a:solidFill>
                  <a:srgbClr val="124F5B"/>
                </a:solidFill>
                <a:latin typeface="Verdana"/>
                <a:cs typeface="Verdana"/>
              </a:rPr>
              <a:t>a</a:t>
            </a:r>
            <a:r>
              <a:rPr sz="1800" spc="-120" dirty="0">
                <a:solidFill>
                  <a:srgbClr val="124F5B"/>
                </a:solidFill>
                <a:latin typeface="Verdana"/>
                <a:cs typeface="Verdana"/>
              </a:rPr>
              <a:t>v</a:t>
            </a:r>
            <a:r>
              <a:rPr sz="1800" spc="10" dirty="0">
                <a:solidFill>
                  <a:srgbClr val="124F5B"/>
                </a:solidFill>
                <a:latin typeface="Verdana"/>
                <a:cs typeface="Verdana"/>
              </a:rPr>
              <a:t>e</a:t>
            </a:r>
            <a:r>
              <a:rPr sz="1800" dirty="0">
                <a:solidFill>
                  <a:srgbClr val="124F5B"/>
                </a:solidFill>
                <a:latin typeface="Verdana"/>
                <a:cs typeface="Verdana"/>
              </a:rPr>
              <a:t>	</a:t>
            </a:r>
            <a:r>
              <a:rPr sz="1800" spc="50" dirty="0">
                <a:solidFill>
                  <a:srgbClr val="124F5B"/>
                </a:solidFill>
                <a:latin typeface="Verdana"/>
                <a:cs typeface="Verdana"/>
              </a:rPr>
              <a:t>th</a:t>
            </a:r>
            <a:r>
              <a:rPr sz="1800" spc="10" dirty="0">
                <a:solidFill>
                  <a:srgbClr val="124F5B"/>
                </a:solidFill>
                <a:latin typeface="Verdana"/>
                <a:cs typeface="Verdana"/>
              </a:rPr>
              <a:t>e</a:t>
            </a:r>
            <a:r>
              <a:rPr sz="1800" dirty="0">
                <a:solidFill>
                  <a:srgbClr val="124F5B"/>
                </a:solidFill>
                <a:latin typeface="Verdana"/>
                <a:cs typeface="Verdana"/>
              </a:rPr>
              <a:t>	</a:t>
            </a:r>
            <a:r>
              <a:rPr sz="1800" spc="65" dirty="0">
                <a:solidFill>
                  <a:srgbClr val="124F5B"/>
                </a:solidFill>
                <a:latin typeface="Verdana"/>
                <a:cs typeface="Verdana"/>
              </a:rPr>
              <a:t>high</a:t>
            </a:r>
            <a:r>
              <a:rPr sz="1800" spc="-10" dirty="0">
                <a:solidFill>
                  <a:srgbClr val="124F5B"/>
                </a:solidFill>
                <a:latin typeface="Verdana"/>
                <a:cs typeface="Verdana"/>
              </a:rPr>
              <a:t>est</a:t>
            </a:r>
            <a:r>
              <a:rPr sz="1800" dirty="0">
                <a:solidFill>
                  <a:srgbClr val="124F5B"/>
                </a:solidFill>
                <a:latin typeface="Verdana"/>
                <a:cs typeface="Verdana"/>
              </a:rPr>
              <a:t>	</a:t>
            </a:r>
            <a:r>
              <a:rPr sz="1800" spc="-40" dirty="0">
                <a:solidFill>
                  <a:srgbClr val="124F5B"/>
                </a:solidFill>
                <a:latin typeface="Verdana"/>
                <a:cs typeface="Verdana"/>
              </a:rPr>
              <a:t>a</a:t>
            </a:r>
            <a:r>
              <a:rPr sz="1800" spc="-120" dirty="0">
                <a:solidFill>
                  <a:srgbClr val="124F5B"/>
                </a:solidFill>
                <a:latin typeface="Verdana"/>
                <a:cs typeface="Verdana"/>
              </a:rPr>
              <a:t>v</a:t>
            </a:r>
            <a:r>
              <a:rPr sz="1800" spc="-20" dirty="0">
                <a:solidFill>
                  <a:srgbClr val="124F5B"/>
                </a:solidFill>
                <a:latin typeface="Verdana"/>
                <a:cs typeface="Verdana"/>
              </a:rPr>
              <a:t>e</a:t>
            </a:r>
            <a:r>
              <a:rPr sz="1800" spc="-35" dirty="0">
                <a:solidFill>
                  <a:srgbClr val="124F5B"/>
                </a:solidFill>
                <a:latin typeface="Verdana"/>
                <a:cs typeface="Verdana"/>
              </a:rPr>
              <a:t>r</a:t>
            </a:r>
            <a:r>
              <a:rPr sz="1800" spc="-20" dirty="0">
                <a:solidFill>
                  <a:srgbClr val="124F5B"/>
                </a:solidFill>
                <a:latin typeface="Verdana"/>
                <a:cs typeface="Verdana"/>
              </a:rPr>
              <a:t>a</a:t>
            </a:r>
            <a:r>
              <a:rPr sz="1800" spc="60" dirty="0">
                <a:solidFill>
                  <a:srgbClr val="124F5B"/>
                </a:solidFill>
                <a:latin typeface="Verdana"/>
                <a:cs typeface="Verdana"/>
              </a:rPr>
              <a:t>ge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53340" rIns="0" bIns="0" rtlCol="0">
            <a:spAutoFit/>
          </a:bodyPr>
          <a:lstStyle/>
          <a:p>
            <a:pPr marL="469265">
              <a:lnSpc>
                <a:spcPct val="100000"/>
              </a:lnSpc>
              <a:spcBef>
                <a:spcPts val="420"/>
              </a:spcBef>
            </a:pPr>
            <a:r>
              <a:rPr spc="5" dirty="0"/>
              <a:t>installation </a:t>
            </a:r>
            <a:r>
              <a:rPr spc="-114" dirty="0"/>
              <a:t>fee:</a:t>
            </a:r>
            <a:r>
              <a:rPr spc="-340" dirty="0"/>
              <a:t> </a:t>
            </a:r>
            <a:r>
              <a:rPr b="1" spc="-50" dirty="0">
                <a:latin typeface="Verdana"/>
                <a:cs typeface="Verdana"/>
              </a:rPr>
              <a:t>Finance</a:t>
            </a:r>
          </a:p>
          <a:p>
            <a:pPr marL="469900" indent="-457200">
              <a:lnSpc>
                <a:spcPct val="100000"/>
              </a:lnSpc>
              <a:spcBef>
                <a:spcPts val="325"/>
              </a:spcBef>
              <a:buFont typeface="AoyagiKouzanFontT"/>
              <a:buChar char="❏"/>
              <a:tabLst>
                <a:tab pos="469265" algn="l"/>
                <a:tab pos="469900" algn="l"/>
              </a:tabLst>
            </a:pPr>
            <a:r>
              <a:rPr spc="50" dirty="0"/>
              <a:t>Most</a:t>
            </a:r>
            <a:r>
              <a:rPr spc="-85" dirty="0"/>
              <a:t> </a:t>
            </a:r>
            <a:r>
              <a:rPr spc="30" dirty="0"/>
              <a:t>popular</a:t>
            </a:r>
            <a:r>
              <a:rPr spc="-80" dirty="0"/>
              <a:t> </a:t>
            </a:r>
            <a:r>
              <a:rPr spc="55" dirty="0"/>
              <a:t>app</a:t>
            </a:r>
            <a:r>
              <a:rPr spc="-80" dirty="0"/>
              <a:t> </a:t>
            </a:r>
            <a:r>
              <a:rPr spc="30" dirty="0"/>
              <a:t>in</a:t>
            </a:r>
            <a:r>
              <a:rPr spc="-85" dirty="0"/>
              <a:t> </a:t>
            </a:r>
            <a:r>
              <a:rPr spc="35" dirty="0"/>
              <a:t>the</a:t>
            </a:r>
            <a:r>
              <a:rPr spc="-80" dirty="0"/>
              <a:t> </a:t>
            </a:r>
            <a:r>
              <a:rPr spc="15" dirty="0"/>
              <a:t>Play</a:t>
            </a:r>
            <a:r>
              <a:rPr spc="-80" dirty="0"/>
              <a:t> </a:t>
            </a:r>
            <a:r>
              <a:rPr spc="-35" dirty="0"/>
              <a:t>Store</a:t>
            </a:r>
            <a:r>
              <a:rPr spc="-85" dirty="0"/>
              <a:t> </a:t>
            </a:r>
            <a:r>
              <a:rPr spc="25" dirty="0"/>
              <a:t>based</a:t>
            </a:r>
            <a:r>
              <a:rPr spc="-80" dirty="0"/>
              <a:t> </a:t>
            </a:r>
            <a:r>
              <a:rPr spc="55" dirty="0"/>
              <a:t>on</a:t>
            </a:r>
            <a:r>
              <a:rPr spc="-80" dirty="0"/>
              <a:t> </a:t>
            </a:r>
            <a:r>
              <a:rPr spc="35" dirty="0"/>
              <a:t>the</a:t>
            </a:r>
            <a:r>
              <a:rPr spc="-80" dirty="0"/>
              <a:t> </a:t>
            </a:r>
            <a:r>
              <a:rPr spc="60" dirty="0"/>
              <a:t>number</a:t>
            </a:r>
            <a:r>
              <a:rPr spc="-85" dirty="0"/>
              <a:t> </a:t>
            </a:r>
            <a:r>
              <a:rPr spc="5" dirty="0"/>
              <a:t>of</a:t>
            </a:r>
            <a:r>
              <a:rPr spc="-80" dirty="0"/>
              <a:t> </a:t>
            </a:r>
            <a:r>
              <a:rPr spc="-75" dirty="0"/>
              <a:t>reviews:</a:t>
            </a:r>
          </a:p>
          <a:p>
            <a:pPr marL="469265">
              <a:lnSpc>
                <a:spcPct val="100000"/>
              </a:lnSpc>
              <a:spcBef>
                <a:spcPts val="325"/>
              </a:spcBef>
            </a:pPr>
            <a:r>
              <a:rPr b="1" spc="-45" dirty="0">
                <a:latin typeface="Verdana"/>
                <a:cs typeface="Verdana"/>
              </a:rPr>
              <a:t>Facebook</a:t>
            </a:r>
          </a:p>
          <a:p>
            <a:pPr marL="469900" indent="-457200">
              <a:lnSpc>
                <a:spcPct val="100000"/>
              </a:lnSpc>
              <a:spcBef>
                <a:spcPts val="325"/>
              </a:spcBef>
              <a:buFont typeface="AoyagiKouzanFontT"/>
              <a:buChar char="❏"/>
              <a:tabLst>
                <a:tab pos="469265" algn="l"/>
                <a:tab pos="469900" algn="l"/>
              </a:tabLst>
            </a:pPr>
            <a:r>
              <a:rPr spc="5" dirty="0"/>
              <a:t>The</a:t>
            </a:r>
            <a:r>
              <a:rPr spc="-170" dirty="0"/>
              <a:t> </a:t>
            </a:r>
            <a:r>
              <a:rPr spc="50" dirty="0"/>
              <a:t>median</a:t>
            </a:r>
            <a:r>
              <a:rPr spc="-165" dirty="0"/>
              <a:t> </a:t>
            </a:r>
            <a:r>
              <a:rPr spc="-25" dirty="0"/>
              <a:t>size</a:t>
            </a:r>
            <a:r>
              <a:rPr spc="-165" dirty="0"/>
              <a:t> </a:t>
            </a:r>
            <a:r>
              <a:rPr spc="5" dirty="0"/>
              <a:t>of</a:t>
            </a:r>
            <a:r>
              <a:rPr spc="-165" dirty="0"/>
              <a:t> </a:t>
            </a:r>
            <a:r>
              <a:rPr spc="35" dirty="0"/>
              <a:t>the</a:t>
            </a:r>
            <a:r>
              <a:rPr spc="-165" dirty="0"/>
              <a:t> </a:t>
            </a:r>
            <a:r>
              <a:rPr spc="30" dirty="0"/>
              <a:t>apps</a:t>
            </a:r>
            <a:r>
              <a:rPr spc="-165" dirty="0"/>
              <a:t> </a:t>
            </a:r>
            <a:r>
              <a:rPr spc="30" dirty="0"/>
              <a:t>in</a:t>
            </a:r>
            <a:r>
              <a:rPr spc="-165" dirty="0"/>
              <a:t> </a:t>
            </a:r>
            <a:r>
              <a:rPr spc="35" dirty="0"/>
              <a:t>the</a:t>
            </a:r>
            <a:r>
              <a:rPr spc="-165" dirty="0"/>
              <a:t> </a:t>
            </a:r>
            <a:r>
              <a:rPr spc="-10" dirty="0"/>
              <a:t>play</a:t>
            </a:r>
            <a:r>
              <a:rPr spc="-165" dirty="0"/>
              <a:t> </a:t>
            </a:r>
            <a:r>
              <a:rPr spc="-20" dirty="0"/>
              <a:t>store</a:t>
            </a:r>
            <a:r>
              <a:rPr spc="-165" dirty="0"/>
              <a:t> </a:t>
            </a:r>
            <a:r>
              <a:rPr spc="-35" dirty="0"/>
              <a:t>is</a:t>
            </a:r>
            <a:r>
              <a:rPr spc="-165" dirty="0"/>
              <a:t> </a:t>
            </a:r>
            <a:r>
              <a:rPr spc="-310" dirty="0"/>
              <a:t>12</a:t>
            </a:r>
            <a:r>
              <a:rPr spc="-165" dirty="0"/>
              <a:t> </a:t>
            </a:r>
            <a:r>
              <a:rPr spc="160" dirty="0"/>
              <a:t>MB</a:t>
            </a:r>
          </a:p>
          <a:p>
            <a:pPr marL="469265" marR="24130" indent="-457200">
              <a:lnSpc>
                <a:spcPct val="114999"/>
              </a:lnSpc>
              <a:buFont typeface="AoyagiKouzanFontT"/>
              <a:buChar char="❏"/>
              <a:tabLst>
                <a:tab pos="469265" algn="l"/>
                <a:tab pos="469900" algn="l"/>
              </a:tabLst>
            </a:pPr>
            <a:r>
              <a:rPr spc="5" dirty="0"/>
              <a:t>The </a:t>
            </a:r>
            <a:r>
              <a:rPr spc="30" dirty="0"/>
              <a:t>apps </a:t>
            </a:r>
            <a:r>
              <a:rPr spc="35" dirty="0"/>
              <a:t>whose </a:t>
            </a:r>
            <a:r>
              <a:rPr spc="-25" dirty="0"/>
              <a:t>size </a:t>
            </a:r>
            <a:r>
              <a:rPr b="1" spc="-100" dirty="0">
                <a:latin typeface="Verdana"/>
                <a:cs typeface="Verdana"/>
              </a:rPr>
              <a:t>varies </a:t>
            </a:r>
            <a:r>
              <a:rPr b="1" spc="-60" dirty="0">
                <a:latin typeface="Verdana"/>
                <a:cs typeface="Verdana"/>
              </a:rPr>
              <a:t>with </a:t>
            </a:r>
            <a:r>
              <a:rPr b="1" spc="-55" dirty="0">
                <a:latin typeface="Verdana"/>
                <a:cs typeface="Verdana"/>
              </a:rPr>
              <a:t>device </a:t>
            </a:r>
            <a:r>
              <a:rPr dirty="0"/>
              <a:t>has </a:t>
            </a:r>
            <a:r>
              <a:rPr spc="35" dirty="0"/>
              <a:t>the </a:t>
            </a:r>
            <a:r>
              <a:rPr spc="30" dirty="0"/>
              <a:t>highest </a:t>
            </a:r>
            <a:r>
              <a:rPr spc="60" dirty="0"/>
              <a:t>number  </a:t>
            </a:r>
            <a:r>
              <a:rPr spc="-15" dirty="0"/>
              <a:t>average </a:t>
            </a:r>
            <a:r>
              <a:rPr spc="55" dirty="0"/>
              <a:t>app</a:t>
            </a:r>
            <a:r>
              <a:rPr spc="-320" dirty="0"/>
              <a:t> </a:t>
            </a:r>
            <a:r>
              <a:rPr spc="-40" dirty="0"/>
              <a:t>installs.</a:t>
            </a:r>
          </a:p>
          <a:p>
            <a:pPr marL="469265" marR="5080" indent="-457200">
              <a:lnSpc>
                <a:spcPct val="114999"/>
              </a:lnSpc>
              <a:buFont typeface="AoyagiKouzanFontT"/>
              <a:buChar char="❏"/>
              <a:tabLst>
                <a:tab pos="469265" algn="l"/>
                <a:tab pos="469900" algn="l"/>
              </a:tabLst>
            </a:pPr>
            <a:r>
              <a:rPr spc="5" dirty="0"/>
              <a:t>The</a:t>
            </a:r>
            <a:r>
              <a:rPr spc="-100" dirty="0"/>
              <a:t> </a:t>
            </a:r>
            <a:r>
              <a:rPr spc="30" dirty="0"/>
              <a:t>apps</a:t>
            </a:r>
            <a:r>
              <a:rPr spc="-95" dirty="0"/>
              <a:t> </a:t>
            </a:r>
            <a:r>
              <a:rPr spc="35" dirty="0"/>
              <a:t>whose</a:t>
            </a:r>
            <a:r>
              <a:rPr spc="-100" dirty="0"/>
              <a:t> </a:t>
            </a:r>
            <a:r>
              <a:rPr spc="-25" dirty="0"/>
              <a:t>size</a:t>
            </a:r>
            <a:r>
              <a:rPr spc="-95" dirty="0"/>
              <a:t> </a:t>
            </a:r>
            <a:r>
              <a:rPr spc="-35" dirty="0"/>
              <a:t>is</a:t>
            </a:r>
            <a:r>
              <a:rPr spc="-95" dirty="0"/>
              <a:t> </a:t>
            </a:r>
            <a:r>
              <a:rPr b="1" spc="-85" dirty="0">
                <a:latin typeface="Verdana"/>
                <a:cs typeface="Verdana"/>
              </a:rPr>
              <a:t>greater</a:t>
            </a:r>
            <a:r>
              <a:rPr b="1" spc="-45" dirty="0">
                <a:latin typeface="Verdana"/>
                <a:cs typeface="Verdana"/>
              </a:rPr>
              <a:t> </a:t>
            </a:r>
            <a:r>
              <a:rPr b="1" spc="-55" dirty="0">
                <a:latin typeface="Verdana"/>
                <a:cs typeface="Verdana"/>
              </a:rPr>
              <a:t>than</a:t>
            </a:r>
            <a:r>
              <a:rPr b="1" spc="-40" dirty="0">
                <a:latin typeface="Verdana"/>
                <a:cs typeface="Verdana"/>
              </a:rPr>
              <a:t> </a:t>
            </a:r>
            <a:r>
              <a:rPr b="1" spc="-100" dirty="0">
                <a:latin typeface="Verdana"/>
                <a:cs typeface="Verdana"/>
              </a:rPr>
              <a:t>90</a:t>
            </a:r>
            <a:r>
              <a:rPr b="1" spc="-40" dirty="0">
                <a:latin typeface="Verdana"/>
                <a:cs typeface="Verdana"/>
              </a:rPr>
              <a:t> </a:t>
            </a:r>
            <a:r>
              <a:rPr b="1" spc="5" dirty="0">
                <a:latin typeface="Verdana"/>
                <a:cs typeface="Verdana"/>
              </a:rPr>
              <a:t>MB</a:t>
            </a:r>
            <a:r>
              <a:rPr b="1" spc="-85" dirty="0">
                <a:latin typeface="Verdana"/>
                <a:cs typeface="Verdana"/>
              </a:rPr>
              <a:t> </a:t>
            </a:r>
            <a:r>
              <a:rPr dirty="0"/>
              <a:t>has</a:t>
            </a:r>
            <a:r>
              <a:rPr spc="-95" dirty="0"/>
              <a:t> </a:t>
            </a:r>
            <a:r>
              <a:rPr spc="35" dirty="0"/>
              <a:t>the</a:t>
            </a:r>
            <a:r>
              <a:rPr spc="-100" dirty="0"/>
              <a:t> </a:t>
            </a:r>
            <a:r>
              <a:rPr spc="30" dirty="0"/>
              <a:t>highest</a:t>
            </a:r>
            <a:r>
              <a:rPr spc="-95" dirty="0"/>
              <a:t> </a:t>
            </a:r>
            <a:r>
              <a:rPr spc="60" dirty="0"/>
              <a:t>number  </a:t>
            </a:r>
            <a:r>
              <a:rPr spc="5" dirty="0"/>
              <a:t>of</a:t>
            </a:r>
            <a:r>
              <a:rPr spc="-165" dirty="0"/>
              <a:t> </a:t>
            </a:r>
            <a:r>
              <a:rPr spc="-15" dirty="0"/>
              <a:t>average</a:t>
            </a:r>
            <a:r>
              <a:rPr spc="-165" dirty="0"/>
              <a:t> </a:t>
            </a:r>
            <a:r>
              <a:rPr spc="-5" dirty="0"/>
              <a:t>user</a:t>
            </a:r>
            <a:r>
              <a:rPr spc="-165" dirty="0"/>
              <a:t> </a:t>
            </a:r>
            <a:r>
              <a:rPr spc="-55" dirty="0"/>
              <a:t>reviews,</a:t>
            </a:r>
            <a:r>
              <a:rPr spc="-160" dirty="0"/>
              <a:t> </a:t>
            </a:r>
            <a:r>
              <a:rPr spc="-90" dirty="0"/>
              <a:t>ie,</a:t>
            </a:r>
            <a:r>
              <a:rPr spc="-165" dirty="0"/>
              <a:t> </a:t>
            </a:r>
            <a:r>
              <a:rPr dirty="0"/>
              <a:t>they</a:t>
            </a:r>
            <a:r>
              <a:rPr spc="-165" dirty="0"/>
              <a:t> </a:t>
            </a:r>
            <a:r>
              <a:rPr spc="-30" dirty="0"/>
              <a:t>are</a:t>
            </a:r>
            <a:r>
              <a:rPr spc="-160" dirty="0"/>
              <a:t> </a:t>
            </a:r>
            <a:r>
              <a:rPr spc="30" dirty="0"/>
              <a:t>more</a:t>
            </a:r>
            <a:r>
              <a:rPr spc="-165" dirty="0"/>
              <a:t> </a:t>
            </a:r>
            <a:r>
              <a:rPr spc="30" dirty="0"/>
              <a:t>popular</a:t>
            </a:r>
            <a:r>
              <a:rPr spc="-165" dirty="0"/>
              <a:t> </a:t>
            </a:r>
            <a:r>
              <a:rPr spc="40" dirty="0"/>
              <a:t>than</a:t>
            </a:r>
            <a:r>
              <a:rPr spc="-165" dirty="0"/>
              <a:t> </a:t>
            </a:r>
            <a:r>
              <a:rPr spc="35" dirty="0"/>
              <a:t>the</a:t>
            </a:r>
            <a:r>
              <a:rPr spc="-160" dirty="0"/>
              <a:t> </a:t>
            </a:r>
            <a:r>
              <a:rPr spc="-75" dirty="0"/>
              <a:t>rest.</a:t>
            </a:r>
          </a:p>
          <a:p>
            <a:pPr marL="469265" marR="10160" indent="-457200">
              <a:lnSpc>
                <a:spcPct val="114999"/>
              </a:lnSpc>
              <a:buFont typeface="AoyagiKouzanFontT"/>
              <a:buChar char="❏"/>
              <a:tabLst>
                <a:tab pos="469265" algn="l"/>
                <a:tab pos="469900" algn="l"/>
              </a:tabLst>
            </a:pPr>
            <a:r>
              <a:rPr b="1" spc="-80" dirty="0">
                <a:latin typeface="Verdana"/>
                <a:cs typeface="Verdana"/>
              </a:rPr>
              <a:t>Helix </a:t>
            </a:r>
            <a:r>
              <a:rPr b="1" spc="-30" dirty="0">
                <a:latin typeface="Verdana"/>
                <a:cs typeface="Verdana"/>
              </a:rPr>
              <a:t>Jump </a:t>
            </a:r>
            <a:r>
              <a:rPr dirty="0"/>
              <a:t>has </a:t>
            </a:r>
            <a:r>
              <a:rPr spc="35" dirty="0"/>
              <a:t>the </a:t>
            </a:r>
            <a:r>
              <a:rPr spc="30" dirty="0"/>
              <a:t>highest </a:t>
            </a:r>
            <a:r>
              <a:rPr spc="60" dirty="0"/>
              <a:t>number </a:t>
            </a:r>
            <a:r>
              <a:rPr spc="5" dirty="0"/>
              <a:t>of </a:t>
            </a:r>
            <a:r>
              <a:rPr spc="-5" dirty="0"/>
              <a:t>positive </a:t>
            </a:r>
            <a:r>
              <a:rPr spc="-25" dirty="0"/>
              <a:t>reviews </a:t>
            </a:r>
            <a:r>
              <a:rPr spc="50" dirty="0"/>
              <a:t>and </a:t>
            </a:r>
            <a:r>
              <a:rPr b="1" spc="-50" dirty="0">
                <a:latin typeface="Verdana"/>
                <a:cs typeface="Verdana"/>
              </a:rPr>
              <a:t>Angry  </a:t>
            </a:r>
            <a:r>
              <a:rPr b="1" spc="-70" dirty="0">
                <a:latin typeface="Verdana"/>
                <a:cs typeface="Verdana"/>
              </a:rPr>
              <a:t>Birds</a:t>
            </a:r>
            <a:r>
              <a:rPr b="1" spc="-110" dirty="0">
                <a:latin typeface="Verdana"/>
                <a:cs typeface="Verdana"/>
              </a:rPr>
              <a:t> </a:t>
            </a:r>
            <a:r>
              <a:rPr b="1" spc="-65" dirty="0">
                <a:latin typeface="Verdana"/>
                <a:cs typeface="Verdana"/>
              </a:rPr>
              <a:t>Classic</a:t>
            </a:r>
            <a:r>
              <a:rPr b="1" spc="-145" dirty="0">
                <a:latin typeface="Verdana"/>
                <a:cs typeface="Verdana"/>
              </a:rPr>
              <a:t> </a:t>
            </a:r>
            <a:r>
              <a:rPr dirty="0"/>
              <a:t>has</a:t>
            </a:r>
            <a:r>
              <a:rPr spc="-165" dirty="0"/>
              <a:t> </a:t>
            </a:r>
            <a:r>
              <a:rPr spc="35" dirty="0"/>
              <a:t>the</a:t>
            </a:r>
            <a:r>
              <a:rPr spc="-160" dirty="0"/>
              <a:t> </a:t>
            </a:r>
            <a:r>
              <a:rPr spc="30" dirty="0"/>
              <a:t>highest</a:t>
            </a:r>
            <a:r>
              <a:rPr spc="-165" dirty="0"/>
              <a:t> </a:t>
            </a:r>
            <a:r>
              <a:rPr spc="60" dirty="0"/>
              <a:t>number</a:t>
            </a:r>
            <a:r>
              <a:rPr spc="-165" dirty="0"/>
              <a:t> </a:t>
            </a:r>
            <a:r>
              <a:rPr spc="5" dirty="0"/>
              <a:t>of</a:t>
            </a:r>
            <a:r>
              <a:rPr spc="-160" dirty="0"/>
              <a:t> </a:t>
            </a:r>
            <a:r>
              <a:rPr spc="10" dirty="0"/>
              <a:t>negative</a:t>
            </a:r>
            <a:r>
              <a:rPr spc="-165" dirty="0"/>
              <a:t> </a:t>
            </a:r>
            <a:r>
              <a:rPr spc="-55" dirty="0"/>
              <a:t>reviews.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970">
              <a:lnSpc>
                <a:spcPct val="100000"/>
              </a:lnSpc>
              <a:spcBef>
                <a:spcPts val="100"/>
              </a:spcBef>
            </a:pPr>
            <a:r>
              <a:rPr spc="-245" dirty="0"/>
              <a:t>Thank</a:t>
            </a:r>
            <a:r>
              <a:rPr spc="-509" dirty="0"/>
              <a:t> </a:t>
            </a:r>
            <a:r>
              <a:rPr spc="-425" dirty="0"/>
              <a:t>You</a:t>
            </a:r>
          </a:p>
        </p:txBody>
      </p:sp>
      <p:sp>
        <p:nvSpPr>
          <p:cNvPr id="3" name="object 3"/>
          <p:cNvSpPr/>
          <p:nvPr/>
        </p:nvSpPr>
        <p:spPr>
          <a:xfrm>
            <a:off x="2384717" y="3150743"/>
            <a:ext cx="4374568" cy="174334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823</TotalTime>
  <Words>1094</Words>
  <Application>Microsoft Office PowerPoint</Application>
  <PresentationFormat>On-screen Show (16:9)</PresentationFormat>
  <Paragraphs>132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AoyagiKouzanFontT</vt:lpstr>
      <vt:lpstr>Arial</vt:lpstr>
      <vt:lpstr>Calibri</vt:lpstr>
      <vt:lpstr>DejaVu Sans</vt:lpstr>
      <vt:lpstr>Verdana</vt:lpstr>
      <vt:lpstr>Office Theme</vt:lpstr>
      <vt:lpstr>Capstone Project - 1</vt:lpstr>
      <vt:lpstr>Problem Statement</vt:lpstr>
      <vt:lpstr>Data Summary</vt:lpstr>
      <vt:lpstr>Agenda</vt:lpstr>
      <vt:lpstr>Correlation Heatmap</vt:lpstr>
      <vt:lpstr>Type and Content Rating</vt:lpstr>
      <vt:lpstr>Categorical Analysis</vt:lpstr>
      <vt:lpstr>Categorical Analysis (Contd.)</vt:lpstr>
      <vt:lpstr>App Rating Analysis</vt:lpstr>
      <vt:lpstr>Top Free Apps</vt:lpstr>
      <vt:lpstr>Top Paid Apps Based on Revenue Generated</vt:lpstr>
      <vt:lpstr>Average Price of Paid Apps in Each Category</vt:lpstr>
      <vt:lpstr>Most Popular Apps</vt:lpstr>
      <vt:lpstr>App Size Analysis</vt:lpstr>
      <vt:lpstr>Positive and Negative Reviews</vt:lpstr>
      <vt:lpstr>Word Cloud on translated reviews</vt:lpstr>
      <vt:lpstr>Challenges Faced</vt:lpstr>
      <vt:lpstr>Analysis Summary</vt:lpstr>
      <vt:lpstr>Analysis Summary (Contd.)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EDA on play store app reviews - Shaloy Lewis.pptx</dc:title>
  <dc:creator>Sandeep</dc:creator>
  <cp:lastModifiedBy>Sisira Reddy</cp:lastModifiedBy>
  <cp:revision>41</cp:revision>
  <dcterms:created xsi:type="dcterms:W3CDTF">2022-02-25T16:25:52Z</dcterms:created>
  <dcterms:modified xsi:type="dcterms:W3CDTF">2025-05-02T16:29:48Z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or">
    <vt:lpwstr>Google</vt:lpwstr>
  </property>
  <property fmtid="{D5CDD505-2E9C-101B-9397-08002B2CF9AE}" pid="3" name="LastSaved">
    <vt:filetime>2022-02-25T00:00:00Z</vt:filetime>
  </property>
</Properties>
</file>